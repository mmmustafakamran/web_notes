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7" r:id="rId1"/>
  </p:sldMasterIdLst>
  <p:notesMasterIdLst>
    <p:notesMasterId r:id="rId34"/>
  </p:notesMasterIdLst>
  <p:sldIdLst>
    <p:sldId id="256" r:id="rId2"/>
    <p:sldId id="258" r:id="rId3"/>
    <p:sldId id="260" r:id="rId4"/>
    <p:sldId id="262" r:id="rId5"/>
    <p:sldId id="263" r:id="rId6"/>
    <p:sldId id="264" r:id="rId7"/>
    <p:sldId id="265" r:id="rId8"/>
    <p:sldId id="266" r:id="rId9"/>
    <p:sldId id="267" r:id="rId10"/>
    <p:sldId id="268" r:id="rId11"/>
    <p:sldId id="269" r:id="rId12"/>
    <p:sldId id="270" r:id="rId13"/>
    <p:sldId id="271" r:id="rId14"/>
    <p:sldId id="272" r:id="rId15"/>
    <p:sldId id="273" r:id="rId16"/>
    <p:sldId id="275" r:id="rId17"/>
    <p:sldId id="279" r:id="rId18"/>
    <p:sldId id="280" r:id="rId19"/>
    <p:sldId id="281" r:id="rId20"/>
    <p:sldId id="282" r:id="rId21"/>
    <p:sldId id="283" r:id="rId22"/>
    <p:sldId id="284" r:id="rId23"/>
    <p:sldId id="285" r:id="rId24"/>
    <p:sldId id="286" r:id="rId25"/>
    <p:sldId id="287" r:id="rId26"/>
    <p:sldId id="288" r:id="rId27"/>
    <p:sldId id="289" r:id="rId28"/>
    <p:sldId id="290" r:id="rId29"/>
    <p:sldId id="291" r:id="rId30"/>
    <p:sldId id="292" r:id="rId31"/>
    <p:sldId id="293" r:id="rId32"/>
    <p:sldId id="294" r:id="rId33"/>
  </p:sldIdLst>
  <p:sldSz cx="12192000" cy="6858000"/>
  <p:notesSz cx="6858000" cy="9144000"/>
  <p:embeddedFontLst>
    <p:embeddedFont>
      <p:font typeface="Trebuchet MS" panose="020B0603020202020204" pitchFamily="34" charset="0"/>
      <p:regular r:id="rId35"/>
      <p:bold r:id="rId36"/>
      <p:italic r:id="rId37"/>
      <p:boldItalic r:id="rId38"/>
    </p:embeddedFont>
    <p:embeddedFont>
      <p:font typeface="Consolas" panose="020B0609020204030204" pitchFamily="49" charset="0"/>
      <p:regular r:id="rId39"/>
      <p:bold r:id="rId40"/>
      <p:italic r:id="rId41"/>
      <p:boldItalic r:id="rId42"/>
    </p:embeddedFont>
    <p:embeddedFont>
      <p:font typeface="Calibri" panose="020F0502020204030204" pitchFamily="34" charset="0"/>
      <p:regular r:id="rId43"/>
      <p:bold r:id="rId44"/>
      <p:italic r:id="rId45"/>
      <p:boldItalic r:id="rId46"/>
    </p:embeddedFont>
    <p:embeddedFont>
      <p:font typeface="Quattrocento Sans" panose="020B0604020202020204" charset="0"/>
      <p:regular r:id="rId47"/>
      <p:bold r:id="rId48"/>
      <p:italic r:id="rId49"/>
      <p:boldItalic r:id="rId5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B9F4BF-7512-4D5B-87AA-9510F67EA02C}" v="3" dt="2023-03-30T10:38:02.753"/>
  </p1510:revLst>
</p1510:revInfo>
</file>

<file path=ppt/tableStyles.xml><?xml version="1.0" encoding="utf-8"?>
<a:tblStyleLst xmlns:a="http://schemas.openxmlformats.org/drawingml/2006/main" def="{99CD84AF-14CF-470D-B69C-EB98024C896D}">
  <a:tblStyle styleId="{99CD84AF-14CF-470D-B69C-EB98024C896D}"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49" autoAdjust="0"/>
    <p:restoredTop sz="94660"/>
  </p:normalViewPr>
  <p:slideViewPr>
    <p:cSldViewPr snapToGrid="0">
      <p:cViewPr varScale="1">
        <p:scale>
          <a:sx n="71" d="100"/>
          <a:sy n="71" d="100"/>
        </p:scale>
        <p:origin x="50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font" Target="fonts/font1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0.fntdata"/><Relationship Id="rId52" Type="http://schemas.openxmlformats.org/officeDocument/2006/relationships/viewProps" Target="viewProps.xml"/><Relationship Id="rId60"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font" Target="fonts/font14.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font" Target="fonts/font12.fntdata"/><Relationship Id="rId59"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font" Target="fonts/font7.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49" Type="http://schemas.openxmlformats.org/officeDocument/2006/relationships/font" Target="fonts/font15.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if Muhammad" userId="6b0af2cb-2f76-400b-94d9-178b55ef4f85" providerId="ADAL" clId="{AAB9F4BF-7512-4D5B-87AA-9510F67EA02C}"/>
    <pc:docChg chg="undo custSel addSld delSld modSld modMainMaster">
      <pc:chgData name="Asif Muhammad" userId="6b0af2cb-2f76-400b-94d9-178b55ef4f85" providerId="ADAL" clId="{AAB9F4BF-7512-4D5B-87AA-9510F67EA02C}" dt="2023-04-02T10:11:33.611" v="478" actId="403"/>
      <pc:docMkLst>
        <pc:docMk/>
      </pc:docMkLst>
      <pc:sldChg chg="addSp delSp modSp mod setBg">
        <pc:chgData name="Asif Muhammad" userId="6b0af2cb-2f76-400b-94d9-178b55ef4f85" providerId="ADAL" clId="{AAB9F4BF-7512-4D5B-87AA-9510F67EA02C}" dt="2023-03-30T10:38:47.660" v="75" actId="26606"/>
        <pc:sldMkLst>
          <pc:docMk/>
          <pc:sldMk cId="0" sldId="256"/>
        </pc:sldMkLst>
        <pc:spChg chg="mod ord">
          <ac:chgData name="Asif Muhammad" userId="6b0af2cb-2f76-400b-94d9-178b55ef4f85" providerId="ADAL" clId="{AAB9F4BF-7512-4D5B-87AA-9510F67EA02C}" dt="2023-03-30T10:38:47.660" v="75" actId="26606"/>
          <ac:spMkLst>
            <pc:docMk/>
            <pc:sldMk cId="0" sldId="256"/>
            <ac:spMk id="149" creationId="{00000000-0000-0000-0000-000000000000}"/>
          </ac:spMkLst>
        </pc:spChg>
        <pc:spChg chg="mod">
          <ac:chgData name="Asif Muhammad" userId="6b0af2cb-2f76-400b-94d9-178b55ef4f85" providerId="ADAL" clId="{AAB9F4BF-7512-4D5B-87AA-9510F67EA02C}" dt="2023-03-30T10:38:47.660" v="75" actId="26606"/>
          <ac:spMkLst>
            <pc:docMk/>
            <pc:sldMk cId="0" sldId="256"/>
            <ac:spMk id="150" creationId="{00000000-0000-0000-0000-000000000000}"/>
          </ac:spMkLst>
        </pc:spChg>
        <pc:spChg chg="add del">
          <ac:chgData name="Asif Muhammad" userId="6b0af2cb-2f76-400b-94d9-178b55ef4f85" providerId="ADAL" clId="{AAB9F4BF-7512-4D5B-87AA-9510F67EA02C}" dt="2023-03-30T10:38:47.637" v="74" actId="26606"/>
          <ac:spMkLst>
            <pc:docMk/>
            <pc:sldMk cId="0" sldId="256"/>
            <ac:spMk id="155" creationId="{58BBCFF1-6BF3-4941-973F-CE3A1F225EF3}"/>
          </ac:spMkLst>
        </pc:spChg>
        <pc:spChg chg="add del">
          <ac:chgData name="Asif Muhammad" userId="6b0af2cb-2f76-400b-94d9-178b55ef4f85" providerId="ADAL" clId="{AAB9F4BF-7512-4D5B-87AA-9510F67EA02C}" dt="2023-03-30T10:38:44.481" v="72" actId="26606"/>
          <ac:spMkLst>
            <pc:docMk/>
            <pc:sldMk cId="0" sldId="256"/>
            <ac:spMk id="156" creationId="{41704883-D088-4683-A1FD-AEE53B336130}"/>
          </ac:spMkLst>
        </pc:spChg>
        <pc:spChg chg="add del">
          <ac:chgData name="Asif Muhammad" userId="6b0af2cb-2f76-400b-94d9-178b55ef4f85" providerId="ADAL" clId="{AAB9F4BF-7512-4D5B-87AA-9510F67EA02C}" dt="2023-03-30T10:38:44.481" v="72" actId="26606"/>
          <ac:spMkLst>
            <pc:docMk/>
            <pc:sldMk cId="0" sldId="256"/>
            <ac:spMk id="158" creationId="{A9C04EC1-26B9-40BD-84A6-B2C0A913D0F9}"/>
          </ac:spMkLst>
        </pc:spChg>
        <pc:spChg chg="add del">
          <ac:chgData name="Asif Muhammad" userId="6b0af2cb-2f76-400b-94d9-178b55ef4f85" providerId="ADAL" clId="{AAB9F4BF-7512-4D5B-87AA-9510F67EA02C}" dt="2023-03-30T10:38:47.637" v="74" actId="26606"/>
          <ac:spMkLst>
            <pc:docMk/>
            <pc:sldMk cId="0" sldId="256"/>
            <ac:spMk id="159" creationId="{8EE3C243-B4B4-4FE3-AFF2-E81D7F48CAA3}"/>
          </ac:spMkLst>
        </pc:spChg>
        <pc:spChg chg="add del">
          <ac:chgData name="Asif Muhammad" userId="6b0af2cb-2f76-400b-94d9-178b55ef4f85" providerId="ADAL" clId="{AAB9F4BF-7512-4D5B-87AA-9510F67EA02C}" dt="2023-03-30T10:38:44.481" v="72" actId="26606"/>
          <ac:spMkLst>
            <pc:docMk/>
            <pc:sldMk cId="0" sldId="256"/>
            <ac:spMk id="160" creationId="{9BAB74E2-5A82-47FD-BBB4-BFD47779FFB9}"/>
          </ac:spMkLst>
        </pc:spChg>
        <pc:spChg chg="add">
          <ac:chgData name="Asif Muhammad" userId="6b0af2cb-2f76-400b-94d9-178b55ef4f85" providerId="ADAL" clId="{AAB9F4BF-7512-4D5B-87AA-9510F67EA02C}" dt="2023-03-30T10:38:47.660" v="75" actId="26606"/>
          <ac:spMkLst>
            <pc:docMk/>
            <pc:sldMk cId="0" sldId="256"/>
            <ac:spMk id="161" creationId="{273350E1-40B5-47D9-8DDD-3C2A17B4B6D9}"/>
          </ac:spMkLst>
        </pc:spChg>
        <pc:spChg chg="add del">
          <ac:chgData name="Asif Muhammad" userId="6b0af2cb-2f76-400b-94d9-178b55ef4f85" providerId="ADAL" clId="{AAB9F4BF-7512-4D5B-87AA-9510F67EA02C}" dt="2023-03-30T10:38:44.481" v="72" actId="26606"/>
          <ac:spMkLst>
            <pc:docMk/>
            <pc:sldMk cId="0" sldId="256"/>
            <ac:spMk id="162" creationId="{9C4FFB60-A034-4994-8F55-E38D4F31C874}"/>
          </ac:spMkLst>
        </pc:spChg>
        <pc:spChg chg="add">
          <ac:chgData name="Asif Muhammad" userId="6b0af2cb-2f76-400b-94d9-178b55ef4f85" providerId="ADAL" clId="{AAB9F4BF-7512-4D5B-87AA-9510F67EA02C}" dt="2023-03-30T10:38:47.660" v="75" actId="26606"/>
          <ac:spMkLst>
            <pc:docMk/>
            <pc:sldMk cId="0" sldId="256"/>
            <ac:spMk id="164" creationId="{87C031CB-DEB3-405F-9996-5322C24A6A93}"/>
          </ac:spMkLst>
        </pc:spChg>
        <pc:spChg chg="add">
          <ac:chgData name="Asif Muhammad" userId="6b0af2cb-2f76-400b-94d9-178b55ef4f85" providerId="ADAL" clId="{AAB9F4BF-7512-4D5B-87AA-9510F67EA02C}" dt="2023-03-30T10:38:47.660" v="75" actId="26606"/>
          <ac:spMkLst>
            <pc:docMk/>
            <pc:sldMk cId="0" sldId="256"/>
            <ac:spMk id="165" creationId="{108AC4DC-69B5-4DD1-84BC-850C5A286185}"/>
          </ac:spMkLst>
        </pc:spChg>
        <pc:picChg chg="add del">
          <ac:chgData name="Asif Muhammad" userId="6b0af2cb-2f76-400b-94d9-178b55ef4f85" providerId="ADAL" clId="{AAB9F4BF-7512-4D5B-87AA-9510F67EA02C}" dt="2023-03-30T10:38:44.481" v="72" actId="26606"/>
          <ac:picMkLst>
            <pc:docMk/>
            <pc:sldMk cId="0" sldId="256"/>
            <ac:picMk id="152" creationId="{CBBB0CA1-0761-352F-CF1E-15AB10F52E5F}"/>
          </ac:picMkLst>
        </pc:picChg>
        <pc:picChg chg="add del">
          <ac:chgData name="Asif Muhammad" userId="6b0af2cb-2f76-400b-94d9-178b55ef4f85" providerId="ADAL" clId="{AAB9F4BF-7512-4D5B-87AA-9510F67EA02C}" dt="2023-03-30T10:38:47.637" v="74" actId="26606"/>
          <ac:picMkLst>
            <pc:docMk/>
            <pc:sldMk cId="0" sldId="256"/>
            <ac:picMk id="157" creationId="{1B170B3D-1B5C-4AA5-B670-B783ADC5FA5D}"/>
          </ac:picMkLst>
        </pc:picChg>
        <pc:picChg chg="add">
          <ac:chgData name="Asif Muhammad" userId="6b0af2cb-2f76-400b-94d9-178b55ef4f85" providerId="ADAL" clId="{AAB9F4BF-7512-4D5B-87AA-9510F67EA02C}" dt="2023-03-30T10:38:47.660" v="75" actId="26606"/>
          <ac:picMkLst>
            <pc:docMk/>
            <pc:sldMk cId="0" sldId="256"/>
            <ac:picMk id="163" creationId="{A1500D0A-0DCA-4E06-8B25-618E6299CC9A}"/>
          </ac:picMkLst>
        </pc:picChg>
        <pc:picChg chg="add">
          <ac:chgData name="Asif Muhammad" userId="6b0af2cb-2f76-400b-94d9-178b55ef4f85" providerId="ADAL" clId="{AAB9F4BF-7512-4D5B-87AA-9510F67EA02C}" dt="2023-03-30T10:38:47.660" v="75" actId="26606"/>
          <ac:picMkLst>
            <pc:docMk/>
            <pc:sldMk cId="0" sldId="256"/>
            <ac:picMk id="166" creationId="{92031F0E-C3FA-4DAF-BD13-4AC665CFF0FC}"/>
          </ac:picMkLst>
        </pc:picChg>
        <pc:picChg chg="add">
          <ac:chgData name="Asif Muhammad" userId="6b0af2cb-2f76-400b-94d9-178b55ef4f85" providerId="ADAL" clId="{AAB9F4BF-7512-4D5B-87AA-9510F67EA02C}" dt="2023-03-30T10:38:47.660" v="75" actId="26606"/>
          <ac:picMkLst>
            <pc:docMk/>
            <pc:sldMk cId="0" sldId="256"/>
            <ac:picMk id="167" creationId="{BE685C68-BF28-4330-A4FE-33ABD88511AA}"/>
          </ac:picMkLst>
        </pc:picChg>
      </pc:sldChg>
      <pc:sldChg chg="add del">
        <pc:chgData name="Asif Muhammad" userId="6b0af2cb-2f76-400b-94d9-178b55ef4f85" providerId="ADAL" clId="{AAB9F4BF-7512-4D5B-87AA-9510F67EA02C}" dt="2023-03-30T10:37:03.301" v="45" actId="47"/>
        <pc:sldMkLst>
          <pc:docMk/>
          <pc:sldMk cId="0" sldId="257"/>
        </pc:sldMkLst>
      </pc:sldChg>
      <pc:sldChg chg="modSp mod">
        <pc:chgData name="Asif Muhammad" userId="6b0af2cb-2f76-400b-94d9-178b55ef4f85" providerId="ADAL" clId="{AAB9F4BF-7512-4D5B-87AA-9510F67EA02C}" dt="2023-03-30T10:40:23.915" v="76" actId="33524"/>
        <pc:sldMkLst>
          <pc:docMk/>
          <pc:sldMk cId="0" sldId="258"/>
        </pc:sldMkLst>
        <pc:spChg chg="mod">
          <ac:chgData name="Asif Muhammad" userId="6b0af2cb-2f76-400b-94d9-178b55ef4f85" providerId="ADAL" clId="{AAB9F4BF-7512-4D5B-87AA-9510F67EA02C}" dt="2023-03-30T10:38:02.753" v="57"/>
          <ac:spMkLst>
            <pc:docMk/>
            <pc:sldMk cId="0" sldId="258"/>
            <ac:spMk id="162" creationId="{00000000-0000-0000-0000-000000000000}"/>
          </ac:spMkLst>
        </pc:spChg>
        <pc:spChg chg="mod">
          <ac:chgData name="Asif Muhammad" userId="6b0af2cb-2f76-400b-94d9-178b55ef4f85" providerId="ADAL" clId="{AAB9F4BF-7512-4D5B-87AA-9510F67EA02C}" dt="2023-03-30T10:40:23.915" v="76" actId="33524"/>
          <ac:spMkLst>
            <pc:docMk/>
            <pc:sldMk cId="0" sldId="258"/>
            <ac:spMk id="163" creationId="{00000000-0000-0000-0000-000000000000}"/>
          </ac:spMkLst>
        </pc:spChg>
        <pc:spChg chg="mod">
          <ac:chgData name="Asif Muhammad" userId="6b0af2cb-2f76-400b-94d9-178b55ef4f85" providerId="ADAL" clId="{AAB9F4BF-7512-4D5B-87AA-9510F67EA02C}" dt="2023-03-30T10:38:02.753" v="57"/>
          <ac:spMkLst>
            <pc:docMk/>
            <pc:sldMk cId="0" sldId="258"/>
            <ac:spMk id="164" creationId="{00000000-0000-0000-0000-000000000000}"/>
          </ac:spMkLst>
        </pc:spChg>
        <pc:spChg chg="mod">
          <ac:chgData name="Asif Muhammad" userId="6b0af2cb-2f76-400b-94d9-178b55ef4f85" providerId="ADAL" clId="{AAB9F4BF-7512-4D5B-87AA-9510F67EA02C}" dt="2023-03-30T10:38:02.753" v="57"/>
          <ac:spMkLst>
            <pc:docMk/>
            <pc:sldMk cId="0" sldId="258"/>
            <ac:spMk id="165" creationId="{00000000-0000-0000-0000-000000000000}"/>
          </ac:spMkLst>
        </pc:spChg>
      </pc:sldChg>
      <pc:sldChg chg="add del">
        <pc:chgData name="Asif Muhammad" userId="6b0af2cb-2f76-400b-94d9-178b55ef4f85" providerId="ADAL" clId="{AAB9F4BF-7512-4D5B-87AA-9510F67EA02C}" dt="2023-03-30T10:37:04.518" v="46" actId="47"/>
        <pc:sldMkLst>
          <pc:docMk/>
          <pc:sldMk cId="0" sldId="259"/>
        </pc:sldMkLst>
      </pc:sldChg>
      <pc:sldChg chg="modSp mod">
        <pc:chgData name="Asif Muhammad" userId="6b0af2cb-2f76-400b-94d9-178b55ef4f85" providerId="ADAL" clId="{AAB9F4BF-7512-4D5B-87AA-9510F67EA02C}" dt="2023-03-30T14:31:28.120" v="243" actId="14100"/>
        <pc:sldMkLst>
          <pc:docMk/>
          <pc:sldMk cId="0" sldId="260"/>
        </pc:sldMkLst>
        <pc:spChg chg="mod">
          <ac:chgData name="Asif Muhammad" userId="6b0af2cb-2f76-400b-94d9-178b55ef4f85" providerId="ADAL" clId="{AAB9F4BF-7512-4D5B-87AA-9510F67EA02C}" dt="2023-03-30T10:38:02.753" v="57"/>
          <ac:spMkLst>
            <pc:docMk/>
            <pc:sldMk cId="0" sldId="260"/>
            <ac:spMk id="178" creationId="{00000000-0000-0000-0000-000000000000}"/>
          </ac:spMkLst>
        </pc:spChg>
        <pc:spChg chg="mod">
          <ac:chgData name="Asif Muhammad" userId="6b0af2cb-2f76-400b-94d9-178b55ef4f85" providerId="ADAL" clId="{AAB9F4BF-7512-4D5B-87AA-9510F67EA02C}" dt="2023-03-30T10:38:02.753" v="57"/>
          <ac:spMkLst>
            <pc:docMk/>
            <pc:sldMk cId="0" sldId="260"/>
            <ac:spMk id="179" creationId="{00000000-0000-0000-0000-000000000000}"/>
          </ac:spMkLst>
        </pc:spChg>
        <pc:graphicFrameChg chg="mod modGraphic">
          <ac:chgData name="Asif Muhammad" userId="6b0af2cb-2f76-400b-94d9-178b55ef4f85" providerId="ADAL" clId="{AAB9F4BF-7512-4D5B-87AA-9510F67EA02C}" dt="2023-03-30T14:31:28.120" v="243" actId="14100"/>
          <ac:graphicFrameMkLst>
            <pc:docMk/>
            <pc:sldMk cId="0" sldId="260"/>
            <ac:graphicFrameMk id="180" creationId="{00000000-0000-0000-0000-000000000000}"/>
          </ac:graphicFrameMkLst>
        </pc:graphicFrameChg>
      </pc:sldChg>
      <pc:sldChg chg="modSp mod">
        <pc:chgData name="Asif Muhammad" userId="6b0af2cb-2f76-400b-94d9-178b55ef4f85" providerId="ADAL" clId="{AAB9F4BF-7512-4D5B-87AA-9510F67EA02C}" dt="2023-03-30T14:31:36.450" v="244" actId="20577"/>
        <pc:sldMkLst>
          <pc:docMk/>
          <pc:sldMk cId="0" sldId="261"/>
        </pc:sldMkLst>
        <pc:spChg chg="mod">
          <ac:chgData name="Asif Muhammad" userId="6b0af2cb-2f76-400b-94d9-178b55ef4f85" providerId="ADAL" clId="{AAB9F4BF-7512-4D5B-87AA-9510F67EA02C}" dt="2023-03-30T10:38:02.753" v="57"/>
          <ac:spMkLst>
            <pc:docMk/>
            <pc:sldMk cId="0" sldId="261"/>
            <ac:spMk id="186" creationId="{00000000-0000-0000-0000-000000000000}"/>
          </ac:spMkLst>
        </pc:spChg>
        <pc:spChg chg="mod">
          <ac:chgData name="Asif Muhammad" userId="6b0af2cb-2f76-400b-94d9-178b55ef4f85" providerId="ADAL" clId="{AAB9F4BF-7512-4D5B-87AA-9510F67EA02C}" dt="2023-03-30T10:38:02.753" v="57"/>
          <ac:spMkLst>
            <pc:docMk/>
            <pc:sldMk cId="0" sldId="261"/>
            <ac:spMk id="187" creationId="{00000000-0000-0000-0000-000000000000}"/>
          </ac:spMkLst>
        </pc:spChg>
        <pc:graphicFrameChg chg="mod modGraphic">
          <ac:chgData name="Asif Muhammad" userId="6b0af2cb-2f76-400b-94d9-178b55ef4f85" providerId="ADAL" clId="{AAB9F4BF-7512-4D5B-87AA-9510F67EA02C}" dt="2023-03-30T14:31:36.450" v="244" actId="20577"/>
          <ac:graphicFrameMkLst>
            <pc:docMk/>
            <pc:sldMk cId="0" sldId="261"/>
            <ac:graphicFrameMk id="188" creationId="{00000000-0000-0000-0000-000000000000}"/>
          </ac:graphicFrameMkLst>
        </pc:graphicFrameChg>
      </pc:sldChg>
      <pc:sldChg chg="modSp mod">
        <pc:chgData name="Asif Muhammad" userId="6b0af2cb-2f76-400b-94d9-178b55ef4f85" providerId="ADAL" clId="{AAB9F4BF-7512-4D5B-87AA-9510F67EA02C}" dt="2023-03-30T14:31:52.421" v="247" actId="404"/>
        <pc:sldMkLst>
          <pc:docMk/>
          <pc:sldMk cId="0" sldId="262"/>
        </pc:sldMkLst>
        <pc:spChg chg="mod">
          <ac:chgData name="Asif Muhammad" userId="6b0af2cb-2f76-400b-94d9-178b55ef4f85" providerId="ADAL" clId="{AAB9F4BF-7512-4D5B-87AA-9510F67EA02C}" dt="2023-03-30T10:38:02.753" v="57"/>
          <ac:spMkLst>
            <pc:docMk/>
            <pc:sldMk cId="0" sldId="262"/>
            <ac:spMk id="194" creationId="{00000000-0000-0000-0000-000000000000}"/>
          </ac:spMkLst>
        </pc:spChg>
        <pc:spChg chg="mod">
          <ac:chgData name="Asif Muhammad" userId="6b0af2cb-2f76-400b-94d9-178b55ef4f85" providerId="ADAL" clId="{AAB9F4BF-7512-4D5B-87AA-9510F67EA02C}" dt="2023-03-30T10:38:02.753" v="57"/>
          <ac:spMkLst>
            <pc:docMk/>
            <pc:sldMk cId="0" sldId="262"/>
            <ac:spMk id="195" creationId="{00000000-0000-0000-0000-000000000000}"/>
          </ac:spMkLst>
        </pc:spChg>
        <pc:graphicFrameChg chg="mod modGraphic">
          <ac:chgData name="Asif Muhammad" userId="6b0af2cb-2f76-400b-94d9-178b55ef4f85" providerId="ADAL" clId="{AAB9F4BF-7512-4D5B-87AA-9510F67EA02C}" dt="2023-03-30T14:31:52.421" v="247" actId="404"/>
          <ac:graphicFrameMkLst>
            <pc:docMk/>
            <pc:sldMk cId="0" sldId="262"/>
            <ac:graphicFrameMk id="196" creationId="{00000000-0000-0000-0000-000000000000}"/>
          </ac:graphicFrameMkLst>
        </pc:graphicFrameChg>
      </pc:sldChg>
      <pc:sldChg chg="modSp mod">
        <pc:chgData name="Asif Muhammad" userId="6b0af2cb-2f76-400b-94d9-178b55ef4f85" providerId="ADAL" clId="{AAB9F4BF-7512-4D5B-87AA-9510F67EA02C}" dt="2023-03-30T14:31:58.553" v="248" actId="20577"/>
        <pc:sldMkLst>
          <pc:docMk/>
          <pc:sldMk cId="0" sldId="263"/>
        </pc:sldMkLst>
        <pc:spChg chg="mod">
          <ac:chgData name="Asif Muhammad" userId="6b0af2cb-2f76-400b-94d9-178b55ef4f85" providerId="ADAL" clId="{AAB9F4BF-7512-4D5B-87AA-9510F67EA02C}" dt="2023-03-30T10:38:02.753" v="57"/>
          <ac:spMkLst>
            <pc:docMk/>
            <pc:sldMk cId="0" sldId="263"/>
            <ac:spMk id="202" creationId="{00000000-0000-0000-0000-000000000000}"/>
          </ac:spMkLst>
        </pc:spChg>
        <pc:spChg chg="mod">
          <ac:chgData name="Asif Muhammad" userId="6b0af2cb-2f76-400b-94d9-178b55ef4f85" providerId="ADAL" clId="{AAB9F4BF-7512-4D5B-87AA-9510F67EA02C}" dt="2023-03-30T10:38:02.753" v="57"/>
          <ac:spMkLst>
            <pc:docMk/>
            <pc:sldMk cId="0" sldId="263"/>
            <ac:spMk id="203" creationId="{00000000-0000-0000-0000-000000000000}"/>
          </ac:spMkLst>
        </pc:spChg>
        <pc:graphicFrameChg chg="mod modGraphic">
          <ac:chgData name="Asif Muhammad" userId="6b0af2cb-2f76-400b-94d9-178b55ef4f85" providerId="ADAL" clId="{AAB9F4BF-7512-4D5B-87AA-9510F67EA02C}" dt="2023-03-30T14:31:58.553" v="248" actId="20577"/>
          <ac:graphicFrameMkLst>
            <pc:docMk/>
            <pc:sldMk cId="0" sldId="263"/>
            <ac:graphicFrameMk id="204" creationId="{00000000-0000-0000-0000-000000000000}"/>
          </ac:graphicFrameMkLst>
        </pc:graphicFrameChg>
      </pc:sldChg>
      <pc:sldChg chg="modSp mod">
        <pc:chgData name="Asif Muhammad" userId="6b0af2cb-2f76-400b-94d9-178b55ef4f85" providerId="ADAL" clId="{AAB9F4BF-7512-4D5B-87AA-9510F67EA02C}" dt="2023-03-30T14:32:38.260" v="262" actId="20577"/>
        <pc:sldMkLst>
          <pc:docMk/>
          <pc:sldMk cId="0" sldId="264"/>
        </pc:sldMkLst>
        <pc:spChg chg="mod">
          <ac:chgData name="Asif Muhammad" userId="6b0af2cb-2f76-400b-94d9-178b55ef4f85" providerId="ADAL" clId="{AAB9F4BF-7512-4D5B-87AA-9510F67EA02C}" dt="2023-03-30T10:38:02.753" v="57"/>
          <ac:spMkLst>
            <pc:docMk/>
            <pc:sldMk cId="0" sldId="264"/>
            <ac:spMk id="210" creationId="{00000000-0000-0000-0000-000000000000}"/>
          </ac:spMkLst>
        </pc:spChg>
        <pc:spChg chg="mod">
          <ac:chgData name="Asif Muhammad" userId="6b0af2cb-2f76-400b-94d9-178b55ef4f85" providerId="ADAL" clId="{AAB9F4BF-7512-4D5B-87AA-9510F67EA02C}" dt="2023-03-30T10:38:02.753" v="57"/>
          <ac:spMkLst>
            <pc:docMk/>
            <pc:sldMk cId="0" sldId="264"/>
            <ac:spMk id="211" creationId="{00000000-0000-0000-0000-000000000000}"/>
          </ac:spMkLst>
        </pc:spChg>
        <pc:graphicFrameChg chg="mod modGraphic">
          <ac:chgData name="Asif Muhammad" userId="6b0af2cb-2f76-400b-94d9-178b55ef4f85" providerId="ADAL" clId="{AAB9F4BF-7512-4D5B-87AA-9510F67EA02C}" dt="2023-03-30T14:32:38.260" v="262" actId="20577"/>
          <ac:graphicFrameMkLst>
            <pc:docMk/>
            <pc:sldMk cId="0" sldId="264"/>
            <ac:graphicFrameMk id="212" creationId="{00000000-0000-0000-0000-000000000000}"/>
          </ac:graphicFrameMkLst>
        </pc:graphicFrameChg>
      </pc:sldChg>
      <pc:sldChg chg="modSp mod">
        <pc:chgData name="Asif Muhammad" userId="6b0af2cb-2f76-400b-94d9-178b55ef4f85" providerId="ADAL" clId="{AAB9F4BF-7512-4D5B-87AA-9510F67EA02C}" dt="2023-03-30T11:02:56.101" v="197" actId="20577"/>
        <pc:sldMkLst>
          <pc:docMk/>
          <pc:sldMk cId="0" sldId="265"/>
        </pc:sldMkLst>
        <pc:spChg chg="mod">
          <ac:chgData name="Asif Muhammad" userId="6b0af2cb-2f76-400b-94d9-178b55ef4f85" providerId="ADAL" clId="{AAB9F4BF-7512-4D5B-87AA-9510F67EA02C}" dt="2023-03-30T10:38:02.753" v="57"/>
          <ac:spMkLst>
            <pc:docMk/>
            <pc:sldMk cId="0" sldId="265"/>
            <ac:spMk id="218" creationId="{00000000-0000-0000-0000-000000000000}"/>
          </ac:spMkLst>
        </pc:spChg>
        <pc:spChg chg="mod">
          <ac:chgData name="Asif Muhammad" userId="6b0af2cb-2f76-400b-94d9-178b55ef4f85" providerId="ADAL" clId="{AAB9F4BF-7512-4D5B-87AA-9510F67EA02C}" dt="2023-03-30T10:38:02.753" v="57"/>
          <ac:spMkLst>
            <pc:docMk/>
            <pc:sldMk cId="0" sldId="265"/>
            <ac:spMk id="219" creationId="{00000000-0000-0000-0000-000000000000}"/>
          </ac:spMkLst>
        </pc:spChg>
        <pc:graphicFrameChg chg="mod modGraphic">
          <ac:chgData name="Asif Muhammad" userId="6b0af2cb-2f76-400b-94d9-178b55ef4f85" providerId="ADAL" clId="{AAB9F4BF-7512-4D5B-87AA-9510F67EA02C}" dt="2023-03-30T11:02:56.101" v="197" actId="20577"/>
          <ac:graphicFrameMkLst>
            <pc:docMk/>
            <pc:sldMk cId="0" sldId="265"/>
            <ac:graphicFrameMk id="220" creationId="{00000000-0000-0000-0000-000000000000}"/>
          </ac:graphicFrameMkLst>
        </pc:graphicFrameChg>
      </pc:sldChg>
      <pc:sldChg chg="modSp mod">
        <pc:chgData name="Asif Muhammad" userId="6b0af2cb-2f76-400b-94d9-178b55ef4f85" providerId="ADAL" clId="{AAB9F4BF-7512-4D5B-87AA-9510F67EA02C}" dt="2023-03-30T11:26:54.731" v="201" actId="6549"/>
        <pc:sldMkLst>
          <pc:docMk/>
          <pc:sldMk cId="0" sldId="266"/>
        </pc:sldMkLst>
        <pc:spChg chg="mod">
          <ac:chgData name="Asif Muhammad" userId="6b0af2cb-2f76-400b-94d9-178b55ef4f85" providerId="ADAL" clId="{AAB9F4BF-7512-4D5B-87AA-9510F67EA02C}" dt="2023-03-30T10:38:02.753" v="57"/>
          <ac:spMkLst>
            <pc:docMk/>
            <pc:sldMk cId="0" sldId="266"/>
            <ac:spMk id="226" creationId="{00000000-0000-0000-0000-000000000000}"/>
          </ac:spMkLst>
        </pc:spChg>
        <pc:spChg chg="mod">
          <ac:chgData name="Asif Muhammad" userId="6b0af2cb-2f76-400b-94d9-178b55ef4f85" providerId="ADAL" clId="{AAB9F4BF-7512-4D5B-87AA-9510F67EA02C}" dt="2023-03-30T10:38:02.753" v="57"/>
          <ac:spMkLst>
            <pc:docMk/>
            <pc:sldMk cId="0" sldId="266"/>
            <ac:spMk id="227" creationId="{00000000-0000-0000-0000-000000000000}"/>
          </ac:spMkLst>
        </pc:spChg>
        <pc:graphicFrameChg chg="mod modGraphic">
          <ac:chgData name="Asif Muhammad" userId="6b0af2cb-2f76-400b-94d9-178b55ef4f85" providerId="ADAL" clId="{AAB9F4BF-7512-4D5B-87AA-9510F67EA02C}" dt="2023-03-30T11:26:54.731" v="201" actId="6549"/>
          <ac:graphicFrameMkLst>
            <pc:docMk/>
            <pc:sldMk cId="0" sldId="266"/>
            <ac:graphicFrameMk id="228" creationId="{00000000-0000-0000-0000-000000000000}"/>
          </ac:graphicFrameMkLst>
        </pc:graphicFrameChg>
      </pc:sldChg>
      <pc:sldChg chg="modSp mod">
        <pc:chgData name="Asif Muhammad" userId="6b0af2cb-2f76-400b-94d9-178b55ef4f85" providerId="ADAL" clId="{AAB9F4BF-7512-4D5B-87AA-9510F67EA02C}" dt="2023-03-30T14:33:17.353" v="263" actId="14100"/>
        <pc:sldMkLst>
          <pc:docMk/>
          <pc:sldMk cId="0" sldId="267"/>
        </pc:sldMkLst>
        <pc:spChg chg="mod">
          <ac:chgData name="Asif Muhammad" userId="6b0af2cb-2f76-400b-94d9-178b55ef4f85" providerId="ADAL" clId="{AAB9F4BF-7512-4D5B-87AA-9510F67EA02C}" dt="2023-03-30T10:38:02.753" v="57"/>
          <ac:spMkLst>
            <pc:docMk/>
            <pc:sldMk cId="0" sldId="267"/>
            <ac:spMk id="234" creationId="{00000000-0000-0000-0000-000000000000}"/>
          </ac:spMkLst>
        </pc:spChg>
        <pc:spChg chg="mod">
          <ac:chgData name="Asif Muhammad" userId="6b0af2cb-2f76-400b-94d9-178b55ef4f85" providerId="ADAL" clId="{AAB9F4BF-7512-4D5B-87AA-9510F67EA02C}" dt="2023-03-30T10:38:02.753" v="57"/>
          <ac:spMkLst>
            <pc:docMk/>
            <pc:sldMk cId="0" sldId="267"/>
            <ac:spMk id="235" creationId="{00000000-0000-0000-0000-000000000000}"/>
          </ac:spMkLst>
        </pc:spChg>
        <pc:graphicFrameChg chg="mod modGraphic">
          <ac:chgData name="Asif Muhammad" userId="6b0af2cb-2f76-400b-94d9-178b55ef4f85" providerId="ADAL" clId="{AAB9F4BF-7512-4D5B-87AA-9510F67EA02C}" dt="2023-03-30T14:33:17.353" v="263" actId="14100"/>
          <ac:graphicFrameMkLst>
            <pc:docMk/>
            <pc:sldMk cId="0" sldId="267"/>
            <ac:graphicFrameMk id="236" creationId="{00000000-0000-0000-0000-000000000000}"/>
          </ac:graphicFrameMkLst>
        </pc:graphicFrameChg>
      </pc:sldChg>
      <pc:sldChg chg="modSp mod">
        <pc:chgData name="Asif Muhammad" userId="6b0af2cb-2f76-400b-94d9-178b55ef4f85" providerId="ADAL" clId="{AAB9F4BF-7512-4D5B-87AA-9510F67EA02C}" dt="2023-03-30T11:31:03.545" v="209" actId="404"/>
        <pc:sldMkLst>
          <pc:docMk/>
          <pc:sldMk cId="0" sldId="268"/>
        </pc:sldMkLst>
        <pc:spChg chg="mod">
          <ac:chgData name="Asif Muhammad" userId="6b0af2cb-2f76-400b-94d9-178b55ef4f85" providerId="ADAL" clId="{AAB9F4BF-7512-4D5B-87AA-9510F67EA02C}" dt="2023-03-30T10:38:02.753" v="57"/>
          <ac:spMkLst>
            <pc:docMk/>
            <pc:sldMk cId="0" sldId="268"/>
            <ac:spMk id="242" creationId="{00000000-0000-0000-0000-000000000000}"/>
          </ac:spMkLst>
        </pc:spChg>
        <pc:spChg chg="mod">
          <ac:chgData name="Asif Muhammad" userId="6b0af2cb-2f76-400b-94d9-178b55ef4f85" providerId="ADAL" clId="{AAB9F4BF-7512-4D5B-87AA-9510F67EA02C}" dt="2023-03-30T10:38:02.753" v="57"/>
          <ac:spMkLst>
            <pc:docMk/>
            <pc:sldMk cId="0" sldId="268"/>
            <ac:spMk id="243" creationId="{00000000-0000-0000-0000-000000000000}"/>
          </ac:spMkLst>
        </pc:spChg>
        <pc:graphicFrameChg chg="mod modGraphic">
          <ac:chgData name="Asif Muhammad" userId="6b0af2cb-2f76-400b-94d9-178b55ef4f85" providerId="ADAL" clId="{AAB9F4BF-7512-4D5B-87AA-9510F67EA02C}" dt="2023-03-30T11:31:03.545" v="209" actId="404"/>
          <ac:graphicFrameMkLst>
            <pc:docMk/>
            <pc:sldMk cId="0" sldId="268"/>
            <ac:graphicFrameMk id="244" creationId="{00000000-0000-0000-0000-000000000000}"/>
          </ac:graphicFrameMkLst>
        </pc:graphicFrameChg>
      </pc:sldChg>
      <pc:sldChg chg="modSp mod">
        <pc:chgData name="Asif Muhammad" userId="6b0af2cb-2f76-400b-94d9-178b55ef4f85" providerId="ADAL" clId="{AAB9F4BF-7512-4D5B-87AA-9510F67EA02C}" dt="2023-03-30T11:31:58.496" v="214" actId="404"/>
        <pc:sldMkLst>
          <pc:docMk/>
          <pc:sldMk cId="0" sldId="269"/>
        </pc:sldMkLst>
        <pc:spChg chg="mod">
          <ac:chgData name="Asif Muhammad" userId="6b0af2cb-2f76-400b-94d9-178b55ef4f85" providerId="ADAL" clId="{AAB9F4BF-7512-4D5B-87AA-9510F67EA02C}" dt="2023-03-30T10:38:02.753" v="57"/>
          <ac:spMkLst>
            <pc:docMk/>
            <pc:sldMk cId="0" sldId="269"/>
            <ac:spMk id="250" creationId="{00000000-0000-0000-0000-000000000000}"/>
          </ac:spMkLst>
        </pc:spChg>
        <pc:spChg chg="mod">
          <ac:chgData name="Asif Muhammad" userId="6b0af2cb-2f76-400b-94d9-178b55ef4f85" providerId="ADAL" clId="{AAB9F4BF-7512-4D5B-87AA-9510F67EA02C}" dt="2023-03-30T10:38:02.753" v="57"/>
          <ac:spMkLst>
            <pc:docMk/>
            <pc:sldMk cId="0" sldId="269"/>
            <ac:spMk id="251" creationId="{00000000-0000-0000-0000-000000000000}"/>
          </ac:spMkLst>
        </pc:spChg>
        <pc:graphicFrameChg chg="mod modGraphic">
          <ac:chgData name="Asif Muhammad" userId="6b0af2cb-2f76-400b-94d9-178b55ef4f85" providerId="ADAL" clId="{AAB9F4BF-7512-4D5B-87AA-9510F67EA02C}" dt="2023-03-30T11:31:58.496" v="214" actId="404"/>
          <ac:graphicFrameMkLst>
            <pc:docMk/>
            <pc:sldMk cId="0" sldId="269"/>
            <ac:graphicFrameMk id="252" creationId="{00000000-0000-0000-0000-000000000000}"/>
          </ac:graphicFrameMkLst>
        </pc:graphicFrameChg>
      </pc:sldChg>
      <pc:sldChg chg="modSp mod">
        <pc:chgData name="Asif Muhammad" userId="6b0af2cb-2f76-400b-94d9-178b55ef4f85" providerId="ADAL" clId="{AAB9F4BF-7512-4D5B-87AA-9510F67EA02C}" dt="2023-03-30T14:34:20.507" v="264" actId="14100"/>
        <pc:sldMkLst>
          <pc:docMk/>
          <pc:sldMk cId="0" sldId="270"/>
        </pc:sldMkLst>
        <pc:spChg chg="mod">
          <ac:chgData name="Asif Muhammad" userId="6b0af2cb-2f76-400b-94d9-178b55ef4f85" providerId="ADAL" clId="{AAB9F4BF-7512-4D5B-87AA-9510F67EA02C}" dt="2023-03-30T10:38:02.753" v="57"/>
          <ac:spMkLst>
            <pc:docMk/>
            <pc:sldMk cId="0" sldId="270"/>
            <ac:spMk id="258" creationId="{00000000-0000-0000-0000-000000000000}"/>
          </ac:spMkLst>
        </pc:spChg>
        <pc:spChg chg="mod">
          <ac:chgData name="Asif Muhammad" userId="6b0af2cb-2f76-400b-94d9-178b55ef4f85" providerId="ADAL" clId="{AAB9F4BF-7512-4D5B-87AA-9510F67EA02C}" dt="2023-03-30T10:38:02.753" v="57"/>
          <ac:spMkLst>
            <pc:docMk/>
            <pc:sldMk cId="0" sldId="270"/>
            <ac:spMk id="259" creationId="{00000000-0000-0000-0000-000000000000}"/>
          </ac:spMkLst>
        </pc:spChg>
        <pc:graphicFrameChg chg="mod modGraphic">
          <ac:chgData name="Asif Muhammad" userId="6b0af2cb-2f76-400b-94d9-178b55ef4f85" providerId="ADAL" clId="{AAB9F4BF-7512-4D5B-87AA-9510F67EA02C}" dt="2023-03-30T14:34:20.507" v="264" actId="14100"/>
          <ac:graphicFrameMkLst>
            <pc:docMk/>
            <pc:sldMk cId="0" sldId="270"/>
            <ac:graphicFrameMk id="260" creationId="{00000000-0000-0000-0000-000000000000}"/>
          </ac:graphicFrameMkLst>
        </pc:graphicFrameChg>
      </pc:sldChg>
      <pc:sldChg chg="modSp mod">
        <pc:chgData name="Asif Muhammad" userId="6b0af2cb-2f76-400b-94d9-178b55ef4f85" providerId="ADAL" clId="{AAB9F4BF-7512-4D5B-87AA-9510F67EA02C}" dt="2023-03-30T14:37:32.165" v="268" actId="255"/>
        <pc:sldMkLst>
          <pc:docMk/>
          <pc:sldMk cId="0" sldId="271"/>
        </pc:sldMkLst>
        <pc:spChg chg="mod">
          <ac:chgData name="Asif Muhammad" userId="6b0af2cb-2f76-400b-94d9-178b55ef4f85" providerId="ADAL" clId="{AAB9F4BF-7512-4D5B-87AA-9510F67EA02C}" dt="2023-03-30T10:38:02.753" v="57"/>
          <ac:spMkLst>
            <pc:docMk/>
            <pc:sldMk cId="0" sldId="271"/>
            <ac:spMk id="266" creationId="{00000000-0000-0000-0000-000000000000}"/>
          </ac:spMkLst>
        </pc:spChg>
        <pc:spChg chg="mod">
          <ac:chgData name="Asif Muhammad" userId="6b0af2cb-2f76-400b-94d9-178b55ef4f85" providerId="ADAL" clId="{AAB9F4BF-7512-4D5B-87AA-9510F67EA02C}" dt="2023-03-30T10:38:02.753" v="57"/>
          <ac:spMkLst>
            <pc:docMk/>
            <pc:sldMk cId="0" sldId="271"/>
            <ac:spMk id="267" creationId="{00000000-0000-0000-0000-000000000000}"/>
          </ac:spMkLst>
        </pc:spChg>
        <pc:graphicFrameChg chg="mod modGraphic">
          <ac:chgData name="Asif Muhammad" userId="6b0af2cb-2f76-400b-94d9-178b55ef4f85" providerId="ADAL" clId="{AAB9F4BF-7512-4D5B-87AA-9510F67EA02C}" dt="2023-03-30T14:37:32.165" v="268" actId="255"/>
          <ac:graphicFrameMkLst>
            <pc:docMk/>
            <pc:sldMk cId="0" sldId="271"/>
            <ac:graphicFrameMk id="268" creationId="{00000000-0000-0000-0000-000000000000}"/>
          </ac:graphicFrameMkLst>
        </pc:graphicFrameChg>
      </pc:sldChg>
      <pc:sldChg chg="modSp mod">
        <pc:chgData name="Asif Muhammad" userId="6b0af2cb-2f76-400b-94d9-178b55ef4f85" providerId="ADAL" clId="{AAB9F4BF-7512-4D5B-87AA-9510F67EA02C}" dt="2023-03-30T14:50:16.231" v="292" actId="20577"/>
        <pc:sldMkLst>
          <pc:docMk/>
          <pc:sldMk cId="0" sldId="272"/>
        </pc:sldMkLst>
        <pc:spChg chg="mod">
          <ac:chgData name="Asif Muhammad" userId="6b0af2cb-2f76-400b-94d9-178b55ef4f85" providerId="ADAL" clId="{AAB9F4BF-7512-4D5B-87AA-9510F67EA02C}" dt="2023-03-30T10:38:02.753" v="57"/>
          <ac:spMkLst>
            <pc:docMk/>
            <pc:sldMk cId="0" sldId="272"/>
            <ac:spMk id="274" creationId="{00000000-0000-0000-0000-000000000000}"/>
          </ac:spMkLst>
        </pc:spChg>
        <pc:spChg chg="mod">
          <ac:chgData name="Asif Muhammad" userId="6b0af2cb-2f76-400b-94d9-178b55ef4f85" providerId="ADAL" clId="{AAB9F4BF-7512-4D5B-87AA-9510F67EA02C}" dt="2023-03-30T10:38:02.753" v="57"/>
          <ac:spMkLst>
            <pc:docMk/>
            <pc:sldMk cId="0" sldId="272"/>
            <ac:spMk id="275" creationId="{00000000-0000-0000-0000-000000000000}"/>
          </ac:spMkLst>
        </pc:spChg>
        <pc:graphicFrameChg chg="mod modGraphic">
          <ac:chgData name="Asif Muhammad" userId="6b0af2cb-2f76-400b-94d9-178b55ef4f85" providerId="ADAL" clId="{AAB9F4BF-7512-4D5B-87AA-9510F67EA02C}" dt="2023-03-30T14:50:16.231" v="292" actId="20577"/>
          <ac:graphicFrameMkLst>
            <pc:docMk/>
            <pc:sldMk cId="0" sldId="272"/>
            <ac:graphicFrameMk id="276" creationId="{00000000-0000-0000-0000-000000000000}"/>
          </ac:graphicFrameMkLst>
        </pc:graphicFrameChg>
      </pc:sldChg>
      <pc:sldChg chg="modSp mod">
        <pc:chgData name="Asif Muhammad" userId="6b0af2cb-2f76-400b-94d9-178b55ef4f85" providerId="ADAL" clId="{AAB9F4BF-7512-4D5B-87AA-9510F67EA02C}" dt="2023-03-30T14:53:04.046" v="297" actId="403"/>
        <pc:sldMkLst>
          <pc:docMk/>
          <pc:sldMk cId="0" sldId="273"/>
        </pc:sldMkLst>
        <pc:spChg chg="mod">
          <ac:chgData name="Asif Muhammad" userId="6b0af2cb-2f76-400b-94d9-178b55ef4f85" providerId="ADAL" clId="{AAB9F4BF-7512-4D5B-87AA-9510F67EA02C}" dt="2023-03-30T10:38:02.753" v="57"/>
          <ac:spMkLst>
            <pc:docMk/>
            <pc:sldMk cId="0" sldId="273"/>
            <ac:spMk id="282" creationId="{00000000-0000-0000-0000-000000000000}"/>
          </ac:spMkLst>
        </pc:spChg>
        <pc:spChg chg="mod">
          <ac:chgData name="Asif Muhammad" userId="6b0af2cb-2f76-400b-94d9-178b55ef4f85" providerId="ADAL" clId="{AAB9F4BF-7512-4D5B-87AA-9510F67EA02C}" dt="2023-03-30T10:38:02.753" v="57"/>
          <ac:spMkLst>
            <pc:docMk/>
            <pc:sldMk cId="0" sldId="273"/>
            <ac:spMk id="283" creationId="{00000000-0000-0000-0000-000000000000}"/>
          </ac:spMkLst>
        </pc:spChg>
        <pc:graphicFrameChg chg="mod modGraphic">
          <ac:chgData name="Asif Muhammad" userId="6b0af2cb-2f76-400b-94d9-178b55ef4f85" providerId="ADAL" clId="{AAB9F4BF-7512-4D5B-87AA-9510F67EA02C}" dt="2023-03-30T14:53:04.046" v="297" actId="403"/>
          <ac:graphicFrameMkLst>
            <pc:docMk/>
            <pc:sldMk cId="0" sldId="273"/>
            <ac:graphicFrameMk id="284" creationId="{00000000-0000-0000-0000-000000000000}"/>
          </ac:graphicFrameMkLst>
        </pc:graphicFrameChg>
      </pc:sldChg>
      <pc:sldChg chg="modSp del mod">
        <pc:chgData name="Asif Muhammad" userId="6b0af2cb-2f76-400b-94d9-178b55ef4f85" providerId="ADAL" clId="{AAB9F4BF-7512-4D5B-87AA-9510F67EA02C}" dt="2023-03-30T14:53:39.511" v="298" actId="47"/>
        <pc:sldMkLst>
          <pc:docMk/>
          <pc:sldMk cId="0" sldId="274"/>
        </pc:sldMkLst>
        <pc:spChg chg="mod">
          <ac:chgData name="Asif Muhammad" userId="6b0af2cb-2f76-400b-94d9-178b55ef4f85" providerId="ADAL" clId="{AAB9F4BF-7512-4D5B-87AA-9510F67EA02C}" dt="2023-03-30T10:38:02.753" v="57"/>
          <ac:spMkLst>
            <pc:docMk/>
            <pc:sldMk cId="0" sldId="274"/>
            <ac:spMk id="290" creationId="{00000000-0000-0000-0000-000000000000}"/>
          </ac:spMkLst>
        </pc:spChg>
        <pc:spChg chg="mod">
          <ac:chgData name="Asif Muhammad" userId="6b0af2cb-2f76-400b-94d9-178b55ef4f85" providerId="ADAL" clId="{AAB9F4BF-7512-4D5B-87AA-9510F67EA02C}" dt="2023-03-30T10:38:02.753" v="57"/>
          <ac:spMkLst>
            <pc:docMk/>
            <pc:sldMk cId="0" sldId="274"/>
            <ac:spMk id="291" creationId="{00000000-0000-0000-0000-000000000000}"/>
          </ac:spMkLst>
        </pc:spChg>
        <pc:graphicFrameChg chg="mod modGraphic">
          <ac:chgData name="Asif Muhammad" userId="6b0af2cb-2f76-400b-94d9-178b55ef4f85" providerId="ADAL" clId="{AAB9F4BF-7512-4D5B-87AA-9510F67EA02C}" dt="2023-03-30T11:53:58.088" v="231" actId="14100"/>
          <ac:graphicFrameMkLst>
            <pc:docMk/>
            <pc:sldMk cId="0" sldId="274"/>
            <ac:graphicFrameMk id="292" creationId="{00000000-0000-0000-0000-000000000000}"/>
          </ac:graphicFrameMkLst>
        </pc:graphicFrameChg>
      </pc:sldChg>
      <pc:sldChg chg="modSp">
        <pc:chgData name="Asif Muhammad" userId="6b0af2cb-2f76-400b-94d9-178b55ef4f85" providerId="ADAL" clId="{AAB9F4BF-7512-4D5B-87AA-9510F67EA02C}" dt="2023-03-30T10:38:02.753" v="57"/>
        <pc:sldMkLst>
          <pc:docMk/>
          <pc:sldMk cId="0" sldId="275"/>
        </pc:sldMkLst>
        <pc:spChg chg="mod">
          <ac:chgData name="Asif Muhammad" userId="6b0af2cb-2f76-400b-94d9-178b55ef4f85" providerId="ADAL" clId="{AAB9F4BF-7512-4D5B-87AA-9510F67EA02C}" dt="2023-03-30T10:38:02.753" v="57"/>
          <ac:spMkLst>
            <pc:docMk/>
            <pc:sldMk cId="0" sldId="275"/>
            <ac:spMk id="298" creationId="{00000000-0000-0000-0000-000000000000}"/>
          </ac:spMkLst>
        </pc:spChg>
      </pc:sldChg>
      <pc:sldChg chg="modSp mod">
        <pc:chgData name="Asif Muhammad" userId="6b0af2cb-2f76-400b-94d9-178b55ef4f85" providerId="ADAL" clId="{AAB9F4BF-7512-4D5B-87AA-9510F67EA02C}" dt="2023-03-30T14:57:43.629" v="416" actId="6549"/>
        <pc:sldMkLst>
          <pc:docMk/>
          <pc:sldMk cId="0" sldId="276"/>
        </pc:sldMkLst>
        <pc:spChg chg="mod">
          <ac:chgData name="Asif Muhammad" userId="6b0af2cb-2f76-400b-94d9-178b55ef4f85" providerId="ADAL" clId="{AAB9F4BF-7512-4D5B-87AA-9510F67EA02C}" dt="2023-03-30T10:38:02.753" v="57"/>
          <ac:spMkLst>
            <pc:docMk/>
            <pc:sldMk cId="0" sldId="276"/>
            <ac:spMk id="305" creationId="{00000000-0000-0000-0000-000000000000}"/>
          </ac:spMkLst>
        </pc:spChg>
        <pc:spChg chg="mod">
          <ac:chgData name="Asif Muhammad" userId="6b0af2cb-2f76-400b-94d9-178b55ef4f85" providerId="ADAL" clId="{AAB9F4BF-7512-4D5B-87AA-9510F67EA02C}" dt="2023-03-30T10:38:02.753" v="57"/>
          <ac:spMkLst>
            <pc:docMk/>
            <pc:sldMk cId="0" sldId="276"/>
            <ac:spMk id="306" creationId="{00000000-0000-0000-0000-000000000000}"/>
          </ac:spMkLst>
        </pc:spChg>
        <pc:graphicFrameChg chg="mod modGraphic">
          <ac:chgData name="Asif Muhammad" userId="6b0af2cb-2f76-400b-94d9-178b55ef4f85" providerId="ADAL" clId="{AAB9F4BF-7512-4D5B-87AA-9510F67EA02C}" dt="2023-03-30T14:57:43.629" v="416" actId="6549"/>
          <ac:graphicFrameMkLst>
            <pc:docMk/>
            <pc:sldMk cId="0" sldId="276"/>
            <ac:graphicFrameMk id="307" creationId="{00000000-0000-0000-0000-000000000000}"/>
          </ac:graphicFrameMkLst>
        </pc:graphicFrameChg>
      </pc:sldChg>
      <pc:sldChg chg="modSp mod">
        <pc:chgData name="Asif Muhammad" userId="6b0af2cb-2f76-400b-94d9-178b55ef4f85" providerId="ADAL" clId="{AAB9F4BF-7512-4D5B-87AA-9510F67EA02C}" dt="2023-03-30T11:58:35.729" v="236" actId="14100"/>
        <pc:sldMkLst>
          <pc:docMk/>
          <pc:sldMk cId="0" sldId="277"/>
        </pc:sldMkLst>
        <pc:spChg chg="mod">
          <ac:chgData name="Asif Muhammad" userId="6b0af2cb-2f76-400b-94d9-178b55ef4f85" providerId="ADAL" clId="{AAB9F4BF-7512-4D5B-87AA-9510F67EA02C}" dt="2023-03-30T10:38:02.753" v="57"/>
          <ac:spMkLst>
            <pc:docMk/>
            <pc:sldMk cId="0" sldId="277"/>
            <ac:spMk id="313" creationId="{00000000-0000-0000-0000-000000000000}"/>
          </ac:spMkLst>
        </pc:spChg>
        <pc:spChg chg="mod">
          <ac:chgData name="Asif Muhammad" userId="6b0af2cb-2f76-400b-94d9-178b55ef4f85" providerId="ADAL" clId="{AAB9F4BF-7512-4D5B-87AA-9510F67EA02C}" dt="2023-03-30T10:38:02.753" v="57"/>
          <ac:spMkLst>
            <pc:docMk/>
            <pc:sldMk cId="0" sldId="277"/>
            <ac:spMk id="314" creationId="{00000000-0000-0000-0000-000000000000}"/>
          </ac:spMkLst>
        </pc:spChg>
        <pc:graphicFrameChg chg="mod modGraphic">
          <ac:chgData name="Asif Muhammad" userId="6b0af2cb-2f76-400b-94d9-178b55ef4f85" providerId="ADAL" clId="{AAB9F4BF-7512-4D5B-87AA-9510F67EA02C}" dt="2023-03-30T11:58:35.729" v="236" actId="14100"/>
          <ac:graphicFrameMkLst>
            <pc:docMk/>
            <pc:sldMk cId="0" sldId="277"/>
            <ac:graphicFrameMk id="315" creationId="{00000000-0000-0000-0000-000000000000}"/>
          </ac:graphicFrameMkLst>
        </pc:graphicFrameChg>
      </pc:sldChg>
      <pc:sldChg chg="modSp mod">
        <pc:chgData name="Asif Muhammad" userId="6b0af2cb-2f76-400b-94d9-178b55ef4f85" providerId="ADAL" clId="{AAB9F4BF-7512-4D5B-87AA-9510F67EA02C}" dt="2023-03-30T15:00:22.583" v="417" actId="1076"/>
        <pc:sldMkLst>
          <pc:docMk/>
          <pc:sldMk cId="0" sldId="278"/>
        </pc:sldMkLst>
        <pc:spChg chg="mod">
          <ac:chgData name="Asif Muhammad" userId="6b0af2cb-2f76-400b-94d9-178b55ef4f85" providerId="ADAL" clId="{AAB9F4BF-7512-4D5B-87AA-9510F67EA02C}" dt="2023-03-30T10:38:02.753" v="57"/>
          <ac:spMkLst>
            <pc:docMk/>
            <pc:sldMk cId="0" sldId="278"/>
            <ac:spMk id="321" creationId="{00000000-0000-0000-0000-000000000000}"/>
          </ac:spMkLst>
        </pc:spChg>
        <pc:spChg chg="mod">
          <ac:chgData name="Asif Muhammad" userId="6b0af2cb-2f76-400b-94d9-178b55ef4f85" providerId="ADAL" clId="{AAB9F4BF-7512-4D5B-87AA-9510F67EA02C}" dt="2023-03-30T10:38:02.753" v="57"/>
          <ac:spMkLst>
            <pc:docMk/>
            <pc:sldMk cId="0" sldId="278"/>
            <ac:spMk id="322" creationId="{00000000-0000-0000-0000-000000000000}"/>
          </ac:spMkLst>
        </pc:spChg>
        <pc:graphicFrameChg chg="mod modGraphic">
          <ac:chgData name="Asif Muhammad" userId="6b0af2cb-2f76-400b-94d9-178b55ef4f85" providerId="ADAL" clId="{AAB9F4BF-7512-4D5B-87AA-9510F67EA02C}" dt="2023-03-30T11:59:11.597" v="238" actId="14100"/>
          <ac:graphicFrameMkLst>
            <pc:docMk/>
            <pc:sldMk cId="0" sldId="278"/>
            <ac:graphicFrameMk id="323" creationId="{00000000-0000-0000-0000-000000000000}"/>
          </ac:graphicFrameMkLst>
        </pc:graphicFrameChg>
        <pc:picChg chg="mod">
          <ac:chgData name="Asif Muhammad" userId="6b0af2cb-2f76-400b-94d9-178b55ef4f85" providerId="ADAL" clId="{AAB9F4BF-7512-4D5B-87AA-9510F67EA02C}" dt="2023-03-30T15:00:22.583" v="417" actId="1076"/>
          <ac:picMkLst>
            <pc:docMk/>
            <pc:sldMk cId="0" sldId="278"/>
            <ac:picMk id="324" creationId="{00000000-0000-0000-0000-000000000000}"/>
          </ac:picMkLst>
        </pc:picChg>
      </pc:sldChg>
      <pc:sldChg chg="modSp mod">
        <pc:chgData name="Asif Muhammad" userId="6b0af2cb-2f76-400b-94d9-178b55ef4f85" providerId="ADAL" clId="{AAB9F4BF-7512-4D5B-87AA-9510F67EA02C}" dt="2023-03-30T15:00:30.388" v="418" actId="403"/>
        <pc:sldMkLst>
          <pc:docMk/>
          <pc:sldMk cId="0" sldId="279"/>
        </pc:sldMkLst>
        <pc:spChg chg="mod">
          <ac:chgData name="Asif Muhammad" userId="6b0af2cb-2f76-400b-94d9-178b55ef4f85" providerId="ADAL" clId="{AAB9F4BF-7512-4D5B-87AA-9510F67EA02C}" dt="2023-03-30T10:38:02.753" v="57"/>
          <ac:spMkLst>
            <pc:docMk/>
            <pc:sldMk cId="0" sldId="279"/>
            <ac:spMk id="330" creationId="{00000000-0000-0000-0000-000000000000}"/>
          </ac:spMkLst>
        </pc:spChg>
        <pc:spChg chg="mod">
          <ac:chgData name="Asif Muhammad" userId="6b0af2cb-2f76-400b-94d9-178b55ef4f85" providerId="ADAL" clId="{AAB9F4BF-7512-4D5B-87AA-9510F67EA02C}" dt="2023-03-30T10:38:02.753" v="57"/>
          <ac:spMkLst>
            <pc:docMk/>
            <pc:sldMk cId="0" sldId="279"/>
            <ac:spMk id="331" creationId="{00000000-0000-0000-0000-000000000000}"/>
          </ac:spMkLst>
        </pc:spChg>
        <pc:graphicFrameChg chg="mod modGraphic">
          <ac:chgData name="Asif Muhammad" userId="6b0af2cb-2f76-400b-94d9-178b55ef4f85" providerId="ADAL" clId="{AAB9F4BF-7512-4D5B-87AA-9510F67EA02C}" dt="2023-03-30T15:00:30.388" v="418" actId="403"/>
          <ac:graphicFrameMkLst>
            <pc:docMk/>
            <pc:sldMk cId="0" sldId="279"/>
            <ac:graphicFrameMk id="332" creationId="{00000000-0000-0000-0000-000000000000}"/>
          </ac:graphicFrameMkLst>
        </pc:graphicFrameChg>
      </pc:sldChg>
      <pc:sldChg chg="modSp mod">
        <pc:chgData name="Asif Muhammad" userId="6b0af2cb-2f76-400b-94d9-178b55ef4f85" providerId="ADAL" clId="{AAB9F4BF-7512-4D5B-87AA-9510F67EA02C}" dt="2023-03-30T15:01:57.019" v="422" actId="404"/>
        <pc:sldMkLst>
          <pc:docMk/>
          <pc:sldMk cId="0" sldId="280"/>
        </pc:sldMkLst>
        <pc:spChg chg="mod">
          <ac:chgData name="Asif Muhammad" userId="6b0af2cb-2f76-400b-94d9-178b55ef4f85" providerId="ADAL" clId="{AAB9F4BF-7512-4D5B-87AA-9510F67EA02C}" dt="2023-03-30T10:38:02.753" v="57"/>
          <ac:spMkLst>
            <pc:docMk/>
            <pc:sldMk cId="0" sldId="280"/>
            <ac:spMk id="338" creationId="{00000000-0000-0000-0000-000000000000}"/>
          </ac:spMkLst>
        </pc:spChg>
        <pc:spChg chg="mod">
          <ac:chgData name="Asif Muhammad" userId="6b0af2cb-2f76-400b-94d9-178b55ef4f85" providerId="ADAL" clId="{AAB9F4BF-7512-4D5B-87AA-9510F67EA02C}" dt="2023-03-30T10:38:02.753" v="57"/>
          <ac:spMkLst>
            <pc:docMk/>
            <pc:sldMk cId="0" sldId="280"/>
            <ac:spMk id="339" creationId="{00000000-0000-0000-0000-000000000000}"/>
          </ac:spMkLst>
        </pc:spChg>
        <pc:graphicFrameChg chg="mod modGraphic">
          <ac:chgData name="Asif Muhammad" userId="6b0af2cb-2f76-400b-94d9-178b55ef4f85" providerId="ADAL" clId="{AAB9F4BF-7512-4D5B-87AA-9510F67EA02C}" dt="2023-03-30T15:01:57.019" v="422" actId="404"/>
          <ac:graphicFrameMkLst>
            <pc:docMk/>
            <pc:sldMk cId="0" sldId="280"/>
            <ac:graphicFrameMk id="340" creationId="{00000000-0000-0000-0000-000000000000}"/>
          </ac:graphicFrameMkLst>
        </pc:graphicFrameChg>
      </pc:sldChg>
      <pc:sldChg chg="modSp mod">
        <pc:chgData name="Asif Muhammad" userId="6b0af2cb-2f76-400b-94d9-178b55ef4f85" providerId="ADAL" clId="{AAB9F4BF-7512-4D5B-87AA-9510F67EA02C}" dt="2023-03-30T15:02:46.163" v="424" actId="14100"/>
        <pc:sldMkLst>
          <pc:docMk/>
          <pc:sldMk cId="0" sldId="281"/>
        </pc:sldMkLst>
        <pc:spChg chg="mod">
          <ac:chgData name="Asif Muhammad" userId="6b0af2cb-2f76-400b-94d9-178b55ef4f85" providerId="ADAL" clId="{AAB9F4BF-7512-4D5B-87AA-9510F67EA02C}" dt="2023-03-30T10:38:02.753" v="57"/>
          <ac:spMkLst>
            <pc:docMk/>
            <pc:sldMk cId="0" sldId="281"/>
            <ac:spMk id="346" creationId="{00000000-0000-0000-0000-000000000000}"/>
          </ac:spMkLst>
        </pc:spChg>
        <pc:spChg chg="mod">
          <ac:chgData name="Asif Muhammad" userId="6b0af2cb-2f76-400b-94d9-178b55ef4f85" providerId="ADAL" clId="{AAB9F4BF-7512-4D5B-87AA-9510F67EA02C}" dt="2023-03-30T10:38:02.753" v="57"/>
          <ac:spMkLst>
            <pc:docMk/>
            <pc:sldMk cId="0" sldId="281"/>
            <ac:spMk id="347" creationId="{00000000-0000-0000-0000-000000000000}"/>
          </ac:spMkLst>
        </pc:spChg>
        <pc:graphicFrameChg chg="mod modGraphic">
          <ac:chgData name="Asif Muhammad" userId="6b0af2cb-2f76-400b-94d9-178b55ef4f85" providerId="ADAL" clId="{AAB9F4BF-7512-4D5B-87AA-9510F67EA02C}" dt="2023-03-30T15:02:46.163" v="424" actId="14100"/>
          <ac:graphicFrameMkLst>
            <pc:docMk/>
            <pc:sldMk cId="0" sldId="281"/>
            <ac:graphicFrameMk id="348" creationId="{00000000-0000-0000-0000-000000000000}"/>
          </ac:graphicFrameMkLst>
        </pc:graphicFrameChg>
      </pc:sldChg>
      <pc:sldChg chg="modSp mod">
        <pc:chgData name="Asif Muhammad" userId="6b0af2cb-2f76-400b-94d9-178b55ef4f85" providerId="ADAL" clId="{AAB9F4BF-7512-4D5B-87AA-9510F67EA02C}" dt="2023-03-30T15:05:18.487" v="431" actId="255"/>
        <pc:sldMkLst>
          <pc:docMk/>
          <pc:sldMk cId="0" sldId="282"/>
        </pc:sldMkLst>
        <pc:spChg chg="mod">
          <ac:chgData name="Asif Muhammad" userId="6b0af2cb-2f76-400b-94d9-178b55ef4f85" providerId="ADAL" clId="{AAB9F4BF-7512-4D5B-87AA-9510F67EA02C}" dt="2023-03-30T10:38:02.753" v="57"/>
          <ac:spMkLst>
            <pc:docMk/>
            <pc:sldMk cId="0" sldId="282"/>
            <ac:spMk id="354" creationId="{00000000-0000-0000-0000-000000000000}"/>
          </ac:spMkLst>
        </pc:spChg>
        <pc:spChg chg="mod">
          <ac:chgData name="Asif Muhammad" userId="6b0af2cb-2f76-400b-94d9-178b55ef4f85" providerId="ADAL" clId="{AAB9F4BF-7512-4D5B-87AA-9510F67EA02C}" dt="2023-03-30T10:38:02.753" v="57"/>
          <ac:spMkLst>
            <pc:docMk/>
            <pc:sldMk cId="0" sldId="282"/>
            <ac:spMk id="355" creationId="{00000000-0000-0000-0000-000000000000}"/>
          </ac:spMkLst>
        </pc:spChg>
        <pc:graphicFrameChg chg="mod modGraphic">
          <ac:chgData name="Asif Muhammad" userId="6b0af2cb-2f76-400b-94d9-178b55ef4f85" providerId="ADAL" clId="{AAB9F4BF-7512-4D5B-87AA-9510F67EA02C}" dt="2023-03-30T15:05:18.487" v="431" actId="255"/>
          <ac:graphicFrameMkLst>
            <pc:docMk/>
            <pc:sldMk cId="0" sldId="282"/>
            <ac:graphicFrameMk id="356" creationId="{00000000-0000-0000-0000-000000000000}"/>
          </ac:graphicFrameMkLst>
        </pc:graphicFrameChg>
      </pc:sldChg>
      <pc:sldChg chg="modSp mod">
        <pc:chgData name="Asif Muhammad" userId="6b0af2cb-2f76-400b-94d9-178b55ef4f85" providerId="ADAL" clId="{AAB9F4BF-7512-4D5B-87AA-9510F67EA02C}" dt="2023-03-30T15:08:18.434" v="436" actId="404"/>
        <pc:sldMkLst>
          <pc:docMk/>
          <pc:sldMk cId="0" sldId="283"/>
        </pc:sldMkLst>
        <pc:spChg chg="mod">
          <ac:chgData name="Asif Muhammad" userId="6b0af2cb-2f76-400b-94d9-178b55ef4f85" providerId="ADAL" clId="{AAB9F4BF-7512-4D5B-87AA-9510F67EA02C}" dt="2023-03-30T10:38:02.753" v="57"/>
          <ac:spMkLst>
            <pc:docMk/>
            <pc:sldMk cId="0" sldId="283"/>
            <ac:spMk id="362" creationId="{00000000-0000-0000-0000-000000000000}"/>
          </ac:spMkLst>
        </pc:spChg>
        <pc:spChg chg="mod">
          <ac:chgData name="Asif Muhammad" userId="6b0af2cb-2f76-400b-94d9-178b55ef4f85" providerId="ADAL" clId="{AAB9F4BF-7512-4D5B-87AA-9510F67EA02C}" dt="2023-03-30T10:38:02.753" v="57"/>
          <ac:spMkLst>
            <pc:docMk/>
            <pc:sldMk cId="0" sldId="283"/>
            <ac:spMk id="363" creationId="{00000000-0000-0000-0000-000000000000}"/>
          </ac:spMkLst>
        </pc:spChg>
        <pc:graphicFrameChg chg="mod modGraphic">
          <ac:chgData name="Asif Muhammad" userId="6b0af2cb-2f76-400b-94d9-178b55ef4f85" providerId="ADAL" clId="{AAB9F4BF-7512-4D5B-87AA-9510F67EA02C}" dt="2023-03-30T15:08:18.434" v="436" actId="404"/>
          <ac:graphicFrameMkLst>
            <pc:docMk/>
            <pc:sldMk cId="0" sldId="283"/>
            <ac:graphicFrameMk id="364" creationId="{00000000-0000-0000-0000-000000000000}"/>
          </ac:graphicFrameMkLst>
        </pc:graphicFrameChg>
      </pc:sldChg>
      <pc:sldChg chg="modSp mod">
        <pc:chgData name="Asif Muhammad" userId="6b0af2cb-2f76-400b-94d9-178b55ef4f85" providerId="ADAL" clId="{AAB9F4BF-7512-4D5B-87AA-9510F67EA02C}" dt="2023-03-31T06:39:17.372" v="438" actId="14100"/>
        <pc:sldMkLst>
          <pc:docMk/>
          <pc:sldMk cId="0" sldId="284"/>
        </pc:sldMkLst>
        <pc:spChg chg="mod">
          <ac:chgData name="Asif Muhammad" userId="6b0af2cb-2f76-400b-94d9-178b55ef4f85" providerId="ADAL" clId="{AAB9F4BF-7512-4D5B-87AA-9510F67EA02C}" dt="2023-03-30T10:38:02.753" v="57"/>
          <ac:spMkLst>
            <pc:docMk/>
            <pc:sldMk cId="0" sldId="284"/>
            <ac:spMk id="370" creationId="{00000000-0000-0000-0000-000000000000}"/>
          </ac:spMkLst>
        </pc:spChg>
        <pc:spChg chg="mod">
          <ac:chgData name="Asif Muhammad" userId="6b0af2cb-2f76-400b-94d9-178b55ef4f85" providerId="ADAL" clId="{AAB9F4BF-7512-4D5B-87AA-9510F67EA02C}" dt="2023-03-30T10:38:02.753" v="57"/>
          <ac:spMkLst>
            <pc:docMk/>
            <pc:sldMk cId="0" sldId="284"/>
            <ac:spMk id="371" creationId="{00000000-0000-0000-0000-000000000000}"/>
          </ac:spMkLst>
        </pc:spChg>
        <pc:graphicFrameChg chg="mod modGraphic">
          <ac:chgData name="Asif Muhammad" userId="6b0af2cb-2f76-400b-94d9-178b55ef4f85" providerId="ADAL" clId="{AAB9F4BF-7512-4D5B-87AA-9510F67EA02C}" dt="2023-03-31T06:39:17.372" v="438" actId="14100"/>
          <ac:graphicFrameMkLst>
            <pc:docMk/>
            <pc:sldMk cId="0" sldId="284"/>
            <ac:graphicFrameMk id="372" creationId="{00000000-0000-0000-0000-000000000000}"/>
          </ac:graphicFrameMkLst>
        </pc:graphicFrameChg>
      </pc:sldChg>
      <pc:sldChg chg="modSp mod">
        <pc:chgData name="Asif Muhammad" userId="6b0af2cb-2f76-400b-94d9-178b55ef4f85" providerId="ADAL" clId="{AAB9F4BF-7512-4D5B-87AA-9510F67EA02C}" dt="2023-03-31T06:46:23.632" v="442" actId="403"/>
        <pc:sldMkLst>
          <pc:docMk/>
          <pc:sldMk cId="0" sldId="285"/>
        </pc:sldMkLst>
        <pc:spChg chg="mod">
          <ac:chgData name="Asif Muhammad" userId="6b0af2cb-2f76-400b-94d9-178b55ef4f85" providerId="ADAL" clId="{AAB9F4BF-7512-4D5B-87AA-9510F67EA02C}" dt="2023-03-30T10:38:02.753" v="57"/>
          <ac:spMkLst>
            <pc:docMk/>
            <pc:sldMk cId="0" sldId="285"/>
            <ac:spMk id="378" creationId="{00000000-0000-0000-0000-000000000000}"/>
          </ac:spMkLst>
        </pc:spChg>
        <pc:spChg chg="mod">
          <ac:chgData name="Asif Muhammad" userId="6b0af2cb-2f76-400b-94d9-178b55ef4f85" providerId="ADAL" clId="{AAB9F4BF-7512-4D5B-87AA-9510F67EA02C}" dt="2023-03-30T10:38:02.753" v="57"/>
          <ac:spMkLst>
            <pc:docMk/>
            <pc:sldMk cId="0" sldId="285"/>
            <ac:spMk id="379" creationId="{00000000-0000-0000-0000-000000000000}"/>
          </ac:spMkLst>
        </pc:spChg>
        <pc:graphicFrameChg chg="mod modGraphic">
          <ac:chgData name="Asif Muhammad" userId="6b0af2cb-2f76-400b-94d9-178b55ef4f85" providerId="ADAL" clId="{AAB9F4BF-7512-4D5B-87AA-9510F67EA02C}" dt="2023-03-31T06:46:23.632" v="442" actId="403"/>
          <ac:graphicFrameMkLst>
            <pc:docMk/>
            <pc:sldMk cId="0" sldId="285"/>
            <ac:graphicFrameMk id="380" creationId="{00000000-0000-0000-0000-000000000000}"/>
          </ac:graphicFrameMkLst>
        </pc:graphicFrameChg>
      </pc:sldChg>
      <pc:sldChg chg="modSp mod">
        <pc:chgData name="Asif Muhammad" userId="6b0af2cb-2f76-400b-94d9-178b55ef4f85" providerId="ADAL" clId="{AAB9F4BF-7512-4D5B-87AA-9510F67EA02C}" dt="2023-03-31T06:54:59.207" v="443" actId="1076"/>
        <pc:sldMkLst>
          <pc:docMk/>
          <pc:sldMk cId="0" sldId="286"/>
        </pc:sldMkLst>
        <pc:spChg chg="mod">
          <ac:chgData name="Asif Muhammad" userId="6b0af2cb-2f76-400b-94d9-178b55ef4f85" providerId="ADAL" clId="{AAB9F4BF-7512-4D5B-87AA-9510F67EA02C}" dt="2023-03-30T10:38:02.753" v="57"/>
          <ac:spMkLst>
            <pc:docMk/>
            <pc:sldMk cId="0" sldId="286"/>
            <ac:spMk id="386" creationId="{00000000-0000-0000-0000-000000000000}"/>
          </ac:spMkLst>
        </pc:spChg>
        <pc:spChg chg="mod">
          <ac:chgData name="Asif Muhammad" userId="6b0af2cb-2f76-400b-94d9-178b55ef4f85" providerId="ADAL" clId="{AAB9F4BF-7512-4D5B-87AA-9510F67EA02C}" dt="2023-03-30T10:38:02.753" v="57"/>
          <ac:spMkLst>
            <pc:docMk/>
            <pc:sldMk cId="0" sldId="286"/>
            <ac:spMk id="387" creationId="{00000000-0000-0000-0000-000000000000}"/>
          </ac:spMkLst>
        </pc:spChg>
        <pc:graphicFrameChg chg="mod">
          <ac:chgData name="Asif Muhammad" userId="6b0af2cb-2f76-400b-94d9-178b55ef4f85" providerId="ADAL" clId="{AAB9F4BF-7512-4D5B-87AA-9510F67EA02C}" dt="2023-03-31T06:54:59.207" v="443" actId="1076"/>
          <ac:graphicFrameMkLst>
            <pc:docMk/>
            <pc:sldMk cId="0" sldId="286"/>
            <ac:graphicFrameMk id="388" creationId="{00000000-0000-0000-0000-000000000000}"/>
          </ac:graphicFrameMkLst>
        </pc:graphicFrameChg>
        <pc:picChg chg="mod">
          <ac:chgData name="Asif Muhammad" userId="6b0af2cb-2f76-400b-94d9-178b55ef4f85" providerId="ADAL" clId="{AAB9F4BF-7512-4D5B-87AA-9510F67EA02C}" dt="2023-03-31T06:54:59.207" v="443" actId="1076"/>
          <ac:picMkLst>
            <pc:docMk/>
            <pc:sldMk cId="0" sldId="286"/>
            <ac:picMk id="389" creationId="{00000000-0000-0000-0000-000000000000}"/>
          </ac:picMkLst>
        </pc:picChg>
      </pc:sldChg>
      <pc:sldChg chg="modSp mod">
        <pc:chgData name="Asif Muhammad" userId="6b0af2cb-2f76-400b-94d9-178b55ef4f85" providerId="ADAL" clId="{AAB9F4BF-7512-4D5B-87AA-9510F67EA02C}" dt="2023-03-31T09:14:47.213" v="445" actId="14100"/>
        <pc:sldMkLst>
          <pc:docMk/>
          <pc:sldMk cId="0" sldId="287"/>
        </pc:sldMkLst>
        <pc:spChg chg="mod">
          <ac:chgData name="Asif Muhammad" userId="6b0af2cb-2f76-400b-94d9-178b55ef4f85" providerId="ADAL" clId="{AAB9F4BF-7512-4D5B-87AA-9510F67EA02C}" dt="2023-03-30T10:38:02.753" v="57"/>
          <ac:spMkLst>
            <pc:docMk/>
            <pc:sldMk cId="0" sldId="287"/>
            <ac:spMk id="395" creationId="{00000000-0000-0000-0000-000000000000}"/>
          </ac:spMkLst>
        </pc:spChg>
        <pc:spChg chg="mod">
          <ac:chgData name="Asif Muhammad" userId="6b0af2cb-2f76-400b-94d9-178b55ef4f85" providerId="ADAL" clId="{AAB9F4BF-7512-4D5B-87AA-9510F67EA02C}" dt="2023-03-30T10:38:02.753" v="57"/>
          <ac:spMkLst>
            <pc:docMk/>
            <pc:sldMk cId="0" sldId="287"/>
            <ac:spMk id="396" creationId="{00000000-0000-0000-0000-000000000000}"/>
          </ac:spMkLst>
        </pc:spChg>
        <pc:graphicFrameChg chg="mod modGraphic">
          <ac:chgData name="Asif Muhammad" userId="6b0af2cb-2f76-400b-94d9-178b55ef4f85" providerId="ADAL" clId="{AAB9F4BF-7512-4D5B-87AA-9510F67EA02C}" dt="2023-03-31T09:14:47.213" v="445" actId="14100"/>
          <ac:graphicFrameMkLst>
            <pc:docMk/>
            <pc:sldMk cId="0" sldId="287"/>
            <ac:graphicFrameMk id="397" creationId="{00000000-0000-0000-0000-000000000000}"/>
          </ac:graphicFrameMkLst>
        </pc:graphicFrameChg>
      </pc:sldChg>
      <pc:sldChg chg="modSp mod">
        <pc:chgData name="Asif Muhammad" userId="6b0af2cb-2f76-400b-94d9-178b55ef4f85" providerId="ADAL" clId="{AAB9F4BF-7512-4D5B-87AA-9510F67EA02C}" dt="2023-04-02T10:04:11.957" v="449" actId="404"/>
        <pc:sldMkLst>
          <pc:docMk/>
          <pc:sldMk cId="0" sldId="288"/>
        </pc:sldMkLst>
        <pc:spChg chg="mod">
          <ac:chgData name="Asif Muhammad" userId="6b0af2cb-2f76-400b-94d9-178b55ef4f85" providerId="ADAL" clId="{AAB9F4BF-7512-4D5B-87AA-9510F67EA02C}" dt="2023-03-30T10:38:02.753" v="57"/>
          <ac:spMkLst>
            <pc:docMk/>
            <pc:sldMk cId="0" sldId="288"/>
            <ac:spMk id="403" creationId="{00000000-0000-0000-0000-000000000000}"/>
          </ac:spMkLst>
        </pc:spChg>
        <pc:spChg chg="mod">
          <ac:chgData name="Asif Muhammad" userId="6b0af2cb-2f76-400b-94d9-178b55ef4f85" providerId="ADAL" clId="{AAB9F4BF-7512-4D5B-87AA-9510F67EA02C}" dt="2023-03-30T10:38:02.753" v="57"/>
          <ac:spMkLst>
            <pc:docMk/>
            <pc:sldMk cId="0" sldId="288"/>
            <ac:spMk id="404" creationId="{00000000-0000-0000-0000-000000000000}"/>
          </ac:spMkLst>
        </pc:spChg>
        <pc:graphicFrameChg chg="mod modGraphic">
          <ac:chgData name="Asif Muhammad" userId="6b0af2cb-2f76-400b-94d9-178b55ef4f85" providerId="ADAL" clId="{AAB9F4BF-7512-4D5B-87AA-9510F67EA02C}" dt="2023-04-02T10:04:11.957" v="449" actId="404"/>
          <ac:graphicFrameMkLst>
            <pc:docMk/>
            <pc:sldMk cId="0" sldId="288"/>
            <ac:graphicFrameMk id="405" creationId="{00000000-0000-0000-0000-000000000000}"/>
          </ac:graphicFrameMkLst>
        </pc:graphicFrameChg>
      </pc:sldChg>
      <pc:sldChg chg="modSp mod">
        <pc:chgData name="Asif Muhammad" userId="6b0af2cb-2f76-400b-94d9-178b55ef4f85" providerId="ADAL" clId="{AAB9F4BF-7512-4D5B-87AA-9510F67EA02C}" dt="2023-04-02T10:06:52.868" v="458" actId="6549"/>
        <pc:sldMkLst>
          <pc:docMk/>
          <pc:sldMk cId="0" sldId="289"/>
        </pc:sldMkLst>
        <pc:spChg chg="mod">
          <ac:chgData name="Asif Muhammad" userId="6b0af2cb-2f76-400b-94d9-178b55ef4f85" providerId="ADAL" clId="{AAB9F4BF-7512-4D5B-87AA-9510F67EA02C}" dt="2023-03-30T10:38:02.753" v="57"/>
          <ac:spMkLst>
            <pc:docMk/>
            <pc:sldMk cId="0" sldId="289"/>
            <ac:spMk id="411" creationId="{00000000-0000-0000-0000-000000000000}"/>
          </ac:spMkLst>
        </pc:spChg>
        <pc:spChg chg="mod">
          <ac:chgData name="Asif Muhammad" userId="6b0af2cb-2f76-400b-94d9-178b55ef4f85" providerId="ADAL" clId="{AAB9F4BF-7512-4D5B-87AA-9510F67EA02C}" dt="2023-03-30T10:38:02.753" v="57"/>
          <ac:spMkLst>
            <pc:docMk/>
            <pc:sldMk cId="0" sldId="289"/>
            <ac:spMk id="412" creationId="{00000000-0000-0000-0000-000000000000}"/>
          </ac:spMkLst>
        </pc:spChg>
        <pc:graphicFrameChg chg="mod modGraphic">
          <ac:chgData name="Asif Muhammad" userId="6b0af2cb-2f76-400b-94d9-178b55ef4f85" providerId="ADAL" clId="{AAB9F4BF-7512-4D5B-87AA-9510F67EA02C}" dt="2023-04-02T10:06:52.868" v="458" actId="6549"/>
          <ac:graphicFrameMkLst>
            <pc:docMk/>
            <pc:sldMk cId="0" sldId="289"/>
            <ac:graphicFrameMk id="413" creationId="{00000000-0000-0000-0000-000000000000}"/>
          </ac:graphicFrameMkLst>
        </pc:graphicFrameChg>
      </pc:sldChg>
      <pc:sldChg chg="modSp mod">
        <pc:chgData name="Asif Muhammad" userId="6b0af2cb-2f76-400b-94d9-178b55ef4f85" providerId="ADAL" clId="{AAB9F4BF-7512-4D5B-87AA-9510F67EA02C}" dt="2023-04-02T10:07:32.301" v="462" actId="403"/>
        <pc:sldMkLst>
          <pc:docMk/>
          <pc:sldMk cId="0" sldId="290"/>
        </pc:sldMkLst>
        <pc:spChg chg="mod">
          <ac:chgData name="Asif Muhammad" userId="6b0af2cb-2f76-400b-94d9-178b55ef4f85" providerId="ADAL" clId="{AAB9F4BF-7512-4D5B-87AA-9510F67EA02C}" dt="2023-03-30T10:38:02.753" v="57"/>
          <ac:spMkLst>
            <pc:docMk/>
            <pc:sldMk cId="0" sldId="290"/>
            <ac:spMk id="419" creationId="{00000000-0000-0000-0000-000000000000}"/>
          </ac:spMkLst>
        </pc:spChg>
        <pc:spChg chg="mod">
          <ac:chgData name="Asif Muhammad" userId="6b0af2cb-2f76-400b-94d9-178b55ef4f85" providerId="ADAL" clId="{AAB9F4BF-7512-4D5B-87AA-9510F67EA02C}" dt="2023-03-30T10:38:02.753" v="57"/>
          <ac:spMkLst>
            <pc:docMk/>
            <pc:sldMk cId="0" sldId="290"/>
            <ac:spMk id="420" creationId="{00000000-0000-0000-0000-000000000000}"/>
          </ac:spMkLst>
        </pc:spChg>
        <pc:graphicFrameChg chg="mod modGraphic">
          <ac:chgData name="Asif Muhammad" userId="6b0af2cb-2f76-400b-94d9-178b55ef4f85" providerId="ADAL" clId="{AAB9F4BF-7512-4D5B-87AA-9510F67EA02C}" dt="2023-04-02T10:07:32.301" v="462" actId="403"/>
          <ac:graphicFrameMkLst>
            <pc:docMk/>
            <pc:sldMk cId="0" sldId="290"/>
            <ac:graphicFrameMk id="421" creationId="{00000000-0000-0000-0000-000000000000}"/>
          </ac:graphicFrameMkLst>
        </pc:graphicFrameChg>
      </pc:sldChg>
      <pc:sldChg chg="modSp mod">
        <pc:chgData name="Asif Muhammad" userId="6b0af2cb-2f76-400b-94d9-178b55ef4f85" providerId="ADAL" clId="{AAB9F4BF-7512-4D5B-87AA-9510F67EA02C}" dt="2023-04-02T10:08:37.054" v="466" actId="404"/>
        <pc:sldMkLst>
          <pc:docMk/>
          <pc:sldMk cId="0" sldId="291"/>
        </pc:sldMkLst>
        <pc:spChg chg="mod">
          <ac:chgData name="Asif Muhammad" userId="6b0af2cb-2f76-400b-94d9-178b55ef4f85" providerId="ADAL" clId="{AAB9F4BF-7512-4D5B-87AA-9510F67EA02C}" dt="2023-03-30T10:38:02.753" v="57"/>
          <ac:spMkLst>
            <pc:docMk/>
            <pc:sldMk cId="0" sldId="291"/>
            <ac:spMk id="427" creationId="{00000000-0000-0000-0000-000000000000}"/>
          </ac:spMkLst>
        </pc:spChg>
        <pc:spChg chg="mod">
          <ac:chgData name="Asif Muhammad" userId="6b0af2cb-2f76-400b-94d9-178b55ef4f85" providerId="ADAL" clId="{AAB9F4BF-7512-4D5B-87AA-9510F67EA02C}" dt="2023-03-30T10:38:02.753" v="57"/>
          <ac:spMkLst>
            <pc:docMk/>
            <pc:sldMk cId="0" sldId="291"/>
            <ac:spMk id="428" creationId="{00000000-0000-0000-0000-000000000000}"/>
          </ac:spMkLst>
        </pc:spChg>
        <pc:graphicFrameChg chg="mod modGraphic">
          <ac:chgData name="Asif Muhammad" userId="6b0af2cb-2f76-400b-94d9-178b55ef4f85" providerId="ADAL" clId="{AAB9F4BF-7512-4D5B-87AA-9510F67EA02C}" dt="2023-04-02T10:08:37.054" v="466" actId="404"/>
          <ac:graphicFrameMkLst>
            <pc:docMk/>
            <pc:sldMk cId="0" sldId="291"/>
            <ac:graphicFrameMk id="429" creationId="{00000000-0000-0000-0000-000000000000}"/>
          </ac:graphicFrameMkLst>
        </pc:graphicFrameChg>
      </pc:sldChg>
      <pc:sldChg chg="modSp mod">
        <pc:chgData name="Asif Muhammad" userId="6b0af2cb-2f76-400b-94d9-178b55ef4f85" providerId="ADAL" clId="{AAB9F4BF-7512-4D5B-87AA-9510F67EA02C}" dt="2023-04-02T10:09:17.057" v="472" actId="403"/>
        <pc:sldMkLst>
          <pc:docMk/>
          <pc:sldMk cId="0" sldId="292"/>
        </pc:sldMkLst>
        <pc:spChg chg="mod">
          <ac:chgData name="Asif Muhammad" userId="6b0af2cb-2f76-400b-94d9-178b55ef4f85" providerId="ADAL" clId="{AAB9F4BF-7512-4D5B-87AA-9510F67EA02C}" dt="2023-03-30T10:38:02.753" v="57"/>
          <ac:spMkLst>
            <pc:docMk/>
            <pc:sldMk cId="0" sldId="292"/>
            <ac:spMk id="436" creationId="{00000000-0000-0000-0000-000000000000}"/>
          </ac:spMkLst>
        </pc:spChg>
        <pc:graphicFrameChg chg="mod modGraphic">
          <ac:chgData name="Asif Muhammad" userId="6b0af2cb-2f76-400b-94d9-178b55ef4f85" providerId="ADAL" clId="{AAB9F4BF-7512-4D5B-87AA-9510F67EA02C}" dt="2023-04-02T10:09:17.057" v="472" actId="403"/>
          <ac:graphicFrameMkLst>
            <pc:docMk/>
            <pc:sldMk cId="0" sldId="292"/>
            <ac:graphicFrameMk id="437" creationId="{00000000-0000-0000-0000-000000000000}"/>
          </ac:graphicFrameMkLst>
        </pc:graphicFrameChg>
      </pc:sldChg>
      <pc:sldChg chg="modSp mod">
        <pc:chgData name="Asif Muhammad" userId="6b0af2cb-2f76-400b-94d9-178b55ef4f85" providerId="ADAL" clId="{AAB9F4BF-7512-4D5B-87AA-9510F67EA02C}" dt="2023-04-02T10:11:33.611" v="478" actId="403"/>
        <pc:sldMkLst>
          <pc:docMk/>
          <pc:sldMk cId="0" sldId="293"/>
        </pc:sldMkLst>
        <pc:spChg chg="mod">
          <ac:chgData name="Asif Muhammad" userId="6b0af2cb-2f76-400b-94d9-178b55ef4f85" providerId="ADAL" clId="{AAB9F4BF-7512-4D5B-87AA-9510F67EA02C}" dt="2023-03-30T10:38:02.753" v="57"/>
          <ac:spMkLst>
            <pc:docMk/>
            <pc:sldMk cId="0" sldId="293"/>
            <ac:spMk id="443" creationId="{00000000-0000-0000-0000-000000000000}"/>
          </ac:spMkLst>
        </pc:spChg>
        <pc:spChg chg="mod">
          <ac:chgData name="Asif Muhammad" userId="6b0af2cb-2f76-400b-94d9-178b55ef4f85" providerId="ADAL" clId="{AAB9F4BF-7512-4D5B-87AA-9510F67EA02C}" dt="2023-03-30T10:38:02.753" v="57"/>
          <ac:spMkLst>
            <pc:docMk/>
            <pc:sldMk cId="0" sldId="293"/>
            <ac:spMk id="444" creationId="{00000000-0000-0000-0000-000000000000}"/>
          </ac:spMkLst>
        </pc:spChg>
        <pc:graphicFrameChg chg="mod modGraphic">
          <ac:chgData name="Asif Muhammad" userId="6b0af2cb-2f76-400b-94d9-178b55ef4f85" providerId="ADAL" clId="{AAB9F4BF-7512-4D5B-87AA-9510F67EA02C}" dt="2023-04-02T10:11:33.611" v="478" actId="403"/>
          <ac:graphicFrameMkLst>
            <pc:docMk/>
            <pc:sldMk cId="0" sldId="293"/>
            <ac:graphicFrameMk id="445" creationId="{00000000-0000-0000-0000-000000000000}"/>
          </ac:graphicFrameMkLst>
        </pc:graphicFrameChg>
      </pc:sldChg>
      <pc:sldChg chg="modSp mod">
        <pc:chgData name="Asif Muhammad" userId="6b0af2cb-2f76-400b-94d9-178b55ef4f85" providerId="ADAL" clId="{AAB9F4BF-7512-4D5B-87AA-9510F67EA02C}" dt="2023-03-30T10:38:02.753" v="57"/>
        <pc:sldMkLst>
          <pc:docMk/>
          <pc:sldMk cId="0" sldId="294"/>
        </pc:sldMkLst>
        <pc:spChg chg="mod">
          <ac:chgData name="Asif Muhammad" userId="6b0af2cb-2f76-400b-94d9-178b55ef4f85" providerId="ADAL" clId="{AAB9F4BF-7512-4D5B-87AA-9510F67EA02C}" dt="2023-03-30T10:38:02.753" v="57"/>
          <ac:spMkLst>
            <pc:docMk/>
            <pc:sldMk cId="0" sldId="294"/>
            <ac:spMk id="450" creationId="{00000000-0000-0000-0000-000000000000}"/>
          </ac:spMkLst>
        </pc:spChg>
        <pc:spChg chg="mod">
          <ac:chgData name="Asif Muhammad" userId="6b0af2cb-2f76-400b-94d9-178b55ef4f85" providerId="ADAL" clId="{AAB9F4BF-7512-4D5B-87AA-9510F67EA02C}" dt="2023-03-30T10:38:02.753" v="57"/>
          <ac:spMkLst>
            <pc:docMk/>
            <pc:sldMk cId="0" sldId="294"/>
            <ac:spMk id="451" creationId="{00000000-0000-0000-0000-000000000000}"/>
          </ac:spMkLst>
        </pc:spChg>
        <pc:spChg chg="mod">
          <ac:chgData name="Asif Muhammad" userId="6b0af2cb-2f76-400b-94d9-178b55ef4f85" providerId="ADAL" clId="{AAB9F4BF-7512-4D5B-87AA-9510F67EA02C}" dt="2023-03-30T10:38:02.753" v="57"/>
          <ac:spMkLst>
            <pc:docMk/>
            <pc:sldMk cId="0" sldId="294"/>
            <ac:spMk id="452" creationId="{00000000-0000-0000-0000-000000000000}"/>
          </ac:spMkLst>
        </pc:spChg>
      </pc:sldChg>
      <pc:sldMasterChg chg="modSldLayout">
        <pc:chgData name="Asif Muhammad" userId="6b0af2cb-2f76-400b-94d9-178b55ef4f85" providerId="ADAL" clId="{AAB9F4BF-7512-4D5B-87AA-9510F67EA02C}" dt="2023-03-30T10:38:02.753" v="57"/>
        <pc:sldMasterMkLst>
          <pc:docMk/>
          <pc:sldMasterMk cId="58101754" sldId="2147483667"/>
        </pc:sldMasterMkLst>
        <pc:sldLayoutChg chg="delSp">
          <pc:chgData name="Asif Muhammad" userId="6b0af2cb-2f76-400b-94d9-178b55ef4f85" providerId="ADAL" clId="{AAB9F4BF-7512-4D5B-87AA-9510F67EA02C}" dt="2023-03-30T10:38:02.753" v="57"/>
          <pc:sldLayoutMkLst>
            <pc:docMk/>
            <pc:sldMasterMk cId="58101754" sldId="2147483667"/>
            <pc:sldLayoutMk cId="3728611266" sldId="2147483685"/>
          </pc:sldLayoutMkLst>
          <pc:picChg chg="del">
            <ac:chgData name="Asif Muhammad" userId="6b0af2cb-2f76-400b-94d9-178b55ef4f85" providerId="ADAL" clId="{AAB9F4BF-7512-4D5B-87AA-9510F67EA02C}" dt="2023-03-30T10:38:02.753" v="57"/>
            <ac:picMkLst>
              <pc:docMk/>
              <pc:sldMasterMk cId="58101754" sldId="2147483667"/>
              <pc:sldLayoutMk cId="3728611266" sldId="2147483685"/>
              <ac:picMk id="25" creationId="{00000000-0000-0000-0000-000000000000}"/>
            </ac:picMkLst>
          </pc:picChg>
          <pc:picChg chg="del">
            <ac:chgData name="Asif Muhammad" userId="6b0af2cb-2f76-400b-94d9-178b55ef4f85" providerId="ADAL" clId="{AAB9F4BF-7512-4D5B-87AA-9510F67EA02C}" dt="2023-03-30T10:38:02.753" v="57"/>
            <ac:picMkLst>
              <pc:docMk/>
              <pc:sldMasterMk cId="58101754" sldId="2147483667"/>
              <pc:sldLayoutMk cId="3728611266" sldId="2147483685"/>
              <ac:picMk id="26" creationId="{00000000-0000-0000-0000-000000000000}"/>
            </ac:picMkLst>
          </pc:picChg>
          <pc:picChg chg="del">
            <ac:chgData name="Asif Muhammad" userId="6b0af2cb-2f76-400b-94d9-178b55ef4f85" providerId="ADAL" clId="{AAB9F4BF-7512-4D5B-87AA-9510F67EA02C}" dt="2023-03-30T10:38:02.753" v="57"/>
            <ac:picMkLst>
              <pc:docMk/>
              <pc:sldMasterMk cId="58101754" sldId="2147483667"/>
              <pc:sldLayoutMk cId="3728611266" sldId="2147483685"/>
              <ac:picMk id="27" creationId="{00000000-0000-0000-0000-000000000000}"/>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7" name="Google Shape;14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0" name="Google Shape;16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 name="Google Shape;17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1" name="Google Shape;19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9" name="Google Shape;19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7" name="Google Shape;20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3" name="Google Shape;22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1" name="Google Shape;23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9" name="Google Shape;23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7" name="Google Shape;24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5" name="Google Shape;255;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3" name="Google Shape;263;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1" name="Google Shape;271;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9" name="Google Shape;27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5" name="Google Shape;295;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7" name="Google Shape;327;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5" name="Google Shape;33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3" name="Google Shape;343;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1" name="Google Shape;351;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9" name="Google Shape;359;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7" name="Google Shape;367;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5" name="Google Shape;375;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3" name="Google Shape;383;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2" name="Google Shape;392;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0" name="Google Shape;400;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8" name="Google Shape;408;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6" name="Google Shape;416;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4" name="Google Shape;424;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2" name="Google Shape;432;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p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0" name="Google Shape;440;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p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8" name="Google Shape;448;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8ABE3C1-DBE1-495D-B57B-2849774B866A}" type="datetimeFigureOut">
              <a:rPr lang="en-US" dirty="0"/>
              <a:t>18-Apr-25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255346" y="2750337"/>
            <a:ext cx="1171888" cy="1356442"/>
          </a:xfrm>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561873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DE42F4-6EEF-4EF7-8ED4-2208F0F89A08}" type="datetimeFigureOut">
              <a:rPr lang="en-US" dirty="0"/>
              <a:t>18-Apr-25</a:t>
            </a:fld>
            <a:endParaRPr lang="en-US"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581007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578ACC-22D6-47C1-A373-4FD133E34F3C}" type="datetimeFigureOut">
              <a:rPr lang="en-US" dirty="0"/>
              <a:t>18-Apr-25</a:t>
            </a:fld>
            <a:endParaRPr lang="en-US"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10729455" y="2869895"/>
            <a:ext cx="1154151" cy="1090789"/>
          </a:xfrm>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87080345"/>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5A6C69-6797-4E8A-BF37-F2C3751466E9}" type="datetimeFigureOut">
              <a:rPr lang="en-US" dirty="0"/>
              <a:t>18-Apr-25</a:t>
            </a:fld>
            <a:endParaRPr lang="en-US" dirty="0"/>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788548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2014A1-A632-4878-A0D3-F52BA7563730}" type="datetimeFigureOut">
              <a:rPr lang="en-US" dirty="0"/>
              <a:t>18-Apr-25</a:t>
            </a:fld>
            <a:endParaRPr lang="en-US" dirty="0"/>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95810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99F462-093F-4566-844B-4C71F2739DA5}" type="datetimeFigureOut">
              <a:rPr lang="en-US" dirty="0"/>
              <a:t>18-Apr-25</a:t>
            </a:fld>
            <a:endParaRPr lang="en-US" dirty="0"/>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969224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D24A7AC-904D-4781-85BA-7D10C17ED021}" type="datetimeFigureOut">
              <a:rPr lang="en-US" dirty="0"/>
              <a:t>18-Apr-25</a:t>
            </a:fld>
            <a:endParaRPr lang="en-US" dirty="0"/>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449869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31444B-B92B-4E27-8C94-BB93EAF5CB18}" type="datetimeFigureOut">
              <a:rPr lang="en-US" dirty="0"/>
              <a:t>18-Apr-25</a:t>
            </a:fld>
            <a:endParaRPr lang="en-US" dirty="0"/>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68409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3EFA5E-FA76-400D-B3DC-F0BA90E6D107}" type="datetimeFigureOut">
              <a:rPr lang="en-US" dirty="0"/>
              <a:t>18-Apr-25</a:t>
            </a:fld>
            <a:endParaRPr lang="en-US" dirty="0"/>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01010308"/>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6C117F-5CCF-4837-BE5F-2B92066CAFAF}" type="datetimeFigureOut">
              <a:rPr lang="en-US" dirty="0"/>
              <a:t>18-Apr-25</a:t>
            </a:fld>
            <a:endParaRPr lang="en-US" dirty="0"/>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a:xfrm>
            <a:off x="10729455" y="4711309"/>
            <a:ext cx="1154151" cy="1090789"/>
          </a:xfrm>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903283384"/>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EB90BD-B6CE-46B7-997F-7313B992CCDC}" type="datetimeFigureOut">
              <a:rPr lang="en-US" dirty="0"/>
              <a:t>18-Apr-25</a:t>
            </a:fld>
            <a:endParaRPr lang="en-US" dirty="0"/>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a:xfrm>
            <a:off x="10729455" y="4711615"/>
            <a:ext cx="1154151" cy="1090789"/>
          </a:xfrm>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758295449"/>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B9D11F-B188-461D-B23F-39381795C052}" type="datetimeFigureOut">
              <a:rPr lang="en-US" dirty="0"/>
              <a:t>18-Apr-25</a:t>
            </a:fld>
            <a:endParaRPr lang="en-US" dirty="0"/>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a:xfrm>
            <a:off x="10729455" y="4709925"/>
            <a:ext cx="1154151" cy="1090789"/>
          </a:xfrm>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932864763"/>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2E6D8D9-55A2-4063-B0F3-121F44549695}" type="datetimeFigureOut">
              <a:rPr lang="en-US" dirty="0"/>
              <a:t>18-Apr-25</a:t>
            </a:fld>
            <a:endParaRPr lang="en-US" dirty="0"/>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a:xfrm>
            <a:off x="10729455" y="4709925"/>
            <a:ext cx="1154151" cy="1090789"/>
          </a:xfrm>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12358539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4B24536-994D-4021-A283-9F449C0DB509}" type="datetimeFigureOut">
              <a:rPr lang="en-US" dirty="0"/>
              <a:t>18-Apr-25</a:t>
            </a:fld>
            <a:endParaRPr lang="en-US" dirty="0"/>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76478291"/>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CBBBB78-C96F-47B7-AB17-D852CA960AC9}" type="datetimeFigureOut">
              <a:rPr lang="en-US" dirty="0"/>
              <a:t>18-Apr-25</a:t>
            </a:fld>
            <a:endParaRPr lang="en-US" dirty="0"/>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393345116"/>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A3F48C-C7C6-4055-9F49-3777875E72AE}" type="datetimeFigureOut">
              <a:rPr lang="en-US" dirty="0"/>
              <a:t>18-Apr-25</a:t>
            </a:fld>
            <a:endParaRPr lang="en-US"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1041572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6178E61D-D431-422C-9764-11DAFE33AB63}" type="datetimeFigureOut">
              <a:rPr lang="en-US" dirty="0"/>
              <a:t>18-Apr-25</a:t>
            </a:fld>
            <a:endParaRPr lang="en-US" dirty="0"/>
          </a:p>
        </p:txBody>
      </p:sp>
      <p:sp>
        <p:nvSpPr>
          <p:cNvPr id="5" name="Footer Placeholder 4"/>
          <p:cNvSpPr>
            <a:spLocks noGrp="1"/>
          </p:cNvSpPr>
          <p:nvPr>
            <p:ph type="ftr" sz="quarter" idx="11"/>
          </p:nvPr>
        </p:nvSpPr>
        <p:spPr>
          <a:xfrm>
            <a:off x="680321" y="5936188"/>
            <a:ext cx="6126805" cy="365125"/>
          </a:xfrm>
        </p:spPr>
        <p:txBody>
          <a:bodyPr/>
          <a:lstStyle/>
          <a:p>
            <a:endParaRPr lang="en-GB"/>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589448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Section Separator - Major">
  <p:cSld name="Section Separator - Major">
    <p:bg>
      <p:bgPr>
        <a:blipFill>
          <a:blip r:embed="rId2">
            <a:alphaModFix/>
          </a:blip>
          <a:stretch>
            <a:fillRect/>
          </a:stretch>
        </a:blipFill>
        <a:effectLst/>
      </p:bgPr>
    </p:bg>
    <p:spTree>
      <p:nvGrpSpPr>
        <p:cNvPr id="1" name="Shape 23"/>
        <p:cNvGrpSpPr/>
        <p:nvPr/>
      </p:nvGrpSpPr>
      <p:grpSpPr>
        <a:xfrm>
          <a:off x="0" y="0"/>
          <a:ext cx="0" cy="0"/>
          <a:chOff x="0" y="0"/>
          <a:chExt cx="0" cy="0"/>
        </a:xfrm>
      </p:grpSpPr>
      <p:sp>
        <p:nvSpPr>
          <p:cNvPr id="24" name="Google Shape;24;p3"/>
          <p:cNvSpPr txBox="1">
            <a:spLocks noGrp="1"/>
          </p:cNvSpPr>
          <p:nvPr>
            <p:ph type="ctrTitle"/>
          </p:nvPr>
        </p:nvSpPr>
        <p:spPr>
          <a:xfrm>
            <a:off x="1097280" y="1645920"/>
            <a:ext cx="10058400" cy="3566160"/>
          </a:xfrm>
          <a:prstGeom prst="rect">
            <a:avLst/>
          </a:prstGeom>
          <a:noFill/>
          <a:ln>
            <a:noFill/>
          </a:ln>
        </p:spPr>
        <p:txBody>
          <a:bodyPr spcFirstLastPara="1" wrap="square" lIns="91425" tIns="45700" rIns="91425" bIns="45700" anchor="ctr" anchorCtr="0">
            <a:normAutofit/>
          </a:bodyPr>
          <a:lstStyle>
            <a:lvl1pPr lvl="0" algn="l">
              <a:lnSpc>
                <a:spcPct val="85000"/>
              </a:lnSpc>
              <a:spcBef>
                <a:spcPts val="0"/>
              </a:spcBef>
              <a:spcAft>
                <a:spcPts val="0"/>
              </a:spcAft>
              <a:buClr>
                <a:srgbClr val="FFFFFF"/>
              </a:buClr>
              <a:buSzPts val="6000"/>
              <a:buFont typeface="Arial"/>
              <a:buNone/>
              <a:defRPr sz="60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3"/>
          <p:cNvSpPr txBox="1">
            <a:spLocks noGrp="1"/>
          </p:cNvSpPr>
          <p:nvPr>
            <p:ph type="ftr" idx="11"/>
          </p:nvPr>
        </p:nvSpPr>
        <p:spPr>
          <a:xfrm>
            <a:off x="4038600" y="10404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7286112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20">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D6E9DEC-419B-4CC5-A080-3B06BD5A8291}" type="datetimeFigureOut">
              <a:rPr lang="en-US" dirty="0"/>
              <a:t>18-Apr-25</a:t>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58101754"/>
      </p:ext>
    </p:extLst>
  </p:cSld>
  <p:clrMap bg1="dk1" tx1="lt1" bg2="dk2" tx2="lt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hyperlink" Target="https://docs.npmjs.com/files/package.json" TargetMode="Externa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8" Type="http://schemas.openxmlformats.org/officeDocument/2006/relationships/hyperlink" Target="https://expressjs.com/en/guide/routing.html#response-methods" TargetMode="External"/><Relationship Id="rId3" Type="http://schemas.openxmlformats.org/officeDocument/2006/relationships/hyperlink" Target="http://callbackhell.com/" TargetMode="External"/><Relationship Id="rId7" Type="http://schemas.openxmlformats.org/officeDocument/2006/relationships/hyperlink" Target="https://expressjs.com/en/4x/api.html#res.send" TargetMode="External"/><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hyperlink" Target="about:blank" TargetMode="External"/><Relationship Id="rId5" Type="http://schemas.openxmlformats.org/officeDocument/2006/relationships/hyperlink" Target="https://developer.mozilla.org/en-US/docs/Web/JavaScript/Reference/Global_Objects/Promise" TargetMode="External"/><Relationship Id="rId10" Type="http://schemas.openxmlformats.org/officeDocument/2006/relationships/hyperlink" Target="https://expressjs.com/en/4x/api.html#res.sendFile" TargetMode="External"/><Relationship Id="rId4" Type="http://schemas.openxmlformats.org/officeDocument/2006/relationships/hyperlink" Target="https://www.npmjs.com/package/async" TargetMode="External"/><Relationship Id="rId9" Type="http://schemas.openxmlformats.org/officeDocument/2006/relationships/hyperlink" Target="https://expressjs.com/en/4x/api.html#res.json"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nodejs.org/docs/latest/api/http.html#httpmethods" TargetMode="External"/><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hyperlink" Target="https://expressjs.com/en/guide/routing.html#express-router"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hyperlink" Target="https://expressjs.com/en/resources/middleware.html" TargetMode="External"/><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hyperlink" Target="https://expressjs.com/en/guide/error-handling.html" TargetMode="External"/><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100000"/>
                <a:hueMod val="270000"/>
                <a:satMod val="200000"/>
                <a:lumMod val="128000"/>
              </a:schemeClr>
            </a:gs>
            <a:gs pos="50000">
              <a:schemeClr val="bg2">
                <a:shade val="100000"/>
                <a:hueMod val="100000"/>
                <a:satMod val="110000"/>
                <a:lumMod val="130000"/>
              </a:schemeClr>
            </a:gs>
            <a:gs pos="100000">
              <a:schemeClr val="bg2">
                <a:shade val="78000"/>
                <a:hueMod val="44000"/>
                <a:satMod val="200000"/>
                <a:lumMod val="69000"/>
              </a:schemeClr>
            </a:gs>
          </a:gsLst>
          <a:lin ang="2520000" scaled="0"/>
        </a:gradFill>
        <a:effectLst/>
      </p:bgPr>
    </p:bg>
    <p:spTree>
      <p:nvGrpSpPr>
        <p:cNvPr id="1" name="Shape 148"/>
        <p:cNvGrpSpPr/>
        <p:nvPr/>
      </p:nvGrpSpPr>
      <p:grpSpPr>
        <a:xfrm>
          <a:off x="0" y="0"/>
          <a:ext cx="0" cy="0"/>
          <a:chOff x="0" y="0"/>
          <a:chExt cx="0" cy="0"/>
        </a:xfrm>
      </p:grpSpPr>
      <p:sp useBgFill="1">
        <p:nvSpPr>
          <p:cNvPr id="164" name="Rectangle 154">
            <a:extLst>
              <a:ext uri="{FF2B5EF4-FFF2-40B4-BE49-F238E27FC236}">
                <a16:creationId xmlns:a16="http://schemas.microsoft.com/office/drawing/2014/main" id="{87C031CB-DEB3-405F-9996-5322C24A6A9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6" name="Picture 156">
            <a:extLst>
              <a:ext uri="{FF2B5EF4-FFF2-40B4-BE49-F238E27FC236}">
                <a16:creationId xmlns:a16="http://schemas.microsoft.com/office/drawing/2014/main" id="{92031F0E-C3FA-4DAF-BD13-4AC665CFF0FC}"/>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67" name="Picture 158">
            <a:extLst>
              <a:ext uri="{FF2B5EF4-FFF2-40B4-BE49-F238E27FC236}">
                <a16:creationId xmlns:a16="http://schemas.microsoft.com/office/drawing/2014/main" id="{BE685C68-BF28-4330-A4FE-33ABD88511AA}"/>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5349629"/>
            <a:ext cx="11525954" cy="275942"/>
          </a:xfrm>
          <a:prstGeom prst="rect">
            <a:avLst/>
          </a:prstGeom>
        </p:spPr>
      </p:pic>
      <p:sp>
        <p:nvSpPr>
          <p:cNvPr id="161" name="Rectangle 160">
            <a:extLst>
              <a:ext uri="{FF2B5EF4-FFF2-40B4-BE49-F238E27FC236}">
                <a16:creationId xmlns:a16="http://schemas.microsoft.com/office/drawing/2014/main" id="{273350E1-40B5-47D9-8DDD-3C2A17B4B6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1525954" cy="5379499"/>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0" name="Google Shape;150;p20"/>
          <p:cNvSpPr txBox="1">
            <a:spLocks noGrp="1"/>
          </p:cNvSpPr>
          <p:nvPr>
            <p:ph type="subTitle" idx="1"/>
          </p:nvPr>
        </p:nvSpPr>
        <p:spPr>
          <a:xfrm>
            <a:off x="4063113" y="756005"/>
            <a:ext cx="5874479" cy="1241761"/>
          </a:xfrm>
          <a:prstGeom prst="rect">
            <a:avLst/>
          </a:prstGeom>
        </p:spPr>
        <p:txBody>
          <a:bodyPr spcFirstLastPara="1" lIns="91425" tIns="45700" rIns="91425" bIns="45700" anchor="b" anchorCtr="0">
            <a:normAutofit/>
          </a:bodyPr>
          <a:lstStyle/>
          <a:p>
            <a:pPr marL="0" lvl="0" indent="0" rtl="0">
              <a:spcBef>
                <a:spcPts val="0"/>
              </a:spcBef>
              <a:spcAft>
                <a:spcPts val="600"/>
              </a:spcAft>
              <a:buSzPts val="2400"/>
              <a:buNone/>
            </a:pPr>
            <a:r>
              <a:rPr lang="en-US">
                <a:solidFill>
                  <a:schemeClr val="accent1"/>
                </a:solidFill>
              </a:rPr>
              <a:t>MEAN/MERN STACK</a:t>
            </a:r>
          </a:p>
        </p:txBody>
      </p:sp>
      <p:sp>
        <p:nvSpPr>
          <p:cNvPr id="149" name="Google Shape;149;p20"/>
          <p:cNvSpPr txBox="1">
            <a:spLocks noGrp="1"/>
          </p:cNvSpPr>
          <p:nvPr>
            <p:ph type="ctrTitle"/>
          </p:nvPr>
        </p:nvSpPr>
        <p:spPr>
          <a:xfrm>
            <a:off x="4063113" y="1997765"/>
            <a:ext cx="5872891" cy="2696635"/>
          </a:xfrm>
          <a:prstGeom prst="rect">
            <a:avLst/>
          </a:prstGeom>
        </p:spPr>
        <p:txBody>
          <a:bodyPr spcFirstLastPara="1" lIns="91425" tIns="45700" rIns="91425" bIns="45700" anchorCtr="0">
            <a:normAutofit/>
          </a:bodyPr>
          <a:lstStyle/>
          <a:p>
            <a:pPr marL="0" marR="0" lvl="0" indent="0" rtl="0">
              <a:spcBef>
                <a:spcPts val="0"/>
              </a:spcBef>
              <a:spcAft>
                <a:spcPts val="0"/>
              </a:spcAft>
              <a:buClr>
                <a:srgbClr val="FFFFFF"/>
              </a:buClr>
              <a:buSzPts val="7200"/>
              <a:buFont typeface="Arial"/>
              <a:buNone/>
            </a:pPr>
            <a:r>
              <a:rPr lang="en-US" sz="6000" dirty="0">
                <a:solidFill>
                  <a:srgbClr val="FFFFFF"/>
                </a:solidFill>
              </a:rPr>
              <a:t>Node.js Http Module</a:t>
            </a:r>
          </a:p>
        </p:txBody>
      </p:sp>
      <p:pic>
        <p:nvPicPr>
          <p:cNvPr id="163" name="Picture 162">
            <a:extLst>
              <a:ext uri="{FF2B5EF4-FFF2-40B4-BE49-F238E27FC236}">
                <a16:creationId xmlns:a16="http://schemas.microsoft.com/office/drawing/2014/main" id="{A1500D0A-0DCA-4E06-8B25-618E6299CC9A}"/>
              </a:ext>
              <a:ext uri="{C183D7F6-B498-43B3-948B-1728B52AA6E4}">
                <adec:decorative xmlns:adec="http://schemas.microsoft.com/office/drawing/2017/decorative" xmlns=""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5" cstate="print">
            <a:extLst>
              <a:ext uri="{28A0092B-C50C-407E-A947-70E740481C1C}">
                <a14:useLocalDpi xmlns:a14="http://schemas.microsoft.com/office/drawing/2010/main" val="0"/>
              </a:ext>
            </a:extLst>
          </a:blip>
          <a:stretch>
            <a:fillRect/>
          </a:stretch>
        </p:blipFill>
        <p:spPr>
          <a:xfrm>
            <a:off x="10585826" y="4686838"/>
            <a:ext cx="1602997" cy="144270"/>
          </a:xfrm>
          <a:prstGeom prst="rect">
            <a:avLst/>
          </a:prstGeom>
        </p:spPr>
      </p:pic>
      <p:sp>
        <p:nvSpPr>
          <p:cNvPr id="165" name="Rectangle 164">
            <a:extLst>
              <a:ext uri="{FF2B5EF4-FFF2-40B4-BE49-F238E27FC236}">
                <a16:creationId xmlns:a16="http://schemas.microsoft.com/office/drawing/2014/main" id="{108AC4DC-69B5-4DD1-84BC-850C5A28618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85827" y="3034068"/>
            <a:ext cx="1602997"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2"/>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chemeClr val="dk1"/>
              </a:buClr>
              <a:buSzPts val="4800"/>
              <a:buFont typeface="Arial"/>
              <a:buNone/>
            </a:pPr>
            <a:r>
              <a:rPr lang="en-US"/>
              <a:t>Learning Objectives:</a:t>
            </a:r>
            <a:endParaRPr/>
          </a:p>
        </p:txBody>
      </p:sp>
      <p:sp>
        <p:nvSpPr>
          <p:cNvPr id="163" name="Google Shape;163;p22"/>
          <p:cNvSpPr txBox="1">
            <a:spLocks noGrp="1"/>
          </p:cNvSpPr>
          <p:nvPr>
            <p:ph idx="1"/>
          </p:nvPr>
        </p:nvSpPr>
        <p:spPr>
          <a:prstGeom prst="rect">
            <a:avLst/>
          </a:prstGeom>
          <a:noFill/>
          <a:ln>
            <a:noFill/>
          </a:ln>
        </p:spPr>
        <p:txBody>
          <a:bodyPr spcFirstLastPara="1" wrap="square" lIns="0" tIns="45700" rIns="0" bIns="45700" anchor="t" anchorCtr="0">
            <a:normAutofit/>
          </a:bodyPr>
          <a:lstStyle/>
          <a:p>
            <a:pPr marL="91440" lvl="0" indent="0" algn="l" rtl="0">
              <a:lnSpc>
                <a:spcPct val="90000"/>
              </a:lnSpc>
              <a:spcBef>
                <a:spcPts val="1400"/>
              </a:spcBef>
              <a:spcAft>
                <a:spcPts val="0"/>
              </a:spcAft>
              <a:buSzPts val="1800"/>
              <a:buNone/>
            </a:pPr>
            <a:endParaRPr dirty="0"/>
          </a:p>
          <a:p>
            <a:pPr marL="384048" lvl="1" indent="-144780" algn="l" rtl="0">
              <a:lnSpc>
                <a:spcPct val="100000"/>
              </a:lnSpc>
              <a:spcBef>
                <a:spcPts val="0"/>
              </a:spcBef>
              <a:spcAft>
                <a:spcPts val="0"/>
              </a:spcAft>
              <a:buClr>
                <a:srgbClr val="000000"/>
              </a:buClr>
              <a:buSzPts val="1200"/>
              <a:buFont typeface="Times New Roman"/>
              <a:buChar char="►"/>
            </a:pPr>
            <a:r>
              <a:rPr lang="en-US" sz="2000" dirty="0"/>
              <a:t>Introduction</a:t>
            </a:r>
            <a:endParaRPr sz="2000" dirty="0"/>
          </a:p>
          <a:p>
            <a:pPr marL="384048" lvl="1" indent="-144780" algn="l" rtl="0">
              <a:lnSpc>
                <a:spcPct val="100000"/>
              </a:lnSpc>
              <a:spcBef>
                <a:spcPts val="0"/>
              </a:spcBef>
              <a:spcAft>
                <a:spcPts val="0"/>
              </a:spcAft>
              <a:buClr>
                <a:srgbClr val="000000"/>
              </a:buClr>
              <a:buSzPts val="1200"/>
              <a:buFont typeface="Times New Roman"/>
              <a:buChar char="►"/>
            </a:pPr>
            <a:r>
              <a:rPr lang="en-US" sz="2000" dirty="0"/>
              <a:t>Basics Server setup</a:t>
            </a:r>
            <a:endParaRPr sz="2000" dirty="0"/>
          </a:p>
          <a:p>
            <a:pPr marL="384048" lvl="1" indent="-144780" algn="l" rtl="0">
              <a:lnSpc>
                <a:spcPct val="100000"/>
              </a:lnSpc>
              <a:spcBef>
                <a:spcPts val="0"/>
              </a:spcBef>
              <a:spcAft>
                <a:spcPts val="0"/>
              </a:spcAft>
              <a:buClr>
                <a:srgbClr val="000000"/>
              </a:buClr>
              <a:buSzPts val="1200"/>
              <a:buFont typeface="Times New Roman"/>
              <a:buChar char="►"/>
            </a:pPr>
            <a:r>
              <a:rPr lang="en-US" sz="2000" dirty="0" err="1"/>
              <a:t>Middlewares</a:t>
            </a:r>
            <a:endParaRPr sz="2000" dirty="0"/>
          </a:p>
          <a:p>
            <a:pPr marL="384048" lvl="1" indent="-144780" algn="l" rtl="0">
              <a:lnSpc>
                <a:spcPct val="100000"/>
              </a:lnSpc>
              <a:spcBef>
                <a:spcPts val="0"/>
              </a:spcBef>
              <a:spcAft>
                <a:spcPts val="0"/>
              </a:spcAft>
              <a:buClr>
                <a:srgbClr val="000000"/>
              </a:buClr>
              <a:buSzPts val="1200"/>
              <a:buFont typeface="Times New Roman"/>
              <a:buChar char="►"/>
            </a:pPr>
            <a:r>
              <a:rPr lang="en-US" sz="2000" dirty="0"/>
              <a:t>Types of middleware</a:t>
            </a:r>
            <a:endParaRPr sz="2000" dirty="0"/>
          </a:p>
          <a:p>
            <a:pPr marL="384048" lvl="1" indent="-144780" algn="l" rtl="0">
              <a:lnSpc>
                <a:spcPct val="100000"/>
              </a:lnSpc>
              <a:spcBef>
                <a:spcPts val="0"/>
              </a:spcBef>
              <a:spcAft>
                <a:spcPts val="0"/>
              </a:spcAft>
              <a:buClr>
                <a:srgbClr val="000000"/>
              </a:buClr>
              <a:buSzPts val="1200"/>
              <a:buFont typeface="Times New Roman"/>
              <a:buChar char="►"/>
            </a:pPr>
            <a:r>
              <a:rPr lang="en-US" sz="2000" dirty="0"/>
              <a:t>Application-level middleware</a:t>
            </a:r>
            <a:endParaRPr sz="2000" dirty="0"/>
          </a:p>
          <a:p>
            <a:pPr marL="384048" lvl="1" indent="-144780" algn="l" rtl="0">
              <a:lnSpc>
                <a:spcPct val="100000"/>
              </a:lnSpc>
              <a:spcBef>
                <a:spcPts val="0"/>
              </a:spcBef>
              <a:spcAft>
                <a:spcPts val="0"/>
              </a:spcAft>
              <a:buClr>
                <a:srgbClr val="000000"/>
              </a:buClr>
              <a:buSzPts val="1200"/>
              <a:buFont typeface="Times New Roman"/>
              <a:buChar char="►"/>
            </a:pPr>
            <a:r>
              <a:rPr lang="en-US" sz="2000" dirty="0"/>
              <a:t>Router level / Built-in / Third party middleware</a:t>
            </a:r>
            <a:endParaRPr sz="2000" dirty="0"/>
          </a:p>
          <a:p>
            <a:pPr marL="384048" lvl="1" indent="-144780" algn="l" rtl="0">
              <a:lnSpc>
                <a:spcPct val="100000"/>
              </a:lnSpc>
              <a:spcBef>
                <a:spcPts val="0"/>
              </a:spcBef>
              <a:spcAft>
                <a:spcPts val="0"/>
              </a:spcAft>
              <a:buClr>
                <a:srgbClr val="000000"/>
              </a:buClr>
              <a:buSzPts val="1200"/>
              <a:buFont typeface="Times New Roman"/>
              <a:buChar char="►"/>
            </a:pPr>
            <a:r>
              <a:rPr lang="en-US" sz="2000" dirty="0"/>
              <a:t>Error Handling middleware </a:t>
            </a:r>
            <a:endParaRPr sz="2000" dirty="0"/>
          </a:p>
          <a:p>
            <a:pPr marL="914400" lvl="0" indent="0" algn="l" rtl="0">
              <a:lnSpc>
                <a:spcPct val="100000"/>
              </a:lnSpc>
              <a:spcBef>
                <a:spcPts val="0"/>
              </a:spcBef>
              <a:spcAft>
                <a:spcPts val="0"/>
              </a:spcAft>
              <a:buSzPts val="1800"/>
              <a:buNone/>
            </a:pPr>
            <a:endParaRPr sz="2000" dirty="0"/>
          </a:p>
          <a:p>
            <a:pPr marL="914400" lvl="0" indent="0" algn="l" rtl="0">
              <a:lnSpc>
                <a:spcPct val="100000"/>
              </a:lnSpc>
              <a:spcBef>
                <a:spcPts val="0"/>
              </a:spcBef>
              <a:spcAft>
                <a:spcPts val="0"/>
              </a:spcAft>
              <a:buSzPts val="1800"/>
              <a:buNone/>
            </a:pPr>
            <a:endParaRPr sz="2000" dirty="0"/>
          </a:p>
          <a:p>
            <a:pPr marL="0" lvl="0" indent="0" algn="l" rtl="0">
              <a:lnSpc>
                <a:spcPct val="100000"/>
              </a:lnSpc>
              <a:spcBef>
                <a:spcPts val="0"/>
              </a:spcBef>
              <a:spcAft>
                <a:spcPts val="0"/>
              </a:spcAft>
              <a:buSzPts val="1800"/>
              <a:buNone/>
            </a:pPr>
            <a:endParaRPr sz="2000" dirty="0"/>
          </a:p>
          <a:p>
            <a:pPr marL="914400" lvl="0" indent="0" algn="l" rtl="0">
              <a:lnSpc>
                <a:spcPct val="100000"/>
              </a:lnSpc>
              <a:spcBef>
                <a:spcPts val="0"/>
              </a:spcBef>
              <a:spcAft>
                <a:spcPts val="0"/>
              </a:spcAft>
              <a:buSzPts val="1800"/>
              <a:buNone/>
            </a:pPr>
            <a:endParaRPr sz="2000" dirty="0"/>
          </a:p>
          <a:p>
            <a:pPr marL="384048" lvl="0" indent="0" algn="l" rtl="0">
              <a:lnSpc>
                <a:spcPct val="100000"/>
              </a:lnSpc>
              <a:spcBef>
                <a:spcPts val="0"/>
              </a:spcBef>
              <a:spcAft>
                <a:spcPts val="0"/>
              </a:spcAft>
              <a:buSzPts val="1800"/>
              <a:buNone/>
            </a:pPr>
            <a:endParaRPr sz="2000" dirty="0"/>
          </a:p>
          <a:p>
            <a:pPr marL="384048" lvl="0" indent="0" algn="l" rtl="0">
              <a:lnSpc>
                <a:spcPct val="100000"/>
              </a:lnSpc>
              <a:spcBef>
                <a:spcPts val="0"/>
              </a:spcBef>
              <a:spcAft>
                <a:spcPts val="0"/>
              </a:spcAft>
              <a:buSzPts val="1800"/>
              <a:buNone/>
            </a:pPr>
            <a:endParaRPr sz="2000" dirty="0"/>
          </a:p>
        </p:txBody>
      </p:sp>
      <p:sp>
        <p:nvSpPr>
          <p:cNvPr id="164" name="Google Shape;164;p22"/>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165" name="Google Shape;165;p22"/>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a:t>
            </a:fld>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4"/>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178" name="Google Shape;178;p24"/>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179" name="Google Shape;179;p24"/>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3</a:t>
            </a:fld>
            <a:endParaRPr/>
          </a:p>
        </p:txBody>
      </p:sp>
      <p:graphicFrame>
        <p:nvGraphicFramePr>
          <p:cNvPr id="180" name="Google Shape;180;p24"/>
          <p:cNvGraphicFramePr/>
          <p:nvPr>
            <p:extLst>
              <p:ext uri="{D42A27DB-BD31-4B8C-83A1-F6EECF244321}">
                <p14:modId xmlns:p14="http://schemas.microsoft.com/office/powerpoint/2010/main" val="3159617440"/>
              </p:ext>
            </p:extLst>
          </p:nvPr>
        </p:nvGraphicFramePr>
        <p:xfrm>
          <a:off x="1018000" y="2046895"/>
          <a:ext cx="10865606" cy="2905115"/>
        </p:xfrm>
        <a:graphic>
          <a:graphicData uri="http://schemas.openxmlformats.org/drawingml/2006/table">
            <a:tbl>
              <a:tblPr>
                <a:noFill/>
                <a:tableStyleId>{99CD84AF-14CF-470D-B69C-EB98024C896D}</a:tableStyleId>
              </a:tblPr>
              <a:tblGrid>
                <a:gridCol w="10865606">
                  <a:extLst>
                    <a:ext uri="{9D8B030D-6E8A-4147-A177-3AD203B41FA5}">
                      <a16:colId xmlns:a16="http://schemas.microsoft.com/office/drawing/2014/main" val="20000"/>
                    </a:ext>
                  </a:extLst>
                </a:gridCol>
              </a:tblGrid>
              <a:tr h="2905115">
                <a:tc>
                  <a:txBody>
                    <a:bodyPr/>
                    <a:lstStyle/>
                    <a:p>
                      <a:pPr marL="152400" marR="0" lvl="0" indent="0" algn="l" rtl="0">
                        <a:lnSpc>
                          <a:spcPct val="100000"/>
                        </a:lnSpc>
                        <a:spcBef>
                          <a:spcPts val="0"/>
                        </a:spcBef>
                        <a:spcAft>
                          <a:spcPts val="0"/>
                        </a:spcAft>
                        <a:buClr>
                          <a:srgbClr val="000000"/>
                        </a:buClr>
                        <a:buSzPts val="1200"/>
                        <a:buFont typeface="Noto Sans Symbols"/>
                        <a:buNone/>
                      </a:pPr>
                      <a:r>
                        <a:rPr lang="en-US" sz="1400" u="none" strike="noStrike" cap="none" dirty="0">
                          <a:latin typeface="Times New Roman"/>
                          <a:ea typeface="Times New Roman"/>
                          <a:cs typeface="Times New Roman"/>
                          <a:sym typeface="Times New Roman"/>
                        </a:rPr>
                        <a:t>The Express website describes Express as “a minimal and flexible node.js web application framework, providing a robust set of features for building single and multipage and hybrid web applications.” What does that really mean, though? Let’s break that description down:</a:t>
                      </a:r>
                      <a:endParaRPr sz="1400" u="none" strike="noStrike" cap="none" dirty="0">
                        <a:latin typeface="Times New Roman"/>
                        <a:ea typeface="Times New Roman"/>
                        <a:cs typeface="Times New Roman"/>
                        <a:sym typeface="Times New Roman"/>
                      </a:endParaRPr>
                    </a:p>
                    <a:p>
                      <a:pPr marL="914400" marR="0" lvl="0" indent="-304800" algn="l" rtl="0">
                        <a:lnSpc>
                          <a:spcPct val="100000"/>
                        </a:lnSpc>
                        <a:spcBef>
                          <a:spcPts val="0"/>
                        </a:spcBef>
                        <a:spcAft>
                          <a:spcPts val="0"/>
                        </a:spcAft>
                        <a:buClr>
                          <a:srgbClr val="000000"/>
                        </a:buClr>
                        <a:buSzPts val="1200"/>
                        <a:buFont typeface="Noto Sans Symbols"/>
                        <a:buChar char="▪"/>
                      </a:pPr>
                      <a:r>
                        <a:rPr lang="en-US" sz="1400" b="1" u="none" strike="noStrike" cap="none" dirty="0">
                          <a:latin typeface="Times New Roman"/>
                          <a:ea typeface="Times New Roman"/>
                          <a:cs typeface="Times New Roman"/>
                          <a:sym typeface="Times New Roman"/>
                        </a:rPr>
                        <a:t>Minimal</a:t>
                      </a:r>
                      <a:r>
                        <a:rPr lang="en-US" sz="1400" u="none" strike="noStrike" cap="none" dirty="0">
                          <a:latin typeface="Times New Roman"/>
                          <a:ea typeface="Times New Roman"/>
                          <a:cs typeface="Times New Roman"/>
                          <a:sym typeface="Times New Roman"/>
                        </a:rPr>
                        <a:t>: This is one of the most appealing aspects of Express. Many times, framework developers forget that usually “less is more.” </a:t>
                      </a:r>
                      <a:r>
                        <a:rPr lang="en-US" sz="1400" u="sng" strike="noStrike" cap="none" dirty="0">
                          <a:solidFill>
                            <a:schemeClr val="accent1"/>
                          </a:solidFill>
                          <a:latin typeface="Times New Roman"/>
                          <a:ea typeface="Times New Roman"/>
                          <a:cs typeface="Times New Roman"/>
                          <a:sym typeface="Times New Roman"/>
                        </a:rPr>
                        <a:t>The Express philosophy is to provide the minimal layer between your brain and the server</a:t>
                      </a:r>
                      <a:r>
                        <a:rPr lang="en-US" sz="1400" u="none" strike="noStrike" cap="none" dirty="0">
                          <a:latin typeface="Times New Roman"/>
                          <a:ea typeface="Times New Roman"/>
                          <a:cs typeface="Times New Roman"/>
                          <a:sym typeface="Times New Roman"/>
                        </a:rPr>
                        <a:t>. That doesn’t mean that it’s not robust, or that it doesn’t have enough useful features. It means that it gets in your way less, allowing you full expression of your ideas, while at the same time providing something useful.</a:t>
                      </a:r>
                      <a:endParaRPr sz="1400" u="none" strike="noStrike" cap="none" dirty="0">
                        <a:latin typeface="Times New Roman"/>
                        <a:ea typeface="Times New Roman"/>
                        <a:cs typeface="Times New Roman"/>
                        <a:sym typeface="Times New Roman"/>
                      </a:endParaRPr>
                    </a:p>
                    <a:p>
                      <a:pPr marL="914400" marR="0" lvl="0" indent="-304800" algn="l" rtl="0">
                        <a:lnSpc>
                          <a:spcPct val="100000"/>
                        </a:lnSpc>
                        <a:spcBef>
                          <a:spcPts val="0"/>
                        </a:spcBef>
                        <a:spcAft>
                          <a:spcPts val="0"/>
                        </a:spcAft>
                        <a:buClr>
                          <a:srgbClr val="000000"/>
                        </a:buClr>
                        <a:buSzPts val="1200"/>
                        <a:buFont typeface="Noto Sans Symbols"/>
                        <a:buChar char="▪"/>
                      </a:pPr>
                      <a:r>
                        <a:rPr lang="en-US" sz="1400" b="1" u="none" strike="noStrike" cap="none" dirty="0">
                          <a:latin typeface="Times New Roman"/>
                          <a:ea typeface="Times New Roman"/>
                          <a:cs typeface="Times New Roman"/>
                          <a:sym typeface="Times New Roman"/>
                        </a:rPr>
                        <a:t>Flexible</a:t>
                      </a:r>
                      <a:r>
                        <a:rPr lang="en-US" sz="1400" u="none" strike="noStrike" cap="none" dirty="0">
                          <a:latin typeface="Times New Roman"/>
                          <a:ea typeface="Times New Roman"/>
                          <a:cs typeface="Times New Roman"/>
                          <a:sym typeface="Times New Roman"/>
                        </a:rPr>
                        <a:t>: Another key aspect of the Express philosophy is that Express is extensible. Express provides you a very minimal framework, </a:t>
                      </a:r>
                      <a:r>
                        <a:rPr lang="en-US" sz="1400" u="sng" strike="noStrike" cap="none" dirty="0">
                          <a:solidFill>
                            <a:schemeClr val="accent1"/>
                          </a:solidFill>
                          <a:latin typeface="Times New Roman"/>
                          <a:ea typeface="Times New Roman"/>
                          <a:cs typeface="Times New Roman"/>
                          <a:sym typeface="Times New Roman"/>
                        </a:rPr>
                        <a:t>and you can add in different parts of Express functionality as needed, replacing whatever doesn’t meet your needs.</a:t>
                      </a:r>
                      <a:r>
                        <a:rPr lang="en-US" sz="1400" u="none" strike="noStrike" cap="none" dirty="0">
                          <a:latin typeface="Times New Roman"/>
                          <a:ea typeface="Times New Roman"/>
                          <a:cs typeface="Times New Roman"/>
                          <a:sym typeface="Times New Roman"/>
                        </a:rPr>
                        <a:t> This is a breath of fresh air. So many frameworks give you everything, leaving you with a bloated, mysterious, and complex project before you’ve even written a single line of code. Very often, the first task is to waste time carving off unneeded functionality, or replacing the functionality that doesn’t meet requirements. Express takes the opposite approach, allowing you to add what you need when you need it.</a:t>
                      </a:r>
                      <a:endParaRPr sz="14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endParaRPr sz="1400" b="1" u="sng"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6"/>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194" name="Google Shape;194;p26"/>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195" name="Google Shape;195;p26"/>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4</a:t>
            </a:fld>
            <a:endParaRPr/>
          </a:p>
        </p:txBody>
      </p:sp>
      <p:graphicFrame>
        <p:nvGraphicFramePr>
          <p:cNvPr id="196" name="Google Shape;196;p26"/>
          <p:cNvGraphicFramePr/>
          <p:nvPr>
            <p:extLst>
              <p:ext uri="{D42A27DB-BD31-4B8C-83A1-F6EECF244321}">
                <p14:modId xmlns:p14="http://schemas.microsoft.com/office/powerpoint/2010/main" val="4041248457"/>
              </p:ext>
            </p:extLst>
          </p:nvPr>
        </p:nvGraphicFramePr>
        <p:xfrm>
          <a:off x="1018000" y="2046895"/>
          <a:ext cx="10865606" cy="3909063"/>
        </p:xfrm>
        <a:graphic>
          <a:graphicData uri="http://schemas.openxmlformats.org/drawingml/2006/table">
            <a:tbl>
              <a:tblPr>
                <a:noFill/>
                <a:tableStyleId>{99CD84AF-14CF-470D-B69C-EB98024C896D}</a:tableStyleId>
              </a:tblPr>
              <a:tblGrid>
                <a:gridCol w="10865606">
                  <a:extLst>
                    <a:ext uri="{9D8B030D-6E8A-4147-A177-3AD203B41FA5}">
                      <a16:colId xmlns:a16="http://schemas.microsoft.com/office/drawing/2014/main" val="20000"/>
                    </a:ext>
                  </a:extLst>
                </a:gridCol>
              </a:tblGrid>
              <a:tr h="3909063">
                <a:tc>
                  <a:txBody>
                    <a:bodyPr/>
                    <a:lstStyle/>
                    <a:p>
                      <a:pPr marL="0" marR="0" lvl="0" indent="0" algn="l" rtl="0">
                        <a:lnSpc>
                          <a:spcPct val="100000"/>
                        </a:lnSpc>
                        <a:spcBef>
                          <a:spcPts val="0"/>
                        </a:spcBef>
                        <a:spcAft>
                          <a:spcPts val="0"/>
                        </a:spcAft>
                        <a:buClr>
                          <a:srgbClr val="000000"/>
                        </a:buClr>
                        <a:buSzPts val="1200"/>
                        <a:buFont typeface="Arial"/>
                        <a:buNone/>
                      </a:pPr>
                      <a:r>
                        <a:rPr lang="en-US" sz="1600" b="1" u="sng" strike="noStrike" cap="none" dirty="0">
                          <a:latin typeface="Times New Roman"/>
                          <a:ea typeface="Times New Roman"/>
                          <a:cs typeface="Times New Roman"/>
                          <a:sym typeface="Times New Roman"/>
                        </a:rPr>
                        <a:t>Introduction:</a:t>
                      </a:r>
                      <a:endParaRPr sz="1600" b="1" u="sng"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endParaRPr sz="1600" b="1" u="sng" strike="noStrike" cap="none" dirty="0">
                        <a:latin typeface="Times New Roman"/>
                        <a:ea typeface="Times New Roman"/>
                        <a:cs typeface="Times New Roman"/>
                        <a:sym typeface="Times New Roman"/>
                      </a:endParaRPr>
                    </a:p>
                    <a:p>
                      <a:pPr marL="457200" marR="0" lvl="0" indent="-304800" algn="l" defTabSz="914400" rtl="0" eaLnBrk="1" fontAlgn="auto" latinLnBrk="0" hangingPunct="1">
                        <a:lnSpc>
                          <a:spcPct val="100000"/>
                        </a:lnSpc>
                        <a:spcBef>
                          <a:spcPts val="0"/>
                        </a:spcBef>
                        <a:spcAft>
                          <a:spcPts val="0"/>
                        </a:spcAft>
                        <a:buClr>
                          <a:srgbClr val="000000"/>
                        </a:buClr>
                        <a:buSzPts val="1200"/>
                        <a:buFont typeface="Noto Sans Symbols"/>
                        <a:buChar char="●"/>
                        <a:tabLst/>
                        <a:defRPr/>
                      </a:pPr>
                      <a:r>
                        <a:rPr lang="en-US" sz="1600" u="none" strike="noStrike" cap="none" dirty="0">
                          <a:latin typeface="Times New Roman"/>
                          <a:ea typeface="Times New Roman"/>
                          <a:cs typeface="Times New Roman"/>
                          <a:sym typeface="Times New Roman"/>
                        </a:rPr>
                        <a:t>Express was initially released in November 2010 and is currently on </a:t>
                      </a:r>
                      <a:r>
                        <a:rPr lang="en-US" sz="1600" u="none" strike="noStrike" cap="none" dirty="0" smtClean="0">
                          <a:latin typeface="Times New Roman"/>
                          <a:ea typeface="Times New Roman"/>
                          <a:cs typeface="Times New Roman"/>
                          <a:sym typeface="Times New Roman"/>
                        </a:rPr>
                        <a:t>stable version 5.0.0</a:t>
                      </a:r>
                      <a:r>
                        <a:rPr lang="en-US" sz="1600" u="none" strike="noStrike" cap="none" baseline="0" dirty="0" smtClean="0">
                          <a:latin typeface="Times New Roman"/>
                          <a:ea typeface="Times New Roman"/>
                          <a:cs typeface="Times New Roman"/>
                          <a:sym typeface="Times New Roman"/>
                        </a:rPr>
                        <a:t> (</a:t>
                      </a:r>
                      <a:r>
                        <a:rPr lang="en-US" sz="1200" b="0" i="0" kern="1200" dirty="0" smtClean="0">
                          <a:solidFill>
                            <a:srgbClr val="000000"/>
                          </a:solidFill>
                          <a:effectLst/>
                          <a:latin typeface="Arial"/>
                          <a:ea typeface="Arial"/>
                          <a:cs typeface="Arial"/>
                        </a:rPr>
                        <a:t>2024-09-10</a:t>
                      </a:r>
                      <a:r>
                        <a:rPr lang="en-US" sz="1600" u="none" strike="noStrike" cap="none" dirty="0" smtClean="0">
                          <a:latin typeface="Times New Roman"/>
                          <a:ea typeface="Times New Roman"/>
                          <a:cs typeface="Times New Roman"/>
                          <a:sym typeface="Times New Roman"/>
                        </a:rPr>
                        <a:t>).</a:t>
                      </a:r>
                    </a:p>
                    <a:p>
                      <a:pPr marL="457200" marR="0" lvl="0" indent="-304800" algn="l" defTabSz="914400" rtl="0" eaLnBrk="1" fontAlgn="auto" latinLnBrk="0" hangingPunct="1">
                        <a:lnSpc>
                          <a:spcPct val="100000"/>
                        </a:lnSpc>
                        <a:spcBef>
                          <a:spcPts val="0"/>
                        </a:spcBef>
                        <a:spcAft>
                          <a:spcPts val="0"/>
                        </a:spcAft>
                        <a:buClr>
                          <a:srgbClr val="000000"/>
                        </a:buClr>
                        <a:buSzPts val="1200"/>
                        <a:buFont typeface="Noto Sans Symbols"/>
                        <a:buChar char="●"/>
                        <a:tabLst/>
                        <a:defRPr/>
                      </a:pPr>
                      <a:r>
                        <a:rPr lang="en-US" sz="1600" u="none" strike="noStrike" cap="none" dirty="0" smtClean="0">
                          <a:latin typeface="Times New Roman"/>
                          <a:ea typeface="Times New Roman"/>
                          <a:cs typeface="Times New Roman"/>
                          <a:sym typeface="Times New Roman"/>
                        </a:rPr>
                        <a:t>Is </a:t>
                      </a:r>
                      <a:r>
                        <a:rPr lang="en-US" sz="1600" u="none" strike="noStrike" cap="none" dirty="0" smtClean="0">
                          <a:latin typeface="Times New Roman"/>
                          <a:ea typeface="Times New Roman"/>
                          <a:cs typeface="Times New Roman"/>
                          <a:sym typeface="Times New Roman"/>
                        </a:rPr>
                        <a:t>Express </a:t>
                      </a:r>
                      <a:r>
                        <a:rPr lang="en-US" sz="1600" u="none" strike="noStrike" cap="none" dirty="0">
                          <a:latin typeface="Times New Roman"/>
                          <a:ea typeface="Times New Roman"/>
                          <a:cs typeface="Times New Roman"/>
                          <a:sym typeface="Times New Roman"/>
                        </a:rPr>
                        <a:t>Opinionated?</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Web frameworks often refer to themselves as "opinionated" or "unopinionated".</a:t>
                      </a:r>
                      <a:endParaRPr sz="16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smtClean="0">
                          <a:latin typeface="Times New Roman"/>
                          <a:ea typeface="Times New Roman"/>
                          <a:cs typeface="Times New Roman"/>
                          <a:sym typeface="Times New Roman"/>
                        </a:rPr>
                        <a:t>Express </a:t>
                      </a:r>
                      <a:r>
                        <a:rPr lang="en-US" sz="1600" u="none" strike="noStrike" cap="none" dirty="0">
                          <a:latin typeface="Times New Roman"/>
                          <a:ea typeface="Times New Roman"/>
                          <a:cs typeface="Times New Roman"/>
                          <a:sym typeface="Times New Roman"/>
                        </a:rPr>
                        <a:t>is unopinionated. You can insert almost any compatible middleware you like into the request handling chain, in almost any order you like. You can structure the app in one file or multiple files, and using any directory structure. You may sometimes feel that you have too many choices!</a:t>
                      </a:r>
                      <a:endParaRPr sz="16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7"/>
          <p:cNvSpPr txBox="1">
            <a:spLocks noGrp="1"/>
          </p:cNvSpPr>
          <p:nvPr>
            <p:ph type="title"/>
          </p:nvPr>
        </p:nvSpPr>
        <p:spPr>
          <a:xfrm>
            <a:off x="1018013" y="633244"/>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202" name="Google Shape;202;p27"/>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03" name="Google Shape;203;p27"/>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5</a:t>
            </a:fld>
            <a:endParaRPr/>
          </a:p>
        </p:txBody>
      </p:sp>
      <p:graphicFrame>
        <p:nvGraphicFramePr>
          <p:cNvPr id="204" name="Google Shape;204;p27"/>
          <p:cNvGraphicFramePr/>
          <p:nvPr>
            <p:extLst>
              <p:ext uri="{D42A27DB-BD31-4B8C-83A1-F6EECF244321}">
                <p14:modId xmlns:p14="http://schemas.microsoft.com/office/powerpoint/2010/main" val="1986263797"/>
              </p:ext>
            </p:extLst>
          </p:nvPr>
        </p:nvGraphicFramePr>
        <p:xfrm>
          <a:off x="1018013" y="2098248"/>
          <a:ext cx="10865593" cy="4450050"/>
        </p:xfrm>
        <a:graphic>
          <a:graphicData uri="http://schemas.openxmlformats.org/drawingml/2006/table">
            <a:tbl>
              <a:tblPr>
                <a:noFill/>
                <a:tableStyleId>{99CD84AF-14CF-470D-B69C-EB98024C896D}</a:tableStyleId>
              </a:tblPr>
              <a:tblGrid>
                <a:gridCol w="10865593">
                  <a:extLst>
                    <a:ext uri="{9D8B030D-6E8A-4147-A177-3AD203B41FA5}">
                      <a16:colId xmlns:a16="http://schemas.microsoft.com/office/drawing/2014/main" val="20000"/>
                    </a:ext>
                  </a:extLst>
                </a:gridCol>
              </a:tblGrid>
              <a:tr h="1019225">
                <a:tc>
                  <a:txBody>
                    <a:bodyPr/>
                    <a:lstStyle/>
                    <a:p>
                      <a:pPr marL="0" marR="0" lvl="0" indent="0" algn="l" rtl="0">
                        <a:lnSpc>
                          <a:spcPct val="100000"/>
                        </a:lnSpc>
                        <a:spcBef>
                          <a:spcPts val="0"/>
                        </a:spcBef>
                        <a:spcAft>
                          <a:spcPts val="0"/>
                        </a:spcAft>
                        <a:buClr>
                          <a:srgbClr val="000000"/>
                        </a:buClr>
                        <a:buSzPts val="1200"/>
                        <a:buFont typeface="Arial"/>
                        <a:buNone/>
                      </a:pPr>
                      <a:r>
                        <a:rPr lang="en-US" sz="2000" b="1" u="sng" strike="noStrike" cap="none" dirty="0">
                          <a:latin typeface="Times New Roman"/>
                          <a:ea typeface="Times New Roman"/>
                          <a:cs typeface="Times New Roman"/>
                          <a:sym typeface="Times New Roman"/>
                        </a:rPr>
                        <a:t>Introduction:</a:t>
                      </a:r>
                      <a:endParaRPr sz="2000" b="1" u="sng"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endParaRPr sz="20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r>
                        <a:rPr lang="en-US" sz="2000" u="none" strike="noStrike" cap="none" dirty="0">
                          <a:latin typeface="Times New Roman"/>
                          <a:ea typeface="Times New Roman"/>
                          <a:cs typeface="Times New Roman"/>
                          <a:sym typeface="Times New Roman"/>
                        </a:rPr>
                        <a:t>What does Express code look like?</a:t>
                      </a:r>
                      <a:endParaRPr sz="20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2000" u="none" strike="noStrike" cap="none" dirty="0">
                          <a:latin typeface="Times New Roman"/>
                          <a:ea typeface="Times New Roman"/>
                          <a:cs typeface="Times New Roman"/>
                          <a:sym typeface="Times New Roman"/>
                        </a:rPr>
                        <a:t>In a traditional data-driven website, a web application waits for HTTP requests from the web browser (or other client). When a request is received the application works out what action is needed based on the URL pattern and possibly associated information contained in POST data or GET data. Depending on what is required it may then read or write information from a database or perform other tasks required to satisfy the request. The application will then return a response to the web browser, often dynamically creating an HTML page for the browser to display by inserting the retrieved data into placeholders in an HTML template.</a:t>
                      </a:r>
                    </a:p>
                    <a:p>
                      <a:pPr marL="457200" marR="0" lvl="0" indent="-304800" algn="l" rtl="0">
                        <a:lnSpc>
                          <a:spcPct val="100000"/>
                        </a:lnSpc>
                        <a:spcBef>
                          <a:spcPts val="0"/>
                        </a:spcBef>
                        <a:spcAft>
                          <a:spcPts val="0"/>
                        </a:spcAft>
                        <a:buClr>
                          <a:srgbClr val="000000"/>
                        </a:buClr>
                        <a:buSzPts val="1200"/>
                        <a:buFont typeface="Noto Sans Symbols"/>
                        <a:buChar char="●"/>
                      </a:pPr>
                      <a:endParaRPr sz="20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2000" u="none" strike="noStrike" cap="none" dirty="0">
                          <a:latin typeface="Times New Roman"/>
                          <a:ea typeface="Times New Roman"/>
                          <a:cs typeface="Times New Roman"/>
                          <a:sym typeface="Times New Roman"/>
                        </a:rPr>
                        <a:t>Express provides methods to specify what function is called for a particular </a:t>
                      </a:r>
                      <a:r>
                        <a:rPr lang="en-US" sz="2000" b="1" u="none" strike="noStrike" cap="none" dirty="0">
                          <a:latin typeface="Times New Roman"/>
                          <a:ea typeface="Times New Roman"/>
                          <a:cs typeface="Times New Roman"/>
                          <a:sym typeface="Times New Roman"/>
                        </a:rPr>
                        <a:t>HTTP verb </a:t>
                      </a:r>
                      <a:r>
                        <a:rPr lang="en-US" sz="2000" u="none" strike="noStrike" cap="none" dirty="0">
                          <a:latin typeface="Times New Roman"/>
                          <a:ea typeface="Times New Roman"/>
                          <a:cs typeface="Times New Roman"/>
                          <a:sym typeface="Times New Roman"/>
                        </a:rPr>
                        <a:t>(GET, POST, SET, etc.) and </a:t>
                      </a:r>
                      <a:r>
                        <a:rPr lang="en-US" sz="2000" b="1" u="none" strike="noStrike" cap="none" dirty="0">
                          <a:latin typeface="Times New Roman"/>
                          <a:ea typeface="Times New Roman"/>
                          <a:cs typeface="Times New Roman"/>
                          <a:sym typeface="Times New Roman"/>
                        </a:rPr>
                        <a:t>URL pattern </a:t>
                      </a:r>
                      <a:r>
                        <a:rPr lang="en-US" sz="2000" u="none" strike="noStrike" cap="none" dirty="0">
                          <a:latin typeface="Times New Roman"/>
                          <a:ea typeface="Times New Roman"/>
                          <a:cs typeface="Times New Roman"/>
                          <a:sym typeface="Times New Roman"/>
                        </a:rPr>
                        <a:t>("Route"), and methods to specify what </a:t>
                      </a:r>
                      <a:r>
                        <a:rPr lang="en-US" sz="2000" b="1" u="none" strike="noStrike" cap="none" dirty="0">
                          <a:latin typeface="Times New Roman"/>
                          <a:ea typeface="Times New Roman"/>
                          <a:cs typeface="Times New Roman"/>
                          <a:sym typeface="Times New Roman"/>
                        </a:rPr>
                        <a:t>template</a:t>
                      </a:r>
                      <a:r>
                        <a:rPr lang="en-US" sz="2000" u="none" strike="noStrike" cap="none" dirty="0">
                          <a:latin typeface="Times New Roman"/>
                          <a:ea typeface="Times New Roman"/>
                          <a:cs typeface="Times New Roman"/>
                          <a:sym typeface="Times New Roman"/>
                        </a:rPr>
                        <a:t> ("view") engine is used, where template files are located, and what template to use to render a response.</a:t>
                      </a:r>
                      <a:endParaRPr sz="20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8"/>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lvl="0">
              <a:lnSpc>
                <a:spcPct val="100000"/>
              </a:lnSpc>
              <a:spcBef>
                <a:spcPts val="0"/>
              </a:spcBef>
              <a:buClr>
                <a:srgbClr val="000000"/>
              </a:buClr>
              <a:buSzPts val="1200"/>
            </a:pPr>
            <a:r>
              <a:rPr lang="en-US" sz="3200" b="1" u="sng" dirty="0">
                <a:latin typeface="Times New Roman"/>
                <a:ea typeface="Times New Roman"/>
                <a:cs typeface="Times New Roman"/>
                <a:sym typeface="Times New Roman"/>
              </a:rPr>
              <a:t>Basic Server Setup </a:t>
            </a:r>
            <a:endParaRPr lang="en-US" sz="3200" b="1" dirty="0">
              <a:latin typeface="Times New Roman"/>
              <a:ea typeface="Times New Roman"/>
              <a:cs typeface="Times New Roman"/>
              <a:sym typeface="Times New Roman"/>
            </a:endParaRPr>
          </a:p>
        </p:txBody>
      </p:sp>
      <p:sp>
        <p:nvSpPr>
          <p:cNvPr id="210" name="Google Shape;210;p28"/>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11" name="Google Shape;211;p28"/>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6</a:t>
            </a:fld>
            <a:endParaRPr/>
          </a:p>
        </p:txBody>
      </p:sp>
      <p:graphicFrame>
        <p:nvGraphicFramePr>
          <p:cNvPr id="212" name="Google Shape;212;p28"/>
          <p:cNvGraphicFramePr/>
          <p:nvPr>
            <p:extLst>
              <p:ext uri="{D42A27DB-BD31-4B8C-83A1-F6EECF244321}">
                <p14:modId xmlns:p14="http://schemas.microsoft.com/office/powerpoint/2010/main" val="1080708699"/>
              </p:ext>
            </p:extLst>
          </p:nvPr>
        </p:nvGraphicFramePr>
        <p:xfrm>
          <a:off x="1022747" y="2046895"/>
          <a:ext cx="10860859" cy="4737015"/>
        </p:xfrm>
        <a:graphic>
          <a:graphicData uri="http://schemas.openxmlformats.org/drawingml/2006/table">
            <a:tbl>
              <a:tblPr>
                <a:noFill/>
                <a:tableStyleId>{99CD84AF-14CF-470D-B69C-EB98024C896D}</a:tableStyleId>
              </a:tblPr>
              <a:tblGrid>
                <a:gridCol w="10860859">
                  <a:extLst>
                    <a:ext uri="{9D8B030D-6E8A-4147-A177-3AD203B41FA5}">
                      <a16:colId xmlns:a16="http://schemas.microsoft.com/office/drawing/2014/main" val="20000"/>
                    </a:ext>
                  </a:extLst>
                </a:gridCol>
              </a:tblGrid>
              <a:tr h="698625">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smtClean="0">
                          <a:latin typeface="Times New Roman"/>
                          <a:ea typeface="Times New Roman"/>
                          <a:cs typeface="Times New Roman"/>
                          <a:sym typeface="Times New Roman"/>
                        </a:rPr>
                        <a:t>Assuming </a:t>
                      </a:r>
                      <a:r>
                        <a:rPr lang="en-US" sz="1400" u="none" strike="noStrike" cap="none" dirty="0">
                          <a:latin typeface="Times New Roman"/>
                          <a:ea typeface="Times New Roman"/>
                          <a:cs typeface="Times New Roman"/>
                          <a:sym typeface="Times New Roman"/>
                        </a:rPr>
                        <a:t>you’ve already installed Node.js, create a directory to hold your application, and make that you’re working directory.</a:t>
                      </a:r>
                      <a:endParaRPr sz="1400" b="1" u="sng"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475600">
                <a:tc>
                  <a:txBody>
                    <a:bodyPr/>
                    <a:lstStyle/>
                    <a:p>
                      <a:pPr marL="0" marR="0" lvl="0" indent="0" algn="l" rtl="0">
                        <a:lnSpc>
                          <a:spcPct val="100000"/>
                        </a:lnSpc>
                        <a:spcBef>
                          <a:spcPts val="0"/>
                        </a:spcBef>
                        <a:spcAft>
                          <a:spcPts val="0"/>
                        </a:spcAft>
                        <a:buClr>
                          <a:srgbClr val="000000"/>
                        </a:buClr>
                        <a:buSzPts val="1050"/>
                        <a:buFont typeface="Arial"/>
                        <a:buNone/>
                      </a:pPr>
                      <a:r>
                        <a:rPr lang="en-US" sz="1100" u="none" strike="noStrike" cap="none">
                          <a:solidFill>
                            <a:srgbClr val="9CDCFE"/>
                          </a:solidFill>
                          <a:latin typeface="Consolas"/>
                          <a:ea typeface="Consolas"/>
                          <a:cs typeface="Consolas"/>
                          <a:sym typeface="Consolas"/>
                        </a:rPr>
                        <a:t>$</a:t>
                      </a:r>
                      <a:r>
                        <a:rPr lang="en-US" sz="1100" u="none" strike="noStrike" cap="none">
                          <a:solidFill>
                            <a:srgbClr val="D4D4D4"/>
                          </a:solidFill>
                          <a:latin typeface="Consolas"/>
                          <a:ea typeface="Consolas"/>
                          <a:cs typeface="Consolas"/>
                          <a:sym typeface="Consolas"/>
                        </a:rPr>
                        <a:t> </a:t>
                      </a:r>
                      <a:r>
                        <a:rPr lang="en-US" sz="1100" u="none" strike="noStrike" cap="none">
                          <a:solidFill>
                            <a:srgbClr val="9CDCFE"/>
                          </a:solidFill>
                          <a:latin typeface="Consolas"/>
                          <a:ea typeface="Consolas"/>
                          <a:cs typeface="Consolas"/>
                          <a:sym typeface="Consolas"/>
                        </a:rPr>
                        <a:t>mkdir</a:t>
                      </a:r>
                      <a:r>
                        <a:rPr lang="en-US" sz="1100" u="none" strike="noStrike" cap="none">
                          <a:solidFill>
                            <a:srgbClr val="D4D4D4"/>
                          </a:solidFill>
                          <a:latin typeface="Consolas"/>
                          <a:ea typeface="Consolas"/>
                          <a:cs typeface="Consolas"/>
                          <a:sym typeface="Consolas"/>
                        </a:rPr>
                        <a:t> </a:t>
                      </a:r>
                      <a:r>
                        <a:rPr lang="en-US" sz="1100" u="none" strike="noStrike" cap="none">
                          <a:solidFill>
                            <a:srgbClr val="9CDCFE"/>
                          </a:solidFill>
                          <a:latin typeface="Consolas"/>
                          <a:ea typeface="Consolas"/>
                          <a:cs typeface="Consolas"/>
                          <a:sym typeface="Consolas"/>
                        </a:rPr>
                        <a:t>myapp</a:t>
                      </a:r>
                      <a:endParaRPr sz="110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a:solidFill>
                            <a:srgbClr val="9CDCFE"/>
                          </a:solidFill>
                          <a:latin typeface="Consolas"/>
                          <a:ea typeface="Consolas"/>
                          <a:cs typeface="Consolas"/>
                          <a:sym typeface="Consolas"/>
                        </a:rPr>
                        <a:t>$</a:t>
                      </a:r>
                      <a:r>
                        <a:rPr lang="en-US" sz="1100" u="none" strike="noStrike" cap="none">
                          <a:solidFill>
                            <a:srgbClr val="D4D4D4"/>
                          </a:solidFill>
                          <a:latin typeface="Consolas"/>
                          <a:ea typeface="Consolas"/>
                          <a:cs typeface="Consolas"/>
                          <a:sym typeface="Consolas"/>
                        </a:rPr>
                        <a:t> </a:t>
                      </a:r>
                      <a:r>
                        <a:rPr lang="en-US" sz="1100" u="none" strike="noStrike" cap="none">
                          <a:solidFill>
                            <a:srgbClr val="9CDCFE"/>
                          </a:solidFill>
                          <a:latin typeface="Consolas"/>
                          <a:ea typeface="Consolas"/>
                          <a:cs typeface="Consolas"/>
                          <a:sym typeface="Consolas"/>
                        </a:rPr>
                        <a:t>cd</a:t>
                      </a:r>
                      <a:r>
                        <a:rPr lang="en-US" sz="1100" u="none" strike="noStrike" cap="none">
                          <a:solidFill>
                            <a:srgbClr val="D4D4D4"/>
                          </a:solidFill>
                          <a:latin typeface="Consolas"/>
                          <a:ea typeface="Consolas"/>
                          <a:cs typeface="Consolas"/>
                          <a:sym typeface="Consolas"/>
                        </a:rPr>
                        <a:t> </a:t>
                      </a:r>
                      <a:r>
                        <a:rPr lang="en-US" sz="1100" u="none" strike="noStrike" cap="none">
                          <a:solidFill>
                            <a:srgbClr val="9CDCFE"/>
                          </a:solidFill>
                          <a:latin typeface="Consolas"/>
                          <a:ea typeface="Consolas"/>
                          <a:cs typeface="Consolas"/>
                          <a:sym typeface="Consolas"/>
                        </a:rPr>
                        <a:t>myapp</a:t>
                      </a:r>
                      <a:endParaRPr sz="1400" b="1" u="sng"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47560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a:latin typeface="Times New Roman"/>
                          <a:ea typeface="Times New Roman"/>
                          <a:cs typeface="Times New Roman"/>
                          <a:sym typeface="Times New Roman"/>
                        </a:rPr>
                        <a:t>Use the npm init command to create a package.json file for your application. For more information on how package.json works, see </a:t>
                      </a:r>
                      <a:r>
                        <a:rPr lang="en-US" sz="1400" u="sng" strike="noStrike" cap="none">
                          <a:solidFill>
                            <a:schemeClr val="hlink"/>
                          </a:solidFill>
                          <a:latin typeface="Times New Roman"/>
                          <a:ea typeface="Times New Roman"/>
                          <a:cs typeface="Times New Roman"/>
                          <a:sym typeface="Times New Roman"/>
                          <a:hlinkClick r:id="rId3"/>
                        </a:rPr>
                        <a:t>Specifics of npm’s package.json handling</a:t>
                      </a:r>
                      <a:r>
                        <a:rPr lang="en-US" sz="1400" u="none" strike="noStrike" cap="none">
                          <a:latin typeface="Times New Roman"/>
                          <a:ea typeface="Times New Roman"/>
                          <a:cs typeface="Times New Roman"/>
                          <a:sym typeface="Times New Roman"/>
                        </a:rPr>
                        <a:t>.</a:t>
                      </a:r>
                      <a:endParaRPr sz="1100" u="none" strike="noStrike" cap="none">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280450">
                <a:tc>
                  <a:txBody>
                    <a:bodyPr/>
                    <a:lstStyle/>
                    <a:p>
                      <a:pPr marL="0" marR="0" lvl="0" indent="0" algn="l" rtl="0">
                        <a:lnSpc>
                          <a:spcPct val="100000"/>
                        </a:lnSpc>
                        <a:spcBef>
                          <a:spcPts val="0"/>
                        </a:spcBef>
                        <a:spcAft>
                          <a:spcPts val="0"/>
                        </a:spcAft>
                        <a:buClr>
                          <a:srgbClr val="000000"/>
                        </a:buClr>
                        <a:buSzPts val="1050"/>
                        <a:buFont typeface="Arial"/>
                        <a:buNone/>
                      </a:pPr>
                      <a:r>
                        <a:rPr lang="en-US" sz="1100" u="none" strike="noStrike" cap="none">
                          <a:solidFill>
                            <a:srgbClr val="9CDCFE"/>
                          </a:solidFill>
                          <a:latin typeface="Consolas"/>
                          <a:ea typeface="Consolas"/>
                          <a:cs typeface="Consolas"/>
                          <a:sym typeface="Consolas"/>
                        </a:rPr>
                        <a:t>$</a:t>
                      </a:r>
                      <a:r>
                        <a:rPr lang="en-US" sz="1100" u="none" strike="noStrike" cap="none">
                          <a:solidFill>
                            <a:srgbClr val="D4D4D4"/>
                          </a:solidFill>
                          <a:latin typeface="Consolas"/>
                          <a:ea typeface="Consolas"/>
                          <a:cs typeface="Consolas"/>
                          <a:sym typeface="Consolas"/>
                        </a:rPr>
                        <a:t> </a:t>
                      </a:r>
                      <a:r>
                        <a:rPr lang="en-US" sz="1100" u="none" strike="noStrike" cap="none">
                          <a:solidFill>
                            <a:srgbClr val="9CDCFE"/>
                          </a:solidFill>
                          <a:latin typeface="Consolas"/>
                          <a:ea typeface="Consolas"/>
                          <a:cs typeface="Consolas"/>
                          <a:sym typeface="Consolas"/>
                        </a:rPr>
                        <a:t>npm</a:t>
                      </a:r>
                      <a:r>
                        <a:rPr lang="en-US" sz="1100" u="none" strike="noStrike" cap="none">
                          <a:solidFill>
                            <a:srgbClr val="D4D4D4"/>
                          </a:solidFill>
                          <a:latin typeface="Consolas"/>
                          <a:ea typeface="Consolas"/>
                          <a:cs typeface="Consolas"/>
                          <a:sym typeface="Consolas"/>
                        </a:rPr>
                        <a:t> </a:t>
                      </a:r>
                      <a:r>
                        <a:rPr lang="en-US" sz="1100" u="none" strike="noStrike" cap="none">
                          <a:solidFill>
                            <a:srgbClr val="9CDCFE"/>
                          </a:solidFill>
                          <a:latin typeface="Consolas"/>
                          <a:ea typeface="Consolas"/>
                          <a:cs typeface="Consolas"/>
                          <a:sym typeface="Consolas"/>
                        </a:rPr>
                        <a:t>init</a:t>
                      </a:r>
                      <a:endParaRPr sz="14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r h="28045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This command prompts you for a number of things, such as the name and version of your application. For now, you can simply hit RETURN to accept the defaults for most of them, with the following exception:</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entry point: (index.js)</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Enter app.js, or whatever you want the name of the main file to be. If you want it to be index.js, hit RETURN to accept the suggested default file name.</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Now install Express in the </a:t>
                      </a:r>
                      <a:r>
                        <a:rPr lang="en-US" sz="1400" u="none" strike="noStrike" cap="none" dirty="0" err="1">
                          <a:latin typeface="Times New Roman"/>
                          <a:ea typeface="Times New Roman"/>
                          <a:cs typeface="Times New Roman"/>
                          <a:sym typeface="Times New Roman"/>
                        </a:rPr>
                        <a:t>myapp</a:t>
                      </a:r>
                      <a:r>
                        <a:rPr lang="en-US" sz="1400" u="none" strike="noStrike" cap="none" dirty="0">
                          <a:latin typeface="Times New Roman"/>
                          <a:ea typeface="Times New Roman"/>
                          <a:cs typeface="Times New Roman"/>
                          <a:sym typeface="Times New Roman"/>
                        </a:rPr>
                        <a:t> directory and save it in the dependencies list. For example:</a:t>
                      </a:r>
                      <a:endParaRPr sz="110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280450">
                <a:tc>
                  <a:txBody>
                    <a:bodyPr/>
                    <a:lstStyle/>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9CDCFE"/>
                          </a:solidFill>
                          <a:latin typeface="Consolas"/>
                          <a:ea typeface="Consolas"/>
                          <a:cs typeface="Consolas"/>
                          <a:sym typeface="Consolas"/>
                        </a:rPr>
                        <a:t>$</a:t>
                      </a:r>
                      <a:r>
                        <a:rPr lang="en-US" sz="1100" u="none" strike="noStrike" cap="none" dirty="0">
                          <a:solidFill>
                            <a:srgbClr val="D4D4D4"/>
                          </a:solidFill>
                          <a:latin typeface="Consolas"/>
                          <a:ea typeface="Consolas"/>
                          <a:cs typeface="Consolas"/>
                          <a:sym typeface="Consolas"/>
                        </a:rPr>
                        <a:t> </a:t>
                      </a:r>
                      <a:r>
                        <a:rPr lang="en-US" sz="1100" u="none" strike="noStrike" cap="none" dirty="0" err="1">
                          <a:solidFill>
                            <a:srgbClr val="9CDCFE"/>
                          </a:solidFill>
                          <a:latin typeface="Consolas"/>
                          <a:ea typeface="Consolas"/>
                          <a:cs typeface="Consolas"/>
                          <a:sym typeface="Consolas"/>
                        </a:rPr>
                        <a:t>npm</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install</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express</a:t>
                      </a:r>
                      <a:endParaRPr sz="14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5"/>
                  </a:ext>
                </a:extLst>
              </a:tr>
              <a:tr h="28045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a:latin typeface="Times New Roman"/>
                          <a:ea typeface="Times New Roman"/>
                          <a:cs typeface="Times New Roman"/>
                          <a:sym typeface="Times New Roman"/>
                        </a:rPr>
                        <a:t>To install Express temporarily and not add it to the dependencies list:</a:t>
                      </a:r>
                      <a:endParaRPr sz="1100" u="none" strike="noStrike" cap="none">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280450">
                <a:tc>
                  <a:txBody>
                    <a:bodyPr/>
                    <a:lstStyle/>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9CDCFE"/>
                          </a:solidFill>
                          <a:latin typeface="Consolas"/>
                          <a:ea typeface="Consolas"/>
                          <a:cs typeface="Consolas"/>
                          <a:sym typeface="Consolas"/>
                        </a:rPr>
                        <a:t>$</a:t>
                      </a:r>
                      <a:r>
                        <a:rPr lang="en-US" sz="1100" u="none" strike="noStrike" cap="none" dirty="0">
                          <a:solidFill>
                            <a:srgbClr val="D4D4D4"/>
                          </a:solidFill>
                          <a:latin typeface="Consolas"/>
                          <a:ea typeface="Consolas"/>
                          <a:cs typeface="Consolas"/>
                          <a:sym typeface="Consolas"/>
                        </a:rPr>
                        <a:t> </a:t>
                      </a:r>
                      <a:r>
                        <a:rPr lang="en-US" sz="1100" u="none" strike="noStrike" cap="none" dirty="0" err="1">
                          <a:solidFill>
                            <a:srgbClr val="9CDCFE"/>
                          </a:solidFill>
                          <a:latin typeface="Consolas"/>
                          <a:ea typeface="Consolas"/>
                          <a:cs typeface="Consolas"/>
                          <a:sym typeface="Consolas"/>
                        </a:rPr>
                        <a:t>npm</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install</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express</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no</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9CDCFE"/>
                          </a:solidFill>
                          <a:latin typeface="Consolas"/>
                          <a:ea typeface="Consolas"/>
                          <a:cs typeface="Consolas"/>
                          <a:sym typeface="Consolas"/>
                        </a:rPr>
                        <a:t>save</a:t>
                      </a:r>
                      <a:endParaRPr sz="14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7"/>
                  </a:ext>
                </a:extLst>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9"/>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218" name="Google Shape;218;p29"/>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19" name="Google Shape;219;p29"/>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7</a:t>
            </a:fld>
            <a:endParaRPr/>
          </a:p>
        </p:txBody>
      </p:sp>
      <p:graphicFrame>
        <p:nvGraphicFramePr>
          <p:cNvPr id="220" name="Google Shape;220;p29"/>
          <p:cNvGraphicFramePr/>
          <p:nvPr>
            <p:extLst>
              <p:ext uri="{D42A27DB-BD31-4B8C-83A1-F6EECF244321}">
                <p14:modId xmlns:p14="http://schemas.microsoft.com/office/powerpoint/2010/main" val="1658886611"/>
              </p:ext>
            </p:extLst>
          </p:nvPr>
        </p:nvGraphicFramePr>
        <p:xfrm>
          <a:off x="1066788" y="2074467"/>
          <a:ext cx="10816818" cy="4437543"/>
        </p:xfrm>
        <a:graphic>
          <a:graphicData uri="http://schemas.openxmlformats.org/drawingml/2006/table">
            <a:tbl>
              <a:tblPr>
                <a:noFill/>
                <a:tableStyleId>{99CD84AF-14CF-470D-B69C-EB98024C896D}</a:tableStyleId>
              </a:tblPr>
              <a:tblGrid>
                <a:gridCol w="10816818">
                  <a:extLst>
                    <a:ext uri="{9D8B030D-6E8A-4147-A177-3AD203B41FA5}">
                      <a16:colId xmlns:a16="http://schemas.microsoft.com/office/drawing/2014/main" val="20000"/>
                    </a:ext>
                  </a:extLst>
                </a:gridCol>
              </a:tblGrid>
              <a:tr h="949209">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The following sections explain some of the common things you'll see when working with Express and Node code.</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b="1" u="none" strike="noStrike" cap="none">
                          <a:latin typeface="Times New Roman"/>
                          <a:ea typeface="Times New Roman"/>
                          <a:cs typeface="Times New Roman"/>
                          <a:sym typeface="Times New Roman"/>
                        </a:rPr>
                        <a:t>Helloworld Express</a:t>
                      </a:r>
                      <a:endParaRPr sz="1200" b="1"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First lets’ consider the standard Express Hello World example (we discuss each part of this below, and in the following sections).</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If you have Node and Express already installed, you can save this code in a text file called app.js and run it in a bash command prompt by calling:</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55934">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node</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app</a:t>
                      </a:r>
                      <a:r>
                        <a:rPr lang="en-US" sz="1050" u="none" strike="noStrike" cap="none">
                          <a:solidFill>
                            <a:srgbClr val="D4D4D4"/>
                          </a:solidFill>
                          <a:latin typeface="Consolas"/>
                          <a:ea typeface="Consolas"/>
                          <a:cs typeface="Consolas"/>
                          <a:sym typeface="Consolas"/>
                        </a:rPr>
                        <a:t>.</a:t>
                      </a:r>
                      <a:r>
                        <a:rPr lang="en-US" sz="1050" u="none" strike="noStrike" cap="none">
                          <a:solidFill>
                            <a:srgbClr val="9CDCFE"/>
                          </a:solidFill>
                          <a:latin typeface="Consolas"/>
                          <a:ea typeface="Consolas"/>
                          <a:cs typeface="Consolas"/>
                          <a:sym typeface="Consolas"/>
                        </a:rPr>
                        <a:t>js</a:t>
                      </a:r>
                      <a:endParaRPr sz="1050" u="none" strike="noStrike" cap="none">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55934">
                <a:tc>
                  <a:txBody>
                    <a:bodyPr/>
                    <a:lstStyle/>
                    <a:p>
                      <a:pPr marL="0" marR="0" lvl="0" indent="0" algn="l" rtl="0">
                        <a:lnSpc>
                          <a:spcPct val="100000"/>
                        </a:lnSpc>
                        <a:spcBef>
                          <a:spcPts val="0"/>
                        </a:spcBef>
                        <a:spcAft>
                          <a:spcPts val="0"/>
                        </a:spcAft>
                        <a:buClr>
                          <a:srgbClr val="000000"/>
                        </a:buClr>
                        <a:buSzPts val="1050"/>
                        <a:buFont typeface="Arial"/>
                        <a:buNone/>
                      </a:pPr>
                      <a:endParaRPr sz="1050" u="none" strike="noStrike" cap="none">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2017105">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569CD6"/>
                          </a:solidFill>
                          <a:latin typeface="Consolas"/>
                          <a:ea typeface="Consolas"/>
                          <a:cs typeface="Consolas"/>
                          <a:sym typeface="Consolas"/>
                        </a:rPr>
                        <a:t>const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4FC1FF"/>
                          </a:solidFill>
                          <a:latin typeface="Consolas"/>
                          <a:ea typeface="Consolas"/>
                          <a:cs typeface="Consolas"/>
                          <a:sym typeface="Consolas"/>
                        </a:rPr>
                        <a:t>express</a:t>
                      </a:r>
                      <a:r>
                        <a:rPr lang="en-US" sz="1050" u="none" strike="noStrike" cap="none" dirty="0">
                          <a:solidFill>
                            <a:srgbClr val="D4D4D4"/>
                          </a:solidFill>
                          <a:latin typeface="Consolas"/>
                          <a:ea typeface="Consolas"/>
                          <a:cs typeface="Consolas"/>
                          <a:sym typeface="Consolas"/>
                        </a:rPr>
                        <a:t> = </a:t>
                      </a:r>
                      <a:r>
                        <a:rPr lang="en-US" sz="1050" u="none" strike="noStrike" cap="none" dirty="0">
                          <a:solidFill>
                            <a:srgbClr val="DCDCAA"/>
                          </a:solidFill>
                          <a:latin typeface="Consolas"/>
                          <a:ea typeface="Consolas"/>
                          <a:cs typeface="Consolas"/>
                          <a:sym typeface="Consolas"/>
                        </a:rPr>
                        <a:t>require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'express'</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569CD6"/>
                          </a:solidFill>
                          <a:latin typeface="Consolas"/>
                          <a:ea typeface="Consolas"/>
                          <a:cs typeface="Consolas"/>
                          <a:sym typeface="Consolas"/>
                        </a:rPr>
                        <a:t>const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4FC1FF"/>
                          </a:solidFill>
                          <a:latin typeface="Consolas"/>
                          <a:ea typeface="Consolas"/>
                          <a:cs typeface="Consolas"/>
                          <a:sym typeface="Consolas"/>
                        </a:rPr>
                        <a:t>app</a:t>
                      </a:r>
                      <a:r>
                        <a:rPr lang="en-US" sz="1050" u="none" strike="noStrike" cap="none" dirty="0">
                          <a:solidFill>
                            <a:srgbClr val="D4D4D4"/>
                          </a:solidFill>
                          <a:latin typeface="Consolas"/>
                          <a:ea typeface="Consolas"/>
                          <a:cs typeface="Consolas"/>
                          <a:sym typeface="Consolas"/>
                        </a:rPr>
                        <a:t> = </a:t>
                      </a:r>
                      <a:r>
                        <a:rPr lang="en-US" sz="1050" u="none" strike="noStrike" cap="none" dirty="0">
                          <a:solidFill>
                            <a:srgbClr val="DCDCAA"/>
                          </a:solidFill>
                          <a:latin typeface="Consolas"/>
                          <a:ea typeface="Consolas"/>
                          <a:cs typeface="Consolas"/>
                          <a:sym typeface="Consolas"/>
                        </a:rPr>
                        <a:t>express</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569CD6"/>
                          </a:solidFill>
                          <a:latin typeface="Consolas"/>
                          <a:ea typeface="Consolas"/>
                          <a:cs typeface="Consolas"/>
                          <a:sym typeface="Consolas"/>
                        </a:rPr>
                        <a:t>const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4FC1FF"/>
                          </a:solidFill>
                          <a:latin typeface="Consolas"/>
                          <a:ea typeface="Consolas"/>
                          <a:cs typeface="Consolas"/>
                          <a:sym typeface="Consolas"/>
                        </a:rPr>
                        <a:t>port</a:t>
                      </a:r>
                      <a:r>
                        <a:rPr lang="en-US" sz="1050" u="none" strike="noStrike" cap="none" dirty="0">
                          <a:solidFill>
                            <a:srgbClr val="D4D4D4"/>
                          </a:solidFill>
                          <a:latin typeface="Consolas"/>
                          <a:ea typeface="Consolas"/>
                          <a:cs typeface="Consolas"/>
                          <a:sym typeface="Consolas"/>
                        </a:rPr>
                        <a:t> = </a:t>
                      </a:r>
                      <a:r>
                        <a:rPr lang="en-US" sz="1050" u="none" strike="noStrike" cap="none" dirty="0">
                          <a:solidFill>
                            <a:srgbClr val="B5CEA8"/>
                          </a:solidFill>
                          <a:latin typeface="Consolas"/>
                          <a:ea typeface="Consolas"/>
                          <a:cs typeface="Consolas"/>
                          <a:sym typeface="Consolas"/>
                        </a:rPr>
                        <a:t>3000</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4FC1FF"/>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get</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function</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req</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res</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send</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'Hello World!'</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4FC1FF"/>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listen</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4FC1FF"/>
                          </a:solidFill>
                          <a:latin typeface="Consolas"/>
                          <a:ea typeface="Consolas"/>
                          <a:cs typeface="Consolas"/>
                          <a:sym typeface="Consolas"/>
                        </a:rPr>
                        <a:t>port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function</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console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CDCAA"/>
                          </a:solidFill>
                          <a:latin typeface="Consolas"/>
                          <a:ea typeface="Consolas"/>
                          <a:cs typeface="Consolas"/>
                          <a:sym typeface="Consolas"/>
                        </a:rPr>
                        <a:t>log</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`Example app listening on port </a:t>
                      </a:r>
                      <a:r>
                        <a:rPr lang="en-US" sz="1050" u="none" strike="noStrike" cap="none" dirty="0">
                          <a:solidFill>
                            <a:srgbClr val="569CD6"/>
                          </a:solidFill>
                          <a:latin typeface="Consolas"/>
                          <a:ea typeface="Consolas"/>
                          <a:cs typeface="Consolas"/>
                          <a:sym typeface="Consolas"/>
                        </a:rPr>
                        <a:t>${</a:t>
                      </a:r>
                      <a:r>
                        <a:rPr lang="en-US" sz="1050" u="none" strike="noStrike" cap="none" dirty="0">
                          <a:solidFill>
                            <a:srgbClr val="4FC1FF"/>
                          </a:solidFill>
                          <a:latin typeface="Consolas"/>
                          <a:ea typeface="Consolas"/>
                          <a:cs typeface="Consolas"/>
                          <a:sym typeface="Consolas"/>
                        </a:rPr>
                        <a:t>port</a:t>
                      </a:r>
                      <a:r>
                        <a:rPr lang="en-US" sz="1050" u="none" strike="noStrike" cap="none" dirty="0">
                          <a:solidFill>
                            <a:srgbClr val="569CD6"/>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r h="759361">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The first two lines require() (import) the express module and create an Express application. This object, which is traditionally named app, has methods for routing HTTP requests, configuring middleware, rendering HTML views, registering a template engine, and modifying application settings that control how the application behaves.</a:t>
                      </a:r>
                      <a:endParaRPr sz="12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0"/>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226" name="Google Shape;226;p30"/>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27" name="Google Shape;227;p30"/>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8</a:t>
            </a:fld>
            <a:endParaRPr/>
          </a:p>
        </p:txBody>
      </p:sp>
      <p:graphicFrame>
        <p:nvGraphicFramePr>
          <p:cNvPr id="228" name="Google Shape;228;p30"/>
          <p:cNvGraphicFramePr/>
          <p:nvPr>
            <p:extLst>
              <p:ext uri="{D42A27DB-BD31-4B8C-83A1-F6EECF244321}">
                <p14:modId xmlns:p14="http://schemas.microsoft.com/office/powerpoint/2010/main" val="3904508579"/>
              </p:ext>
            </p:extLst>
          </p:nvPr>
        </p:nvGraphicFramePr>
        <p:xfrm>
          <a:off x="1066788" y="2046895"/>
          <a:ext cx="10816818" cy="4815720"/>
        </p:xfrm>
        <a:graphic>
          <a:graphicData uri="http://schemas.openxmlformats.org/drawingml/2006/table">
            <a:tbl>
              <a:tblPr>
                <a:noFill/>
                <a:tableStyleId>{99CD84AF-14CF-470D-B69C-EB98024C896D}</a:tableStyleId>
              </a:tblPr>
              <a:tblGrid>
                <a:gridCol w="10816818">
                  <a:extLst>
                    <a:ext uri="{9D8B030D-6E8A-4147-A177-3AD203B41FA5}">
                      <a16:colId xmlns:a16="http://schemas.microsoft.com/office/drawing/2014/main" val="20000"/>
                    </a:ext>
                  </a:extLst>
                </a:gridCol>
              </a:tblGrid>
              <a:tr h="698625">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The middle part of the code (the three lines starting with </a:t>
                      </a:r>
                      <a:r>
                        <a:rPr lang="en-US" sz="1400" u="none" strike="noStrike" cap="none" dirty="0" err="1">
                          <a:latin typeface="Times New Roman"/>
                          <a:ea typeface="Times New Roman"/>
                          <a:cs typeface="Times New Roman"/>
                          <a:sym typeface="Times New Roman"/>
                        </a:rPr>
                        <a:t>app.get</a:t>
                      </a:r>
                      <a:r>
                        <a:rPr lang="en-US" sz="1400" u="none" strike="noStrike" cap="none" dirty="0">
                          <a:latin typeface="Times New Roman"/>
                          <a:ea typeface="Times New Roman"/>
                          <a:cs typeface="Times New Roman"/>
                          <a:sym typeface="Times New Roman"/>
                        </a:rPr>
                        <a:t>) shows a route definition. The </a:t>
                      </a:r>
                      <a:r>
                        <a:rPr lang="en-US" sz="1400" u="none" strike="noStrike" cap="none" dirty="0" err="1">
                          <a:latin typeface="Times New Roman"/>
                          <a:ea typeface="Times New Roman"/>
                          <a:cs typeface="Times New Roman"/>
                          <a:sym typeface="Times New Roman"/>
                        </a:rPr>
                        <a:t>app.get</a:t>
                      </a:r>
                      <a:r>
                        <a:rPr lang="en-US" sz="1400" u="none" strike="noStrike" cap="none" dirty="0">
                          <a:latin typeface="Times New Roman"/>
                          <a:ea typeface="Times New Roman"/>
                          <a:cs typeface="Times New Roman"/>
                          <a:sym typeface="Times New Roman"/>
                        </a:rPr>
                        <a:t>() method specifies a callback function that will be invoked whenever there is an HTTP GET request with a path ('/') relative to the site root. The callback function takes a request and a response object as arguments, and calls send() on the response to return the string "Hello World!"</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The final block starts up the server on a specified port ('3000') and prints a log comment to the console. With the server running, you could go to localhost:3000 in your browser to see the example response returned.</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sng" strike="noStrike" cap="none" dirty="0">
                          <a:solidFill>
                            <a:schemeClr val="accent1"/>
                          </a:solidFill>
                          <a:latin typeface="Times New Roman"/>
                          <a:ea typeface="Times New Roman"/>
                          <a:cs typeface="Times New Roman"/>
                          <a:sym typeface="Times New Roman"/>
                        </a:rPr>
                        <a:t>A module is a JavaScript library/file that you can import into other code using Node's require() function. </a:t>
                      </a:r>
                      <a:r>
                        <a:rPr lang="en-US" sz="1400" u="none" strike="noStrike" cap="none" dirty="0">
                          <a:latin typeface="Times New Roman"/>
                          <a:ea typeface="Times New Roman"/>
                          <a:cs typeface="Times New Roman"/>
                          <a:sym typeface="Times New Roman"/>
                        </a:rPr>
                        <a:t>Express itself is a module, as are the middleware and database libraries that we use in our Express applications.</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sng" strike="noStrike" cap="none" dirty="0">
                          <a:solidFill>
                            <a:schemeClr val="accent1"/>
                          </a:solidFill>
                          <a:latin typeface="Times New Roman"/>
                          <a:ea typeface="Times New Roman"/>
                          <a:cs typeface="Times New Roman"/>
                          <a:sym typeface="Times New Roman"/>
                        </a:rPr>
                        <a:t>The code below shows how we import a module by name, using the Express framework as an example. First we invoke the require() function, specifying the name of the module as a string ('express'), and calling the returned object to create an Express application. We can then access the properties and functions of the application object.</a:t>
                      </a:r>
                      <a:endParaRPr sz="1400" u="sng" strike="noStrike" cap="none" dirty="0">
                        <a:solidFill>
                          <a:schemeClr val="accent1"/>
                        </a:solidFill>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08350">
                <a:tc>
                  <a:txBody>
                    <a:bodyPr/>
                    <a:lstStyle/>
                    <a:p>
                      <a:pPr marL="0" marR="0" lvl="0" indent="0" algn="l" rtl="0">
                        <a:lnSpc>
                          <a:spcPct val="100000"/>
                        </a:lnSpc>
                        <a:spcBef>
                          <a:spcPts val="0"/>
                        </a:spcBef>
                        <a:spcAft>
                          <a:spcPts val="0"/>
                        </a:spcAft>
                        <a:buClr>
                          <a:srgbClr val="000000"/>
                        </a:buClr>
                        <a:buSzPts val="1050"/>
                        <a:buFont typeface="Arial"/>
                        <a:buNone/>
                      </a:pPr>
                      <a:r>
                        <a:rPr lang="en-US" sz="1100" u="none" strike="noStrike" cap="none">
                          <a:solidFill>
                            <a:srgbClr val="569CD6"/>
                          </a:solidFill>
                          <a:latin typeface="Consolas"/>
                          <a:ea typeface="Consolas"/>
                          <a:cs typeface="Consolas"/>
                          <a:sym typeface="Consolas"/>
                        </a:rPr>
                        <a:t>const</a:t>
                      </a:r>
                      <a:r>
                        <a:rPr lang="en-US" sz="1100" u="none" strike="noStrike" cap="none">
                          <a:solidFill>
                            <a:srgbClr val="D4D4D4"/>
                          </a:solidFill>
                          <a:latin typeface="Consolas"/>
                          <a:ea typeface="Consolas"/>
                          <a:cs typeface="Consolas"/>
                          <a:sym typeface="Consolas"/>
                        </a:rPr>
                        <a:t> </a:t>
                      </a:r>
                      <a:r>
                        <a:rPr lang="en-US" sz="1100" u="none" strike="noStrike" cap="none">
                          <a:solidFill>
                            <a:srgbClr val="DCDCAA"/>
                          </a:solidFill>
                          <a:latin typeface="Consolas"/>
                          <a:ea typeface="Consolas"/>
                          <a:cs typeface="Consolas"/>
                          <a:sym typeface="Consolas"/>
                        </a:rPr>
                        <a:t>express</a:t>
                      </a:r>
                      <a:r>
                        <a:rPr lang="en-US" sz="1100" u="none" strike="noStrike" cap="none">
                          <a:solidFill>
                            <a:srgbClr val="D4D4D4"/>
                          </a:solidFill>
                          <a:latin typeface="Consolas"/>
                          <a:ea typeface="Consolas"/>
                          <a:cs typeface="Consolas"/>
                          <a:sym typeface="Consolas"/>
                        </a:rPr>
                        <a:t> = </a:t>
                      </a:r>
                      <a:r>
                        <a:rPr lang="en-US" sz="1100" u="none" strike="noStrike" cap="none">
                          <a:solidFill>
                            <a:srgbClr val="DCDCAA"/>
                          </a:solidFill>
                          <a:latin typeface="Consolas"/>
                          <a:ea typeface="Consolas"/>
                          <a:cs typeface="Consolas"/>
                          <a:sym typeface="Consolas"/>
                        </a:rPr>
                        <a:t>require</a:t>
                      </a:r>
                      <a:r>
                        <a:rPr lang="en-US" sz="1100" u="none" strike="noStrike" cap="none">
                          <a:solidFill>
                            <a:srgbClr val="D4D4D4"/>
                          </a:solidFill>
                          <a:latin typeface="Consolas"/>
                          <a:ea typeface="Consolas"/>
                          <a:cs typeface="Consolas"/>
                          <a:sym typeface="Consolas"/>
                        </a:rPr>
                        <a:t>(</a:t>
                      </a:r>
                      <a:r>
                        <a:rPr lang="en-US" sz="1100" u="none" strike="noStrike" cap="none">
                          <a:solidFill>
                            <a:srgbClr val="CE9178"/>
                          </a:solidFill>
                          <a:latin typeface="Consolas"/>
                          <a:ea typeface="Consolas"/>
                          <a:cs typeface="Consolas"/>
                          <a:sym typeface="Consolas"/>
                        </a:rPr>
                        <a:t>'express'</a:t>
                      </a:r>
                      <a:r>
                        <a:rPr lang="en-US" sz="1100" u="none" strike="noStrike" cap="none">
                          <a:solidFill>
                            <a:srgbClr val="D4D4D4"/>
                          </a:solidFill>
                          <a:latin typeface="Consolas"/>
                          <a:ea typeface="Consolas"/>
                          <a:cs typeface="Consolas"/>
                          <a:sym typeface="Consolas"/>
                        </a:rPr>
                        <a:t>);</a:t>
                      </a:r>
                      <a:endParaRPr sz="110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a:solidFill>
                            <a:srgbClr val="569CD6"/>
                          </a:solidFill>
                          <a:latin typeface="Consolas"/>
                          <a:ea typeface="Consolas"/>
                          <a:cs typeface="Consolas"/>
                          <a:sym typeface="Consolas"/>
                        </a:rPr>
                        <a:t>const</a:t>
                      </a:r>
                      <a:r>
                        <a:rPr lang="en-US" sz="1100" u="none" strike="noStrike" cap="none">
                          <a:solidFill>
                            <a:srgbClr val="D4D4D4"/>
                          </a:solidFill>
                          <a:latin typeface="Consolas"/>
                          <a:ea typeface="Consolas"/>
                          <a:cs typeface="Consolas"/>
                          <a:sym typeface="Consolas"/>
                        </a:rPr>
                        <a:t> </a:t>
                      </a:r>
                      <a:r>
                        <a:rPr lang="en-US" sz="1100" u="none" strike="noStrike" cap="none">
                          <a:solidFill>
                            <a:srgbClr val="4FC1FF"/>
                          </a:solidFill>
                          <a:latin typeface="Consolas"/>
                          <a:ea typeface="Consolas"/>
                          <a:cs typeface="Consolas"/>
                          <a:sym typeface="Consolas"/>
                        </a:rPr>
                        <a:t>app</a:t>
                      </a:r>
                      <a:r>
                        <a:rPr lang="en-US" sz="1100" u="none" strike="noStrike" cap="none">
                          <a:solidFill>
                            <a:srgbClr val="D4D4D4"/>
                          </a:solidFill>
                          <a:latin typeface="Consolas"/>
                          <a:ea typeface="Consolas"/>
                          <a:cs typeface="Consolas"/>
                          <a:sym typeface="Consolas"/>
                        </a:rPr>
                        <a:t> = </a:t>
                      </a:r>
                      <a:r>
                        <a:rPr lang="en-US" sz="1100" u="none" strike="noStrike" cap="none">
                          <a:solidFill>
                            <a:srgbClr val="DCDCAA"/>
                          </a:solidFill>
                          <a:latin typeface="Consolas"/>
                          <a:ea typeface="Consolas"/>
                          <a:cs typeface="Consolas"/>
                          <a:sym typeface="Consolas"/>
                        </a:rPr>
                        <a:t>express</a:t>
                      </a:r>
                      <a:r>
                        <a:rPr lang="en-US" sz="1100" u="none" strike="noStrike" cap="none">
                          <a:solidFill>
                            <a:srgbClr val="D4D4D4"/>
                          </a:solidFill>
                          <a:latin typeface="Consolas"/>
                          <a:ea typeface="Consolas"/>
                          <a:cs typeface="Consolas"/>
                          <a:sym typeface="Consolas"/>
                        </a:rPr>
                        <a:t>();</a:t>
                      </a:r>
                      <a:endParaRPr sz="1100" u="none" strike="noStrike" cap="none">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You can also create your own modules that can be imported in the same way.</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You will want to create your own modules, because this allows you to organize your code into manageable parts — a monolithic single-file application is hard to understand and maintain. Using modules also helps you manage your namespace, because only the variables you explicitly export are imported when you use a module.</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To make objects available outside of a module you just need to expose them as additional properties on the exports object. For example, the square.js module below is a file that exports area() and perimeter() methods:</a:t>
                      </a:r>
                      <a:endParaRPr sz="110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280450">
                <a:tc>
                  <a:txBody>
                    <a:bodyPr/>
                    <a:lstStyle/>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err="1">
                          <a:solidFill>
                            <a:srgbClr val="4EC9B0"/>
                          </a:solidFill>
                          <a:latin typeface="Consolas"/>
                          <a:ea typeface="Consolas"/>
                          <a:cs typeface="Consolas"/>
                          <a:sym typeface="Consolas"/>
                        </a:rPr>
                        <a:t>exports</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area</a:t>
                      </a:r>
                      <a:r>
                        <a:rPr lang="en-US" sz="1100" u="none" strike="noStrike" cap="none" dirty="0">
                          <a:solidFill>
                            <a:srgbClr val="D4D4D4"/>
                          </a:solidFill>
                          <a:latin typeface="Consolas"/>
                          <a:ea typeface="Consolas"/>
                          <a:cs typeface="Consolas"/>
                          <a:sym typeface="Consolas"/>
                        </a:rPr>
                        <a:t> = </a:t>
                      </a:r>
                      <a:r>
                        <a:rPr lang="en-US" sz="1100" u="none" strike="noStrike" cap="none" dirty="0">
                          <a:solidFill>
                            <a:srgbClr val="569CD6"/>
                          </a:solidFill>
                          <a:latin typeface="Consolas"/>
                          <a:ea typeface="Consolas"/>
                          <a:cs typeface="Consolas"/>
                          <a:sym typeface="Consolas"/>
                        </a:rPr>
                        <a:t>function</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9CDCFE"/>
                          </a:solidFill>
                          <a:latin typeface="Consolas"/>
                          <a:ea typeface="Consolas"/>
                          <a:cs typeface="Consolas"/>
                          <a:sym typeface="Consolas"/>
                        </a:rPr>
                        <a:t>width</a:t>
                      </a:r>
                      <a:r>
                        <a:rPr lang="en-US" sz="1100" u="none" strike="noStrike" cap="none" dirty="0">
                          <a:solidFill>
                            <a:srgbClr val="D4D4D4"/>
                          </a:solidFill>
                          <a:latin typeface="Consolas"/>
                          <a:ea typeface="Consolas"/>
                          <a:cs typeface="Consolas"/>
                          <a:sym typeface="Consolas"/>
                        </a:rPr>
                        <a:t>) { </a:t>
                      </a:r>
                      <a:r>
                        <a:rPr lang="en-US" sz="1100" u="none" strike="noStrike" cap="none" dirty="0">
                          <a:solidFill>
                            <a:srgbClr val="C586C0"/>
                          </a:solidFill>
                          <a:latin typeface="Consolas"/>
                          <a:ea typeface="Consolas"/>
                          <a:cs typeface="Consolas"/>
                          <a:sym typeface="Consolas"/>
                        </a:rPr>
                        <a:t>return</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width</a:t>
                      </a:r>
                      <a:r>
                        <a:rPr lang="en-US" sz="1100" u="none" strike="noStrike" cap="none" dirty="0">
                          <a:solidFill>
                            <a:srgbClr val="D4D4D4"/>
                          </a:solidFill>
                          <a:latin typeface="Consolas"/>
                          <a:ea typeface="Consolas"/>
                          <a:cs typeface="Consolas"/>
                          <a:sym typeface="Consolas"/>
                        </a:rPr>
                        <a:t> * </a:t>
                      </a:r>
                      <a:r>
                        <a:rPr lang="en-US" sz="1100" u="none" strike="noStrike" cap="none" dirty="0">
                          <a:solidFill>
                            <a:srgbClr val="9CDCFE"/>
                          </a:solidFill>
                          <a:latin typeface="Consolas"/>
                          <a:ea typeface="Consolas"/>
                          <a:cs typeface="Consolas"/>
                          <a:sym typeface="Consolas"/>
                        </a:rPr>
                        <a:t>width</a:t>
                      </a:r>
                      <a:r>
                        <a:rPr lang="en-US" sz="1100" u="none" strike="noStrike" cap="none" dirty="0">
                          <a:solidFill>
                            <a:srgbClr val="D4D4D4"/>
                          </a:solidFill>
                          <a:latin typeface="Consolas"/>
                          <a:ea typeface="Consolas"/>
                          <a:cs typeface="Consolas"/>
                          <a:sym typeface="Consolas"/>
                        </a:rPr>
                        <a:t>; };</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err="1">
                          <a:solidFill>
                            <a:srgbClr val="4EC9B0"/>
                          </a:solidFill>
                          <a:latin typeface="Consolas"/>
                          <a:ea typeface="Consolas"/>
                          <a:cs typeface="Consolas"/>
                          <a:sym typeface="Consolas"/>
                        </a:rPr>
                        <a:t>exports</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perimeter</a:t>
                      </a:r>
                      <a:r>
                        <a:rPr lang="en-US" sz="1100" u="none" strike="noStrike" cap="none" dirty="0">
                          <a:solidFill>
                            <a:srgbClr val="D4D4D4"/>
                          </a:solidFill>
                          <a:latin typeface="Consolas"/>
                          <a:ea typeface="Consolas"/>
                          <a:cs typeface="Consolas"/>
                          <a:sym typeface="Consolas"/>
                        </a:rPr>
                        <a:t> = </a:t>
                      </a:r>
                      <a:r>
                        <a:rPr lang="en-US" sz="1100" u="none" strike="noStrike" cap="none" dirty="0">
                          <a:solidFill>
                            <a:srgbClr val="569CD6"/>
                          </a:solidFill>
                          <a:latin typeface="Consolas"/>
                          <a:ea typeface="Consolas"/>
                          <a:cs typeface="Consolas"/>
                          <a:sym typeface="Consolas"/>
                        </a:rPr>
                        <a:t>function</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9CDCFE"/>
                          </a:solidFill>
                          <a:latin typeface="Consolas"/>
                          <a:ea typeface="Consolas"/>
                          <a:cs typeface="Consolas"/>
                          <a:sym typeface="Consolas"/>
                        </a:rPr>
                        <a:t>width</a:t>
                      </a:r>
                      <a:r>
                        <a:rPr lang="en-US" sz="1100" u="none" strike="noStrike" cap="none" dirty="0">
                          <a:solidFill>
                            <a:srgbClr val="D4D4D4"/>
                          </a:solidFill>
                          <a:latin typeface="Consolas"/>
                          <a:ea typeface="Consolas"/>
                          <a:cs typeface="Consolas"/>
                          <a:sym typeface="Consolas"/>
                        </a:rPr>
                        <a:t>) { </a:t>
                      </a:r>
                      <a:r>
                        <a:rPr lang="en-US" sz="1100" u="none" strike="noStrike" cap="none" dirty="0">
                          <a:solidFill>
                            <a:srgbClr val="C586C0"/>
                          </a:solidFill>
                          <a:latin typeface="Consolas"/>
                          <a:ea typeface="Consolas"/>
                          <a:cs typeface="Consolas"/>
                          <a:sym typeface="Consolas"/>
                        </a:rPr>
                        <a:t>return</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B5CEA8"/>
                          </a:solidFill>
                          <a:latin typeface="Consolas"/>
                          <a:ea typeface="Consolas"/>
                          <a:cs typeface="Consolas"/>
                          <a:sym typeface="Consolas"/>
                        </a:rPr>
                        <a:t>4</a:t>
                      </a:r>
                      <a:r>
                        <a:rPr lang="en-US" sz="1100" u="none" strike="noStrike" cap="none" dirty="0">
                          <a:solidFill>
                            <a:srgbClr val="D4D4D4"/>
                          </a:solidFill>
                          <a:latin typeface="Consolas"/>
                          <a:ea typeface="Consolas"/>
                          <a:cs typeface="Consolas"/>
                          <a:sym typeface="Consolas"/>
                        </a:rPr>
                        <a:t> * </a:t>
                      </a:r>
                      <a:r>
                        <a:rPr lang="en-US" sz="1100" u="none" strike="noStrike" cap="none" dirty="0">
                          <a:solidFill>
                            <a:srgbClr val="9CDCFE"/>
                          </a:solidFill>
                          <a:latin typeface="Consolas"/>
                          <a:ea typeface="Consolas"/>
                          <a:cs typeface="Consolas"/>
                          <a:sym typeface="Consolas"/>
                        </a:rPr>
                        <a:t>width</a:t>
                      </a:r>
                      <a:r>
                        <a:rPr lang="en-US" sz="1100" u="none" strike="noStrike" cap="none" dirty="0">
                          <a:solidFill>
                            <a:srgbClr val="D4D4D4"/>
                          </a:solidFill>
                          <a:latin typeface="Consolas"/>
                          <a:ea typeface="Consolas"/>
                          <a:cs typeface="Consolas"/>
                          <a:sym typeface="Consolas"/>
                        </a:rPr>
                        <a:t>; };</a:t>
                      </a:r>
                      <a:endParaRPr sz="1100" u="none" strike="noStrike" cap="none" dirty="0">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1"/>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234" name="Google Shape;234;p31"/>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35" name="Google Shape;235;p31"/>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9</a:t>
            </a:fld>
            <a:endParaRPr/>
          </a:p>
        </p:txBody>
      </p:sp>
      <p:graphicFrame>
        <p:nvGraphicFramePr>
          <p:cNvPr id="236" name="Google Shape;236;p31"/>
          <p:cNvGraphicFramePr/>
          <p:nvPr>
            <p:extLst>
              <p:ext uri="{D42A27DB-BD31-4B8C-83A1-F6EECF244321}">
                <p14:modId xmlns:p14="http://schemas.microsoft.com/office/powerpoint/2010/main" val="2175616538"/>
              </p:ext>
            </p:extLst>
          </p:nvPr>
        </p:nvGraphicFramePr>
        <p:xfrm>
          <a:off x="1066788" y="2046895"/>
          <a:ext cx="10816818" cy="4355058"/>
        </p:xfrm>
        <a:graphic>
          <a:graphicData uri="http://schemas.openxmlformats.org/drawingml/2006/table">
            <a:tbl>
              <a:tblPr>
                <a:noFill/>
                <a:tableStyleId>{99CD84AF-14CF-470D-B69C-EB98024C896D}</a:tableStyleId>
              </a:tblPr>
              <a:tblGrid>
                <a:gridCol w="10816818">
                  <a:extLst>
                    <a:ext uri="{9D8B030D-6E8A-4147-A177-3AD203B41FA5}">
                      <a16:colId xmlns:a16="http://schemas.microsoft.com/office/drawing/2014/main" val="20000"/>
                    </a:ext>
                  </a:extLst>
                </a:gridCol>
              </a:tblGrid>
              <a:tr h="405831">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a:latin typeface="Times New Roman"/>
                          <a:ea typeface="Times New Roman"/>
                          <a:cs typeface="Times New Roman"/>
                          <a:sym typeface="Times New Roman"/>
                        </a:rPr>
                        <a:t>We can import this module using require(), and then call the exported method(s) as shown</a:t>
                      </a:r>
                      <a:endParaRPr sz="14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530712">
                <a:tc>
                  <a:txBody>
                    <a:bodyPr/>
                    <a:lstStyle/>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err="1">
                          <a:solidFill>
                            <a:srgbClr val="569CD6"/>
                          </a:solidFill>
                          <a:latin typeface="Consolas"/>
                          <a:ea typeface="Consolas"/>
                          <a:cs typeface="Consolas"/>
                          <a:sym typeface="Consolas"/>
                        </a:rPr>
                        <a:t>const</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4FC1FF"/>
                          </a:solidFill>
                          <a:latin typeface="Consolas"/>
                          <a:ea typeface="Consolas"/>
                          <a:cs typeface="Consolas"/>
                          <a:sym typeface="Consolas"/>
                        </a:rPr>
                        <a:t>square</a:t>
                      </a:r>
                      <a:r>
                        <a:rPr lang="en-US" sz="1100" u="none" strike="noStrike" cap="none" dirty="0">
                          <a:solidFill>
                            <a:srgbClr val="D4D4D4"/>
                          </a:solidFill>
                          <a:latin typeface="Consolas"/>
                          <a:ea typeface="Consolas"/>
                          <a:cs typeface="Consolas"/>
                          <a:sym typeface="Consolas"/>
                        </a:rPr>
                        <a:t> = </a:t>
                      </a:r>
                      <a:r>
                        <a:rPr lang="en-US" sz="1100" u="none" strike="noStrike" cap="none" dirty="0">
                          <a:solidFill>
                            <a:srgbClr val="DCDCAA"/>
                          </a:solidFill>
                          <a:latin typeface="Consolas"/>
                          <a:ea typeface="Consolas"/>
                          <a:cs typeface="Consolas"/>
                          <a:sym typeface="Consolas"/>
                        </a:rPr>
                        <a:t>require</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'./square'</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6A9955"/>
                          </a:solidFill>
                          <a:latin typeface="Consolas"/>
                          <a:ea typeface="Consolas"/>
                          <a:cs typeface="Consolas"/>
                          <a:sym typeface="Consolas"/>
                        </a:rPr>
                        <a:t>// Here we require() the name of the file without the (optional) .</a:t>
                      </a:r>
                      <a:r>
                        <a:rPr lang="en-US" sz="1100" u="none" strike="noStrike" cap="none" dirty="0" err="1">
                          <a:solidFill>
                            <a:srgbClr val="6A9955"/>
                          </a:solidFill>
                          <a:latin typeface="Consolas"/>
                          <a:ea typeface="Consolas"/>
                          <a:cs typeface="Consolas"/>
                          <a:sym typeface="Consolas"/>
                        </a:rPr>
                        <a:t>js</a:t>
                      </a:r>
                      <a:r>
                        <a:rPr lang="en-US" sz="1100" u="none" strike="noStrike" cap="none" dirty="0">
                          <a:solidFill>
                            <a:srgbClr val="6A9955"/>
                          </a:solidFill>
                          <a:latin typeface="Consolas"/>
                          <a:ea typeface="Consolas"/>
                          <a:cs typeface="Consolas"/>
                          <a:sym typeface="Consolas"/>
                        </a:rPr>
                        <a:t> file extension</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9CDCFE"/>
                          </a:solidFill>
                          <a:latin typeface="Consolas"/>
                          <a:ea typeface="Consolas"/>
                          <a:cs typeface="Consolas"/>
                          <a:sym typeface="Consolas"/>
                        </a:rPr>
                        <a:t>console</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DCDCAA"/>
                          </a:solidFill>
                          <a:latin typeface="Consolas"/>
                          <a:ea typeface="Consolas"/>
                          <a:cs typeface="Consolas"/>
                          <a:sym typeface="Consolas"/>
                        </a:rPr>
                        <a:t>log</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CE9178"/>
                          </a:solidFill>
                          <a:latin typeface="Consolas"/>
                          <a:ea typeface="Consolas"/>
                          <a:cs typeface="Consolas"/>
                          <a:sym typeface="Consolas"/>
                        </a:rPr>
                        <a:t>'The area of a square with a width of 4 is '</a:t>
                      </a:r>
                      <a:r>
                        <a:rPr lang="en-US" sz="1100" u="none" strike="noStrike" cap="none" dirty="0">
                          <a:solidFill>
                            <a:srgbClr val="D4D4D4"/>
                          </a:solidFill>
                          <a:latin typeface="Consolas"/>
                          <a:ea typeface="Consolas"/>
                          <a:cs typeface="Consolas"/>
                          <a:sym typeface="Consolas"/>
                        </a:rPr>
                        <a:t> + </a:t>
                      </a:r>
                      <a:r>
                        <a:rPr lang="en-US" sz="1100" u="none" strike="noStrike" cap="none" dirty="0" err="1">
                          <a:solidFill>
                            <a:srgbClr val="9CDCFE"/>
                          </a:solidFill>
                          <a:latin typeface="Consolas"/>
                          <a:ea typeface="Consolas"/>
                          <a:cs typeface="Consolas"/>
                          <a:sym typeface="Consolas"/>
                        </a:rPr>
                        <a:t>square</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area</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B5CEA8"/>
                          </a:solidFill>
                          <a:latin typeface="Consolas"/>
                          <a:ea typeface="Consolas"/>
                          <a:cs typeface="Consolas"/>
                          <a:sym typeface="Consolas"/>
                        </a:rPr>
                        <a:t>4</a:t>
                      </a:r>
                      <a:r>
                        <a:rPr lang="en-US" sz="1100" u="none" strike="noStrike" cap="none" dirty="0">
                          <a:solidFill>
                            <a:srgbClr val="D4D4D4"/>
                          </a:solidFill>
                          <a:latin typeface="Consolas"/>
                          <a:ea typeface="Consolas"/>
                          <a:cs typeface="Consolas"/>
                          <a:sym typeface="Consolas"/>
                        </a:rPr>
                        <a:t>));</a:t>
                      </a:r>
                      <a:endParaRPr sz="1100" u="none" strike="noStrike" cap="none" dirty="0">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624372">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If you want to export a complete object in one assignment instead of building it one property at a time, assign it to </a:t>
                      </a:r>
                      <a:r>
                        <a:rPr lang="en-US" sz="1400" u="none" strike="noStrike" cap="none" dirty="0" err="1">
                          <a:latin typeface="Times New Roman"/>
                          <a:ea typeface="Times New Roman"/>
                          <a:cs typeface="Times New Roman"/>
                          <a:sym typeface="Times New Roman"/>
                        </a:rPr>
                        <a:t>module.exports</a:t>
                      </a:r>
                      <a:r>
                        <a:rPr lang="en-US" sz="1400" u="none" strike="noStrike" cap="none" dirty="0">
                          <a:latin typeface="Times New Roman"/>
                          <a:ea typeface="Times New Roman"/>
                          <a:cs typeface="Times New Roman"/>
                          <a:sym typeface="Times New Roman"/>
                        </a:rPr>
                        <a:t> as shown below (you can also do this to make the root of the exports object a constructor or other function):</a:t>
                      </a:r>
                      <a:endParaRPr sz="14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1732688">
                <a:tc>
                  <a:txBody>
                    <a:bodyPr/>
                    <a:lstStyle/>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err="1">
                          <a:solidFill>
                            <a:srgbClr val="4EC9B0"/>
                          </a:solidFill>
                          <a:latin typeface="Consolas"/>
                          <a:ea typeface="Consolas"/>
                          <a:cs typeface="Consolas"/>
                          <a:sym typeface="Consolas"/>
                        </a:rPr>
                        <a:t>module</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4EC9B0"/>
                          </a:solidFill>
                          <a:latin typeface="Consolas"/>
                          <a:ea typeface="Consolas"/>
                          <a:cs typeface="Consolas"/>
                          <a:sym typeface="Consolas"/>
                        </a:rPr>
                        <a:t>exports</a:t>
                      </a:r>
                      <a:r>
                        <a:rPr lang="en-US" sz="1100" u="none" strike="noStrike" cap="none" dirty="0">
                          <a:solidFill>
                            <a:srgbClr val="D4D4D4"/>
                          </a:solidFill>
                          <a:latin typeface="Consolas"/>
                          <a:ea typeface="Consolas"/>
                          <a:cs typeface="Consolas"/>
                          <a:sym typeface="Consolas"/>
                        </a:rPr>
                        <a:t> = {</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DCDCAA"/>
                          </a:solidFill>
                          <a:latin typeface="Consolas"/>
                          <a:ea typeface="Consolas"/>
                          <a:cs typeface="Consolas"/>
                          <a:sym typeface="Consolas"/>
                        </a:rPr>
                        <a:t>area</a:t>
                      </a:r>
                      <a:r>
                        <a:rPr lang="en-US" sz="1100" u="none" strike="noStrike" cap="none" dirty="0">
                          <a:solidFill>
                            <a:srgbClr val="9CDCFE"/>
                          </a:solidFill>
                          <a:latin typeface="Consolas"/>
                          <a:ea typeface="Consolas"/>
                          <a:cs typeface="Consolas"/>
                          <a:sym typeface="Consolas"/>
                        </a:rPr>
                        <a:t>:</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569CD6"/>
                          </a:solidFill>
                          <a:latin typeface="Consolas"/>
                          <a:ea typeface="Consolas"/>
                          <a:cs typeface="Consolas"/>
                          <a:sym typeface="Consolas"/>
                        </a:rPr>
                        <a:t>function</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9CDCFE"/>
                          </a:solidFill>
                          <a:latin typeface="Consolas"/>
                          <a:ea typeface="Consolas"/>
                          <a:cs typeface="Consolas"/>
                          <a:sym typeface="Consolas"/>
                        </a:rPr>
                        <a:t>width</a:t>
                      </a:r>
                      <a:r>
                        <a:rPr lang="en-US" sz="1100" u="none" strike="noStrike" cap="none" dirty="0">
                          <a:solidFill>
                            <a:srgbClr val="D4D4D4"/>
                          </a:solidFill>
                          <a:latin typeface="Consolas"/>
                          <a:ea typeface="Consolas"/>
                          <a:cs typeface="Consolas"/>
                          <a:sym typeface="Consolas"/>
                        </a:rPr>
                        <a:t>) {</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C586C0"/>
                          </a:solidFill>
                          <a:latin typeface="Consolas"/>
                          <a:ea typeface="Consolas"/>
                          <a:cs typeface="Consolas"/>
                          <a:sym typeface="Consolas"/>
                        </a:rPr>
                        <a:t>return</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9CDCFE"/>
                          </a:solidFill>
                          <a:latin typeface="Consolas"/>
                          <a:ea typeface="Consolas"/>
                          <a:cs typeface="Consolas"/>
                          <a:sym typeface="Consolas"/>
                        </a:rPr>
                        <a:t>width</a:t>
                      </a:r>
                      <a:r>
                        <a:rPr lang="en-US" sz="1100" u="none" strike="noStrike" cap="none" dirty="0">
                          <a:solidFill>
                            <a:srgbClr val="D4D4D4"/>
                          </a:solidFill>
                          <a:latin typeface="Consolas"/>
                          <a:ea typeface="Consolas"/>
                          <a:cs typeface="Consolas"/>
                          <a:sym typeface="Consolas"/>
                        </a:rPr>
                        <a:t> * </a:t>
                      </a:r>
                      <a:r>
                        <a:rPr lang="en-US" sz="1100" u="none" strike="noStrike" cap="none" dirty="0">
                          <a:solidFill>
                            <a:srgbClr val="9CDCFE"/>
                          </a:solidFill>
                          <a:latin typeface="Consolas"/>
                          <a:ea typeface="Consolas"/>
                          <a:cs typeface="Consolas"/>
                          <a:sym typeface="Consolas"/>
                        </a:rPr>
                        <a:t>width</a:t>
                      </a:r>
                      <a:r>
                        <a:rPr lang="en-US" sz="1100" u="none" strike="noStrike" cap="none" dirty="0">
                          <a:solidFill>
                            <a:srgbClr val="D4D4D4"/>
                          </a:solidFill>
                          <a:latin typeface="Consolas"/>
                          <a:ea typeface="Consolas"/>
                          <a:cs typeface="Consolas"/>
                          <a:sym typeface="Consolas"/>
                        </a:rPr>
                        <a: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DCDCAA"/>
                          </a:solidFill>
                          <a:latin typeface="Consolas"/>
                          <a:ea typeface="Consolas"/>
                          <a:cs typeface="Consolas"/>
                          <a:sym typeface="Consolas"/>
                        </a:rPr>
                        <a:t>perimeter</a:t>
                      </a:r>
                      <a:r>
                        <a:rPr lang="en-US" sz="1100" u="none" strike="noStrike" cap="none" dirty="0">
                          <a:solidFill>
                            <a:srgbClr val="9CDCFE"/>
                          </a:solidFill>
                          <a:latin typeface="Consolas"/>
                          <a:ea typeface="Consolas"/>
                          <a:cs typeface="Consolas"/>
                          <a:sym typeface="Consolas"/>
                        </a:rPr>
                        <a:t>:</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569CD6"/>
                          </a:solidFill>
                          <a:latin typeface="Consolas"/>
                          <a:ea typeface="Consolas"/>
                          <a:cs typeface="Consolas"/>
                          <a:sym typeface="Consolas"/>
                        </a:rPr>
                        <a:t>function</a:t>
                      </a:r>
                      <a:r>
                        <a:rPr lang="en-US" sz="1100" u="none" strike="noStrike" cap="none" dirty="0">
                          <a:solidFill>
                            <a:srgbClr val="D4D4D4"/>
                          </a:solidFill>
                          <a:latin typeface="Consolas"/>
                          <a:ea typeface="Consolas"/>
                          <a:cs typeface="Consolas"/>
                          <a:sym typeface="Consolas"/>
                        </a:rPr>
                        <a:t>(</a:t>
                      </a:r>
                      <a:r>
                        <a:rPr lang="en-US" sz="1100" u="none" strike="noStrike" cap="none" dirty="0">
                          <a:solidFill>
                            <a:srgbClr val="9CDCFE"/>
                          </a:solidFill>
                          <a:latin typeface="Consolas"/>
                          <a:ea typeface="Consolas"/>
                          <a:cs typeface="Consolas"/>
                          <a:sym typeface="Consolas"/>
                        </a:rPr>
                        <a:t>width</a:t>
                      </a:r>
                      <a:r>
                        <a:rPr lang="en-US" sz="1100" u="none" strike="noStrike" cap="none" dirty="0">
                          <a:solidFill>
                            <a:srgbClr val="D4D4D4"/>
                          </a:solidFill>
                          <a:latin typeface="Consolas"/>
                          <a:ea typeface="Consolas"/>
                          <a:cs typeface="Consolas"/>
                          <a:sym typeface="Consolas"/>
                        </a:rPr>
                        <a:t>) {</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C586C0"/>
                          </a:solidFill>
                          <a:latin typeface="Consolas"/>
                          <a:ea typeface="Consolas"/>
                          <a:cs typeface="Consolas"/>
                          <a:sym typeface="Consolas"/>
                        </a:rPr>
                        <a:t>return</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B5CEA8"/>
                          </a:solidFill>
                          <a:latin typeface="Consolas"/>
                          <a:ea typeface="Consolas"/>
                          <a:cs typeface="Consolas"/>
                          <a:sym typeface="Consolas"/>
                        </a:rPr>
                        <a:t>4</a:t>
                      </a:r>
                      <a:r>
                        <a:rPr lang="en-US" sz="1100" u="none" strike="noStrike" cap="none" dirty="0">
                          <a:solidFill>
                            <a:srgbClr val="D4D4D4"/>
                          </a:solidFill>
                          <a:latin typeface="Consolas"/>
                          <a:ea typeface="Consolas"/>
                          <a:cs typeface="Consolas"/>
                          <a:sym typeface="Consolas"/>
                        </a:rPr>
                        <a:t> * </a:t>
                      </a:r>
                      <a:r>
                        <a:rPr lang="en-US" sz="1100" u="none" strike="noStrike" cap="none" dirty="0">
                          <a:solidFill>
                            <a:srgbClr val="9CDCFE"/>
                          </a:solidFill>
                          <a:latin typeface="Consolas"/>
                          <a:ea typeface="Consolas"/>
                          <a:cs typeface="Consolas"/>
                          <a:sym typeface="Consolas"/>
                        </a:rPr>
                        <a:t>width</a:t>
                      </a:r>
                      <a:r>
                        <a:rPr lang="en-US" sz="1100" u="none" strike="noStrike" cap="none" dirty="0">
                          <a:solidFill>
                            <a:srgbClr val="D4D4D4"/>
                          </a:solidFill>
                          <a:latin typeface="Consolas"/>
                          <a:ea typeface="Consolas"/>
                          <a:cs typeface="Consolas"/>
                          <a:sym typeface="Consolas"/>
                        </a:rPr>
                        <a:t>;</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  }</a:t>
                      </a:r>
                      <a:endParaRPr sz="11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D4D4D4"/>
                          </a:solidFill>
                          <a:latin typeface="Consolas"/>
                          <a:ea typeface="Consolas"/>
                          <a:cs typeface="Consolas"/>
                          <a:sym typeface="Consolas"/>
                        </a:rPr>
                        <a:t>};</a:t>
                      </a:r>
                      <a:endParaRPr sz="1100" u="none" strike="noStrike" cap="none" dirty="0">
                        <a:solidFill>
                          <a:srgbClr val="4EC9B0"/>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r h="1061455">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You can think of exports as a shortcut to </a:t>
                      </a:r>
                      <a:r>
                        <a:rPr lang="en-US" sz="1400" u="none" strike="noStrike" cap="none" dirty="0" err="1">
                          <a:latin typeface="Times New Roman"/>
                          <a:ea typeface="Times New Roman"/>
                          <a:cs typeface="Times New Roman"/>
                          <a:sym typeface="Times New Roman"/>
                        </a:rPr>
                        <a:t>module.exports</a:t>
                      </a:r>
                      <a:r>
                        <a:rPr lang="en-US" sz="1400" u="none" strike="noStrike" cap="none" dirty="0">
                          <a:latin typeface="Times New Roman"/>
                          <a:ea typeface="Times New Roman"/>
                          <a:cs typeface="Times New Roman"/>
                          <a:sym typeface="Times New Roman"/>
                        </a:rPr>
                        <a:t> within a given module. In fact, exports is just a variable that gets initialized to the value of </a:t>
                      </a:r>
                      <a:r>
                        <a:rPr lang="en-US" sz="1400" u="none" strike="noStrike" cap="none" dirty="0" err="1">
                          <a:latin typeface="Times New Roman"/>
                          <a:ea typeface="Times New Roman"/>
                          <a:cs typeface="Times New Roman"/>
                          <a:sym typeface="Times New Roman"/>
                        </a:rPr>
                        <a:t>module.exports</a:t>
                      </a:r>
                      <a:r>
                        <a:rPr lang="en-US" sz="1400" u="none" strike="noStrike" cap="none" dirty="0">
                          <a:latin typeface="Times New Roman"/>
                          <a:ea typeface="Times New Roman"/>
                          <a:cs typeface="Times New Roman"/>
                          <a:sym typeface="Times New Roman"/>
                        </a:rPr>
                        <a:t> before the module is evaluated. That value is a reference to an object (empty object in this case). This means that exports holds a reference to the same object referenced by </a:t>
                      </a:r>
                      <a:r>
                        <a:rPr lang="en-US" sz="1400" u="none" strike="noStrike" cap="none" dirty="0" err="1">
                          <a:latin typeface="Times New Roman"/>
                          <a:ea typeface="Times New Roman"/>
                          <a:cs typeface="Times New Roman"/>
                          <a:sym typeface="Times New Roman"/>
                        </a:rPr>
                        <a:t>module.exports</a:t>
                      </a:r>
                      <a:r>
                        <a:rPr lang="en-US" sz="1400" u="none" strike="noStrike" cap="none" dirty="0">
                          <a:latin typeface="Times New Roman"/>
                          <a:ea typeface="Times New Roman"/>
                          <a:cs typeface="Times New Roman"/>
                          <a:sym typeface="Times New Roman"/>
                        </a:rPr>
                        <a:t>. It also means that by assigning another value to exports it's no longer bound to </a:t>
                      </a:r>
                      <a:r>
                        <a:rPr lang="en-US" sz="1400" u="none" strike="noStrike" cap="none" dirty="0" err="1">
                          <a:latin typeface="Times New Roman"/>
                          <a:ea typeface="Times New Roman"/>
                          <a:cs typeface="Times New Roman"/>
                          <a:sym typeface="Times New Roman"/>
                        </a:rPr>
                        <a:t>module.exports</a:t>
                      </a:r>
                      <a:r>
                        <a:rPr lang="en-US" sz="1400" u="none" strike="noStrike" cap="none" dirty="0">
                          <a:latin typeface="Times New Roman"/>
                          <a:ea typeface="Times New Roman"/>
                          <a:cs typeface="Times New Roman"/>
                          <a:sym typeface="Times New Roman"/>
                        </a:rPr>
                        <a:t>.</a:t>
                      </a:r>
                      <a:endParaRPr sz="1100" u="none" strike="noStrike" cap="none" dirty="0">
                        <a:solidFill>
                          <a:srgbClr val="4EC9B0"/>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2"/>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242" name="Google Shape;242;p32"/>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43" name="Google Shape;243;p32"/>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10</a:t>
            </a:fld>
            <a:endParaRPr/>
          </a:p>
        </p:txBody>
      </p:sp>
      <p:graphicFrame>
        <p:nvGraphicFramePr>
          <p:cNvPr id="244" name="Google Shape;244;p32"/>
          <p:cNvGraphicFramePr/>
          <p:nvPr>
            <p:extLst>
              <p:ext uri="{D42A27DB-BD31-4B8C-83A1-F6EECF244321}">
                <p14:modId xmlns:p14="http://schemas.microsoft.com/office/powerpoint/2010/main" val="3249845069"/>
              </p:ext>
            </p:extLst>
          </p:nvPr>
        </p:nvGraphicFramePr>
        <p:xfrm>
          <a:off x="1066788" y="2101789"/>
          <a:ext cx="10816818" cy="4251810"/>
        </p:xfrm>
        <a:graphic>
          <a:graphicData uri="http://schemas.openxmlformats.org/drawingml/2006/table">
            <a:tbl>
              <a:tblPr>
                <a:noFill/>
                <a:tableStyleId>{99CD84AF-14CF-470D-B69C-EB98024C896D}</a:tableStyleId>
              </a:tblPr>
              <a:tblGrid>
                <a:gridCol w="10816818">
                  <a:extLst>
                    <a:ext uri="{9D8B030D-6E8A-4147-A177-3AD203B41FA5}">
                      <a16:colId xmlns:a16="http://schemas.microsoft.com/office/drawing/2014/main" val="20000"/>
                    </a:ext>
                  </a:extLst>
                </a:gridCol>
              </a:tblGrid>
              <a:tr h="350150">
                <a:tc>
                  <a:txBody>
                    <a:bodyPr/>
                    <a:lstStyle/>
                    <a:p>
                      <a:pPr marL="0" marR="0" lvl="0" indent="0" algn="l" rtl="0">
                        <a:lnSpc>
                          <a:spcPct val="100000"/>
                        </a:lnSpc>
                        <a:spcBef>
                          <a:spcPts val="0"/>
                        </a:spcBef>
                        <a:spcAft>
                          <a:spcPts val="0"/>
                        </a:spcAft>
                        <a:buClr>
                          <a:srgbClr val="000000"/>
                        </a:buClr>
                        <a:buSzPts val="1200"/>
                        <a:buFont typeface="Arial"/>
                        <a:buNone/>
                      </a:pPr>
                      <a:r>
                        <a:rPr lang="en-US" sz="1200" b="1" u="none" strike="noStrike" cap="none" dirty="0">
                          <a:latin typeface="Times New Roman"/>
                          <a:ea typeface="Times New Roman"/>
                          <a:cs typeface="Times New Roman"/>
                          <a:sym typeface="Times New Roman"/>
                        </a:rPr>
                        <a:t>Using asynchronous API</a:t>
                      </a:r>
                      <a:endParaRPr sz="1200" b="1"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JavaScript code frequently uses asynchronous rather than synchronous APIs for operations that may take some time to complete. A synchronous API is one in which each operation must complete before the next operation can start. For example, the following log functions are synchronous, and will print the text to the console in order (First, Second).</a:t>
                      </a:r>
                      <a:endParaRPr sz="12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083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9CDCFE"/>
                          </a:solidFill>
                          <a:latin typeface="Consolas"/>
                          <a:ea typeface="Consolas"/>
                          <a:cs typeface="Consolas"/>
                          <a:sym typeface="Consolas"/>
                        </a:rPr>
                        <a:t>console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CDCAA"/>
                          </a:solidFill>
                          <a:latin typeface="Consolas"/>
                          <a:ea typeface="Consolas"/>
                          <a:cs typeface="Consolas"/>
                          <a:sym typeface="Consolas"/>
                        </a:rPr>
                        <a:t>log</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'First'</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9CDCFE"/>
                          </a:solidFill>
                          <a:latin typeface="Consolas"/>
                          <a:ea typeface="Consolas"/>
                          <a:cs typeface="Consolas"/>
                          <a:sym typeface="Consolas"/>
                        </a:rPr>
                        <a:t>console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CDCAA"/>
                          </a:solidFill>
                          <a:latin typeface="Consolas"/>
                          <a:ea typeface="Consolas"/>
                          <a:cs typeface="Consolas"/>
                          <a:sym typeface="Consolas"/>
                        </a:rPr>
                        <a:t>log</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'Second'</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By contrast, an asynchronous API is one in which the API will start an operation and immediately return (before the operation is complete). Once the operation finishes, the API will use some mechanism to perform additional operations. For example, the code below will print out "Second, First" because even though setTimeout() method is called first, and returns immediately, the operation doesn't complete for several seconds.</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2804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DCDCAA"/>
                          </a:solidFill>
                          <a:latin typeface="Consolas"/>
                          <a:ea typeface="Consolas"/>
                          <a:cs typeface="Consolas"/>
                          <a:sym typeface="Consolas"/>
                        </a:rPr>
                        <a:t>setTimeout</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569CD6"/>
                          </a:solidFill>
                          <a:latin typeface="Consolas"/>
                          <a:ea typeface="Consolas"/>
                          <a:cs typeface="Consolas"/>
                          <a:sym typeface="Consolas"/>
                        </a:rPr>
                        <a:t>function</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console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CDCAA"/>
                          </a:solidFill>
                          <a:latin typeface="Consolas"/>
                          <a:ea typeface="Consolas"/>
                          <a:cs typeface="Consolas"/>
                          <a:sym typeface="Consolas"/>
                        </a:rPr>
                        <a:t>log</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'First'</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 </a:t>
                      </a:r>
                      <a:r>
                        <a:rPr lang="en-US" sz="1050" u="none" strike="noStrike" cap="none" dirty="0">
                          <a:solidFill>
                            <a:srgbClr val="B5CEA8"/>
                          </a:solidFill>
                          <a:latin typeface="Consolas"/>
                          <a:ea typeface="Consolas"/>
                          <a:cs typeface="Consolas"/>
                          <a:sym typeface="Consolas"/>
                        </a:rPr>
                        <a:t>3000</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9CDCFE"/>
                          </a:solidFill>
                          <a:latin typeface="Consolas"/>
                          <a:ea typeface="Consolas"/>
                          <a:cs typeface="Consolas"/>
                          <a:sym typeface="Consolas"/>
                        </a:rPr>
                        <a:t>console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CDCAA"/>
                          </a:solidFill>
                          <a:latin typeface="Consolas"/>
                          <a:ea typeface="Consolas"/>
                          <a:cs typeface="Consolas"/>
                          <a:sym typeface="Consolas"/>
                        </a:rPr>
                        <a:t>log</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'Second'</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4EC9B0"/>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r h="28045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Using non-blocking asynchronous APIs is even more important on Node than in the browser because Node is a single-threaded event-driven execution environment. "Single threaded" means that all requests to the server are run on the same thread (rather than being spawned off into separate processes). This model is extremely efficient in terms of speed and server resources, but it does mean that if any of your functions call synchronous methods that take a long time to complete, they will block not just the current request, but every other request being handled by your web application.</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There are a number of ways for an asynchronous API to notify your application that it has completed. The most common way is to register a callback function when you invoke the asynchronous API, that will be called back when the operation completes. This is the approach used above.</a:t>
                      </a:r>
                      <a:endParaRPr sz="12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FFFF00"/>
                    </a:solidFill>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33"/>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250" name="Google Shape;250;p33"/>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51" name="Google Shape;251;p33"/>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11</a:t>
            </a:fld>
            <a:endParaRPr/>
          </a:p>
        </p:txBody>
      </p:sp>
      <p:graphicFrame>
        <p:nvGraphicFramePr>
          <p:cNvPr id="252" name="Google Shape;252;p33"/>
          <p:cNvGraphicFramePr/>
          <p:nvPr>
            <p:extLst>
              <p:ext uri="{D42A27DB-BD31-4B8C-83A1-F6EECF244321}">
                <p14:modId xmlns:p14="http://schemas.microsoft.com/office/powerpoint/2010/main" val="1772380378"/>
              </p:ext>
            </p:extLst>
          </p:nvPr>
        </p:nvGraphicFramePr>
        <p:xfrm>
          <a:off x="1066788" y="2062111"/>
          <a:ext cx="10816818" cy="4221360"/>
        </p:xfrm>
        <a:graphic>
          <a:graphicData uri="http://schemas.openxmlformats.org/drawingml/2006/table">
            <a:tbl>
              <a:tblPr>
                <a:noFill/>
                <a:tableStyleId>{99CD84AF-14CF-470D-B69C-EB98024C896D}</a:tableStyleId>
              </a:tblPr>
              <a:tblGrid>
                <a:gridCol w="10816818">
                  <a:extLst>
                    <a:ext uri="{9D8B030D-6E8A-4147-A177-3AD203B41FA5}">
                      <a16:colId xmlns:a16="http://schemas.microsoft.com/office/drawing/2014/main" val="20000"/>
                    </a:ext>
                  </a:extLst>
                </a:gridCol>
              </a:tblGrid>
              <a:tr h="35015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Using callbacks can be quite "messy" if you have a sequence of dependent asynchronous operations that must be performed in order because this results in multiple levels of nested callbacks. This problem is commonly known as "callback hell". This problem can be reduced by good coding practices (see </a:t>
                      </a:r>
                      <a:r>
                        <a:rPr lang="en-US" sz="1400" u="sng" strike="noStrike" cap="none" dirty="0">
                          <a:solidFill>
                            <a:schemeClr val="hlink"/>
                          </a:solidFill>
                          <a:latin typeface="Times New Roman"/>
                          <a:ea typeface="Times New Roman"/>
                          <a:cs typeface="Times New Roman"/>
                          <a:sym typeface="Times New Roman"/>
                          <a:hlinkClick r:id="rId3"/>
                        </a:rPr>
                        <a:t>http://callbackhell.com/</a:t>
                      </a:r>
                      <a:r>
                        <a:rPr lang="en-US" sz="1400" u="none" strike="noStrike" cap="none" dirty="0">
                          <a:latin typeface="Times New Roman"/>
                          <a:ea typeface="Times New Roman"/>
                          <a:cs typeface="Times New Roman"/>
                          <a:sym typeface="Times New Roman"/>
                        </a:rPr>
                        <a:t>), using a module like </a:t>
                      </a:r>
                      <a:r>
                        <a:rPr lang="en-US" sz="1400" u="sng" strike="noStrike" cap="none" dirty="0">
                          <a:solidFill>
                            <a:schemeClr val="hlink"/>
                          </a:solidFill>
                          <a:latin typeface="Times New Roman"/>
                          <a:ea typeface="Times New Roman"/>
                          <a:cs typeface="Times New Roman"/>
                          <a:sym typeface="Times New Roman"/>
                          <a:hlinkClick r:id="rId4"/>
                        </a:rPr>
                        <a:t>async</a:t>
                      </a:r>
                      <a:r>
                        <a:rPr lang="en-US" sz="1400" u="none" strike="noStrike" cap="none" dirty="0">
                          <a:latin typeface="Times New Roman"/>
                          <a:ea typeface="Times New Roman"/>
                          <a:cs typeface="Times New Roman"/>
                          <a:sym typeface="Times New Roman"/>
                        </a:rPr>
                        <a:t>, or even moving to ES6 features like </a:t>
                      </a:r>
                      <a:r>
                        <a:rPr lang="en-US" sz="1400" u="sng" strike="noStrike" cap="none" dirty="0">
                          <a:solidFill>
                            <a:schemeClr val="hlink"/>
                          </a:solidFill>
                          <a:latin typeface="Times New Roman"/>
                          <a:ea typeface="Times New Roman"/>
                          <a:cs typeface="Times New Roman"/>
                          <a:sym typeface="Times New Roman"/>
                          <a:hlinkClick r:id="rId5"/>
                        </a:rPr>
                        <a:t>Promises</a:t>
                      </a:r>
                      <a:r>
                        <a:rPr lang="en-US" sz="1400" u="none" strike="noStrike" cap="none" dirty="0">
                          <a:latin typeface="Times New Roman"/>
                          <a:ea typeface="Times New Roman"/>
                          <a:cs typeface="Times New Roman"/>
                          <a:sym typeface="Times New Roman"/>
                        </a:rPr>
                        <a:t>.</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A common convention for Node and Express is to use error-first callbacks. In this convention, the first value in your callback functions is an error value, while subsequent arguments contain success data. There is a good explanation of why this approach is useful in this blog: </a:t>
                      </a:r>
                      <a:r>
                        <a:rPr lang="en-US" sz="1400" u="sng" strike="noStrike" cap="none" dirty="0">
                          <a:solidFill>
                            <a:schemeClr val="hlink"/>
                          </a:solidFill>
                          <a:latin typeface="Times New Roman"/>
                          <a:ea typeface="Times New Roman"/>
                          <a:cs typeface="Times New Roman"/>
                          <a:sym typeface="Times New Roman"/>
                          <a:hlinkClick r:id="rId6"/>
                        </a:rPr>
                        <a:t>The Node.js Way - Understanding Error-First Callbacks</a:t>
                      </a:r>
                      <a:r>
                        <a:rPr lang="en-US" sz="1400" u="none" strike="noStrike" cap="none" dirty="0">
                          <a:latin typeface="Times New Roman"/>
                          <a:ea typeface="Times New Roman"/>
                          <a:cs typeface="Times New Roman"/>
                          <a:sym typeface="Times New Roman"/>
                        </a:rPr>
                        <a:t>.</a:t>
                      </a:r>
                      <a:endParaRPr sz="1400" b="1"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FFFF00"/>
                    </a:solidFill>
                  </a:tcPr>
                </a:tc>
                <a:extLst>
                  <a:ext uri="{0D108BD9-81ED-4DB2-BD59-A6C34878D82A}">
                    <a16:rowId xmlns:a16="http://schemas.microsoft.com/office/drawing/2014/main" val="10000"/>
                  </a:ext>
                </a:extLst>
              </a:tr>
              <a:tr h="0">
                <a:tc>
                  <a:txBody>
                    <a:bodyPr/>
                    <a:lstStyle/>
                    <a:p>
                      <a:pPr marL="0" marR="0" lvl="0" indent="0" algn="l" rtl="0">
                        <a:lnSpc>
                          <a:spcPct val="100000"/>
                        </a:lnSpc>
                        <a:spcBef>
                          <a:spcPts val="0"/>
                        </a:spcBef>
                        <a:spcAft>
                          <a:spcPts val="0"/>
                        </a:spcAft>
                        <a:buClr>
                          <a:srgbClr val="000000"/>
                        </a:buClr>
                        <a:buSzPts val="1200"/>
                        <a:buFont typeface="Arial"/>
                        <a:buNone/>
                      </a:pPr>
                      <a:r>
                        <a:rPr lang="en-US" sz="1400" b="1" u="none" strike="noStrike" cap="none">
                          <a:latin typeface="Times New Roman"/>
                          <a:ea typeface="Times New Roman"/>
                          <a:cs typeface="Times New Roman"/>
                          <a:sym typeface="Times New Roman"/>
                        </a:rPr>
                        <a:t>Creating route handlers</a:t>
                      </a:r>
                      <a:endParaRPr sz="1400" b="1"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a:latin typeface="Times New Roman"/>
                          <a:ea typeface="Times New Roman"/>
                          <a:cs typeface="Times New Roman"/>
                          <a:sym typeface="Times New Roman"/>
                        </a:rPr>
                        <a:t>In our Hello World Express example (see above), we defined a (callback) route handler function for HTTP GET requests to the site root ('/').</a:t>
                      </a:r>
                      <a:endParaRPr sz="14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280450">
                <a:tc>
                  <a:txBody>
                    <a:bodyPr/>
                    <a:lstStyle/>
                    <a:p>
                      <a:pPr marL="0" marR="0" lvl="0" indent="0" algn="l" rtl="0">
                        <a:lnSpc>
                          <a:spcPct val="100000"/>
                        </a:lnSpc>
                        <a:spcBef>
                          <a:spcPts val="0"/>
                        </a:spcBef>
                        <a:spcAft>
                          <a:spcPts val="0"/>
                        </a:spcAft>
                        <a:buClr>
                          <a:srgbClr val="000000"/>
                        </a:buClr>
                        <a:buSzPts val="1050"/>
                        <a:buFont typeface="Arial"/>
                        <a:buNone/>
                      </a:pPr>
                      <a:r>
                        <a:rPr lang="en-US" sz="1100" u="none" strike="noStrike" cap="none">
                          <a:solidFill>
                            <a:srgbClr val="9CDCFE"/>
                          </a:solidFill>
                          <a:latin typeface="Consolas"/>
                          <a:ea typeface="Consolas"/>
                          <a:cs typeface="Consolas"/>
                          <a:sym typeface="Consolas"/>
                        </a:rPr>
                        <a:t>app</a:t>
                      </a:r>
                      <a:r>
                        <a:rPr lang="en-US" sz="1100" u="none" strike="noStrike" cap="none">
                          <a:solidFill>
                            <a:srgbClr val="D4D4D4"/>
                          </a:solidFill>
                          <a:latin typeface="Consolas"/>
                          <a:ea typeface="Consolas"/>
                          <a:cs typeface="Consolas"/>
                          <a:sym typeface="Consolas"/>
                        </a:rPr>
                        <a:t>.</a:t>
                      </a:r>
                      <a:r>
                        <a:rPr lang="en-US" sz="1100" u="none" strike="noStrike" cap="none">
                          <a:solidFill>
                            <a:srgbClr val="DCDCAA"/>
                          </a:solidFill>
                          <a:latin typeface="Consolas"/>
                          <a:ea typeface="Consolas"/>
                          <a:cs typeface="Consolas"/>
                          <a:sym typeface="Consolas"/>
                        </a:rPr>
                        <a:t>get</a:t>
                      </a:r>
                      <a:r>
                        <a:rPr lang="en-US" sz="1100" u="none" strike="noStrike" cap="none">
                          <a:solidFill>
                            <a:srgbClr val="D4D4D4"/>
                          </a:solidFill>
                          <a:latin typeface="Consolas"/>
                          <a:ea typeface="Consolas"/>
                          <a:cs typeface="Consolas"/>
                          <a:sym typeface="Consolas"/>
                        </a:rPr>
                        <a:t>(</a:t>
                      </a:r>
                      <a:r>
                        <a:rPr lang="en-US" sz="1100" u="none" strike="noStrike" cap="none">
                          <a:solidFill>
                            <a:srgbClr val="CE9178"/>
                          </a:solidFill>
                          <a:latin typeface="Consolas"/>
                          <a:ea typeface="Consolas"/>
                          <a:cs typeface="Consolas"/>
                          <a:sym typeface="Consolas"/>
                        </a:rPr>
                        <a:t>'/'</a:t>
                      </a:r>
                      <a:r>
                        <a:rPr lang="en-US" sz="1100" u="none" strike="noStrike" cap="none">
                          <a:solidFill>
                            <a:srgbClr val="D4D4D4"/>
                          </a:solidFill>
                          <a:latin typeface="Consolas"/>
                          <a:ea typeface="Consolas"/>
                          <a:cs typeface="Consolas"/>
                          <a:sym typeface="Consolas"/>
                        </a:rPr>
                        <a:t>, </a:t>
                      </a:r>
                      <a:r>
                        <a:rPr lang="en-US" sz="1100" u="none" strike="noStrike" cap="none">
                          <a:solidFill>
                            <a:srgbClr val="569CD6"/>
                          </a:solidFill>
                          <a:latin typeface="Consolas"/>
                          <a:ea typeface="Consolas"/>
                          <a:cs typeface="Consolas"/>
                          <a:sym typeface="Consolas"/>
                        </a:rPr>
                        <a:t>function</a:t>
                      </a:r>
                      <a:r>
                        <a:rPr lang="en-US" sz="1100" u="none" strike="noStrike" cap="none">
                          <a:solidFill>
                            <a:srgbClr val="D4D4D4"/>
                          </a:solidFill>
                          <a:latin typeface="Consolas"/>
                          <a:ea typeface="Consolas"/>
                          <a:cs typeface="Consolas"/>
                          <a:sym typeface="Consolas"/>
                        </a:rPr>
                        <a:t>(</a:t>
                      </a:r>
                      <a:r>
                        <a:rPr lang="en-US" sz="1100" u="none" strike="noStrike" cap="none">
                          <a:solidFill>
                            <a:srgbClr val="9CDCFE"/>
                          </a:solidFill>
                          <a:latin typeface="Consolas"/>
                          <a:ea typeface="Consolas"/>
                          <a:cs typeface="Consolas"/>
                          <a:sym typeface="Consolas"/>
                        </a:rPr>
                        <a:t>req</a:t>
                      </a:r>
                      <a:r>
                        <a:rPr lang="en-US" sz="1100" u="none" strike="noStrike" cap="none">
                          <a:solidFill>
                            <a:srgbClr val="D4D4D4"/>
                          </a:solidFill>
                          <a:latin typeface="Consolas"/>
                          <a:ea typeface="Consolas"/>
                          <a:cs typeface="Consolas"/>
                          <a:sym typeface="Consolas"/>
                        </a:rPr>
                        <a:t>, </a:t>
                      </a:r>
                      <a:r>
                        <a:rPr lang="en-US" sz="1100" u="none" strike="noStrike" cap="none">
                          <a:solidFill>
                            <a:srgbClr val="9CDCFE"/>
                          </a:solidFill>
                          <a:latin typeface="Consolas"/>
                          <a:ea typeface="Consolas"/>
                          <a:cs typeface="Consolas"/>
                          <a:sym typeface="Consolas"/>
                        </a:rPr>
                        <a:t>res</a:t>
                      </a:r>
                      <a:r>
                        <a:rPr lang="en-US" sz="1100" u="none" strike="noStrike" cap="none">
                          <a:solidFill>
                            <a:srgbClr val="D4D4D4"/>
                          </a:solidFill>
                          <a:latin typeface="Consolas"/>
                          <a:ea typeface="Consolas"/>
                          <a:cs typeface="Consolas"/>
                          <a:sym typeface="Consolas"/>
                        </a:rPr>
                        <a:t>) {</a:t>
                      </a:r>
                      <a:endParaRPr sz="110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a:solidFill>
                            <a:srgbClr val="D4D4D4"/>
                          </a:solidFill>
                          <a:latin typeface="Consolas"/>
                          <a:ea typeface="Consolas"/>
                          <a:cs typeface="Consolas"/>
                          <a:sym typeface="Consolas"/>
                        </a:rPr>
                        <a:t>  </a:t>
                      </a:r>
                      <a:r>
                        <a:rPr lang="en-US" sz="1100" u="none" strike="noStrike" cap="none">
                          <a:solidFill>
                            <a:srgbClr val="9CDCFE"/>
                          </a:solidFill>
                          <a:latin typeface="Consolas"/>
                          <a:ea typeface="Consolas"/>
                          <a:cs typeface="Consolas"/>
                          <a:sym typeface="Consolas"/>
                        </a:rPr>
                        <a:t>res</a:t>
                      </a:r>
                      <a:r>
                        <a:rPr lang="en-US" sz="1100" u="none" strike="noStrike" cap="none">
                          <a:solidFill>
                            <a:srgbClr val="D4D4D4"/>
                          </a:solidFill>
                          <a:latin typeface="Consolas"/>
                          <a:ea typeface="Consolas"/>
                          <a:cs typeface="Consolas"/>
                          <a:sym typeface="Consolas"/>
                        </a:rPr>
                        <a:t>.</a:t>
                      </a:r>
                      <a:r>
                        <a:rPr lang="en-US" sz="1100" u="none" strike="noStrike" cap="none">
                          <a:solidFill>
                            <a:srgbClr val="DCDCAA"/>
                          </a:solidFill>
                          <a:latin typeface="Consolas"/>
                          <a:ea typeface="Consolas"/>
                          <a:cs typeface="Consolas"/>
                          <a:sym typeface="Consolas"/>
                        </a:rPr>
                        <a:t>send</a:t>
                      </a:r>
                      <a:r>
                        <a:rPr lang="en-US" sz="1100" u="none" strike="noStrike" cap="none">
                          <a:solidFill>
                            <a:srgbClr val="D4D4D4"/>
                          </a:solidFill>
                          <a:latin typeface="Consolas"/>
                          <a:ea typeface="Consolas"/>
                          <a:cs typeface="Consolas"/>
                          <a:sym typeface="Consolas"/>
                        </a:rPr>
                        <a:t>(</a:t>
                      </a:r>
                      <a:r>
                        <a:rPr lang="en-US" sz="1100" u="none" strike="noStrike" cap="none">
                          <a:solidFill>
                            <a:srgbClr val="CE9178"/>
                          </a:solidFill>
                          <a:latin typeface="Consolas"/>
                          <a:ea typeface="Consolas"/>
                          <a:cs typeface="Consolas"/>
                          <a:sym typeface="Consolas"/>
                        </a:rPr>
                        <a:t>'Hello World!'</a:t>
                      </a:r>
                      <a:r>
                        <a:rPr lang="en-US" sz="1100" u="none" strike="noStrike" cap="none">
                          <a:solidFill>
                            <a:srgbClr val="D4D4D4"/>
                          </a:solidFill>
                          <a:latin typeface="Consolas"/>
                          <a:ea typeface="Consolas"/>
                          <a:cs typeface="Consolas"/>
                          <a:sym typeface="Consolas"/>
                        </a:rPr>
                        <a:t>)</a:t>
                      </a:r>
                      <a:endParaRPr sz="110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100" u="none" strike="noStrike" cap="none">
                          <a:solidFill>
                            <a:srgbClr val="D4D4D4"/>
                          </a:solidFill>
                          <a:latin typeface="Consolas"/>
                          <a:ea typeface="Consolas"/>
                          <a:cs typeface="Consolas"/>
                          <a:sym typeface="Consolas"/>
                        </a:rPr>
                        <a:t>});</a:t>
                      </a:r>
                      <a:endParaRPr sz="1100" u="none" strike="noStrike" cap="none">
                        <a:solidFill>
                          <a:srgbClr val="DCDCAA"/>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2"/>
                  </a:ext>
                </a:extLst>
              </a:tr>
              <a:tr h="28045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The callback function takes a request and a response object as arguments. In this case, the method calls </a:t>
                      </a:r>
                      <a:r>
                        <a:rPr lang="en-US" sz="1400" u="sng" strike="noStrike" cap="none" dirty="0">
                          <a:solidFill>
                            <a:schemeClr val="hlink"/>
                          </a:solidFill>
                          <a:latin typeface="Times New Roman"/>
                          <a:ea typeface="Times New Roman"/>
                          <a:cs typeface="Times New Roman"/>
                          <a:sym typeface="Times New Roman"/>
                          <a:hlinkClick r:id="rId7"/>
                        </a:rPr>
                        <a:t>send()</a:t>
                      </a:r>
                      <a:r>
                        <a:rPr lang="en-US" sz="1400" u="none" strike="noStrike" cap="none" dirty="0">
                          <a:latin typeface="Times New Roman"/>
                          <a:ea typeface="Times New Roman"/>
                          <a:cs typeface="Times New Roman"/>
                          <a:sym typeface="Times New Roman"/>
                        </a:rPr>
                        <a:t> on the response to return the string "Hello World!" There are a </a:t>
                      </a:r>
                      <a:r>
                        <a:rPr lang="en-US" sz="1400" u="sng" strike="noStrike" cap="none" dirty="0">
                          <a:solidFill>
                            <a:schemeClr val="hlink"/>
                          </a:solidFill>
                          <a:latin typeface="Times New Roman"/>
                          <a:ea typeface="Times New Roman"/>
                          <a:cs typeface="Times New Roman"/>
                          <a:sym typeface="Times New Roman"/>
                          <a:hlinkClick r:id="rId8"/>
                        </a:rPr>
                        <a:t>number of other response methods</a:t>
                      </a:r>
                      <a:r>
                        <a:rPr lang="en-US" sz="1400" u="none" strike="noStrike" cap="none" dirty="0">
                          <a:latin typeface="Times New Roman"/>
                          <a:ea typeface="Times New Roman"/>
                          <a:cs typeface="Times New Roman"/>
                          <a:sym typeface="Times New Roman"/>
                        </a:rPr>
                        <a:t> for ending the request/response cycle, for example, you could call </a:t>
                      </a:r>
                      <a:r>
                        <a:rPr lang="en-US" sz="1400" u="sng" strike="noStrike" cap="none" dirty="0" err="1">
                          <a:solidFill>
                            <a:schemeClr val="hlink"/>
                          </a:solidFill>
                          <a:latin typeface="Times New Roman"/>
                          <a:ea typeface="Times New Roman"/>
                          <a:cs typeface="Times New Roman"/>
                          <a:sym typeface="Times New Roman"/>
                          <a:hlinkClick r:id="rId9"/>
                        </a:rPr>
                        <a:t>res.json</a:t>
                      </a:r>
                      <a:r>
                        <a:rPr lang="en-US" sz="1400" u="sng" strike="noStrike" cap="none" dirty="0">
                          <a:solidFill>
                            <a:schemeClr val="hlink"/>
                          </a:solidFill>
                          <a:latin typeface="Times New Roman"/>
                          <a:ea typeface="Times New Roman"/>
                          <a:cs typeface="Times New Roman"/>
                          <a:sym typeface="Times New Roman"/>
                          <a:hlinkClick r:id="rId9"/>
                        </a:rPr>
                        <a:t>()</a:t>
                      </a:r>
                      <a:r>
                        <a:rPr lang="en-US" sz="1400" u="none" strike="noStrike" cap="none" dirty="0">
                          <a:latin typeface="Times New Roman"/>
                          <a:ea typeface="Times New Roman"/>
                          <a:cs typeface="Times New Roman"/>
                          <a:sym typeface="Times New Roman"/>
                        </a:rPr>
                        <a:t> to send a JSON response or </a:t>
                      </a:r>
                      <a:r>
                        <a:rPr lang="en-US" sz="1400" u="sng" strike="noStrike" cap="none" dirty="0" err="1">
                          <a:solidFill>
                            <a:schemeClr val="hlink"/>
                          </a:solidFill>
                          <a:latin typeface="Times New Roman"/>
                          <a:ea typeface="Times New Roman"/>
                          <a:cs typeface="Times New Roman"/>
                          <a:sym typeface="Times New Roman"/>
                          <a:hlinkClick r:id="rId10"/>
                        </a:rPr>
                        <a:t>res.sendFile</a:t>
                      </a:r>
                      <a:r>
                        <a:rPr lang="en-US" sz="1400" u="sng" strike="noStrike" cap="none" dirty="0">
                          <a:solidFill>
                            <a:schemeClr val="hlink"/>
                          </a:solidFill>
                          <a:latin typeface="Times New Roman"/>
                          <a:ea typeface="Times New Roman"/>
                          <a:cs typeface="Times New Roman"/>
                          <a:sym typeface="Times New Roman"/>
                          <a:hlinkClick r:id="rId10"/>
                        </a:rPr>
                        <a:t>()</a:t>
                      </a:r>
                      <a:r>
                        <a:rPr lang="en-US" sz="1400" u="none" strike="noStrike" cap="none" dirty="0">
                          <a:latin typeface="Times New Roman"/>
                          <a:ea typeface="Times New Roman"/>
                          <a:cs typeface="Times New Roman"/>
                          <a:sym typeface="Times New Roman"/>
                        </a:rPr>
                        <a:t> to send a file.</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sng" strike="noStrike" cap="none" dirty="0">
                          <a:latin typeface="Times New Roman"/>
                          <a:ea typeface="Times New Roman"/>
                          <a:cs typeface="Times New Roman"/>
                          <a:sym typeface="Times New Roman"/>
                        </a:rPr>
                        <a:t>You can use any argument names you like in the callback functions; when the callback is invoked the first argument will always be the request and the second will always be the response. It makes sense to name them such that you can identify the object you're working with in the body of the callback.</a:t>
                      </a:r>
                      <a:endParaRPr sz="1400" u="sng"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4"/>
          <p:cNvSpPr txBox="1">
            <a:spLocks noGrp="1"/>
          </p:cNvSpPr>
          <p:nvPr>
            <p:ph type="title"/>
          </p:nvPr>
        </p:nvSpPr>
        <p:spPr>
          <a:xfrm>
            <a:off x="1066775" y="559294"/>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258" name="Google Shape;258;p34"/>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59" name="Google Shape;259;p34"/>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12</a:t>
            </a:fld>
            <a:endParaRPr/>
          </a:p>
        </p:txBody>
      </p:sp>
      <p:graphicFrame>
        <p:nvGraphicFramePr>
          <p:cNvPr id="260" name="Google Shape;260;p34"/>
          <p:cNvGraphicFramePr/>
          <p:nvPr>
            <p:extLst>
              <p:ext uri="{D42A27DB-BD31-4B8C-83A1-F6EECF244321}">
                <p14:modId xmlns:p14="http://schemas.microsoft.com/office/powerpoint/2010/main" val="4094754827"/>
              </p:ext>
            </p:extLst>
          </p:nvPr>
        </p:nvGraphicFramePr>
        <p:xfrm>
          <a:off x="1066775" y="2037949"/>
          <a:ext cx="10816831" cy="4943950"/>
        </p:xfrm>
        <a:graphic>
          <a:graphicData uri="http://schemas.openxmlformats.org/drawingml/2006/table">
            <a:tbl>
              <a:tblPr>
                <a:noFill/>
                <a:tableStyleId>{99CD84AF-14CF-470D-B69C-EB98024C896D}</a:tableStyleId>
              </a:tblPr>
              <a:tblGrid>
                <a:gridCol w="5382316">
                  <a:extLst>
                    <a:ext uri="{9D8B030D-6E8A-4147-A177-3AD203B41FA5}">
                      <a16:colId xmlns:a16="http://schemas.microsoft.com/office/drawing/2014/main" val="20000"/>
                    </a:ext>
                  </a:extLst>
                </a:gridCol>
                <a:gridCol w="5434515">
                  <a:extLst>
                    <a:ext uri="{9D8B030D-6E8A-4147-A177-3AD203B41FA5}">
                      <a16:colId xmlns:a16="http://schemas.microsoft.com/office/drawing/2014/main" val="20001"/>
                    </a:ext>
                  </a:extLst>
                </a:gridCol>
              </a:tblGrid>
              <a:tr h="1305951">
                <a:tc gridSpan="2">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The Express application object also provides methods to define route handlers for all the other HTTP verbs, which are mostly used in exactly the same way:</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000" u="none" strike="noStrike" cap="none">
                          <a:solidFill>
                            <a:srgbClr val="1B1B1B"/>
                          </a:solidFill>
                          <a:latin typeface="Courier New"/>
                          <a:ea typeface="Courier New"/>
                          <a:cs typeface="Courier New"/>
                          <a:sym typeface="Courier New"/>
                        </a:rPr>
                        <a:t>checkout()</a:t>
                      </a:r>
                      <a:r>
                        <a:rPr lang="en-US" sz="1200" u="none" strike="noStrike" cap="none">
                          <a:solidFill>
                            <a:srgbClr val="1B1B1B"/>
                          </a:solidFill>
                          <a:highlight>
                            <a:srgbClr val="FFFFFF"/>
                          </a:highlight>
                          <a:latin typeface="Quattrocento Sans"/>
                          <a:ea typeface="Quattrocento Sans"/>
                          <a:cs typeface="Quattrocento Sans"/>
                          <a:sym typeface="Quattrocento Sans"/>
                        </a:rPr>
                        <a:t>, </a:t>
                      </a:r>
                      <a:r>
                        <a:rPr lang="en-US" sz="1000" u="none" strike="noStrike" cap="none">
                          <a:solidFill>
                            <a:srgbClr val="1B1B1B"/>
                          </a:solidFill>
                          <a:latin typeface="Courier New"/>
                          <a:ea typeface="Courier New"/>
                          <a:cs typeface="Courier New"/>
                          <a:sym typeface="Courier New"/>
                        </a:rPr>
                        <a:t>copy()</a:t>
                      </a:r>
                      <a:r>
                        <a:rPr lang="en-US" sz="1200" u="none" strike="noStrike" cap="none">
                          <a:solidFill>
                            <a:srgbClr val="1B1B1B"/>
                          </a:solidFill>
                          <a:highlight>
                            <a:srgbClr val="FFFFFF"/>
                          </a:highlight>
                          <a:latin typeface="Quattrocento Sans"/>
                          <a:ea typeface="Quattrocento Sans"/>
                          <a:cs typeface="Quattrocento Sans"/>
                          <a:sym typeface="Quattrocento Sans"/>
                        </a:rPr>
                        <a:t>, </a:t>
                      </a:r>
                      <a:r>
                        <a:rPr lang="en-US" sz="1000" b="1" u="none" strike="noStrike" cap="none">
                          <a:solidFill>
                            <a:srgbClr val="1B1B1B"/>
                          </a:solidFill>
                          <a:highlight>
                            <a:srgbClr val="FFFFFF"/>
                          </a:highlight>
                          <a:latin typeface="Courier New"/>
                          <a:ea typeface="Courier New"/>
                          <a:cs typeface="Courier New"/>
                          <a:sym typeface="Courier New"/>
                        </a:rPr>
                        <a:t>delete()</a:t>
                      </a:r>
                      <a:r>
                        <a:rPr lang="en-US" sz="1200" u="none" strike="noStrike" cap="none">
                          <a:solidFill>
                            <a:srgbClr val="1B1B1B"/>
                          </a:solidFill>
                          <a:highlight>
                            <a:srgbClr val="FFFFFF"/>
                          </a:highlight>
                          <a:latin typeface="Quattrocento Sans"/>
                          <a:ea typeface="Quattrocento Sans"/>
                          <a:cs typeface="Quattrocento Sans"/>
                          <a:sym typeface="Quattrocento Sans"/>
                        </a:rPr>
                        <a:t>, </a:t>
                      </a:r>
                      <a:r>
                        <a:rPr lang="en-US" sz="1000" b="1" u="none" strike="noStrike" cap="none">
                          <a:solidFill>
                            <a:srgbClr val="1B1B1B"/>
                          </a:solidFill>
                          <a:highlight>
                            <a:srgbClr val="FFFFFF"/>
                          </a:highlight>
                          <a:latin typeface="Courier New"/>
                          <a:ea typeface="Courier New"/>
                          <a:cs typeface="Courier New"/>
                          <a:sym typeface="Courier New"/>
                        </a:rPr>
                        <a:t>get()</a:t>
                      </a:r>
                      <a:r>
                        <a:rPr lang="en-US" sz="1200" u="none" strike="noStrike" cap="none">
                          <a:solidFill>
                            <a:srgbClr val="1B1B1B"/>
                          </a:solidFill>
                          <a:highlight>
                            <a:srgbClr val="FFFFFF"/>
                          </a:highlight>
                          <a:latin typeface="Quattrocento Sans"/>
                          <a:ea typeface="Quattrocento Sans"/>
                          <a:cs typeface="Quattrocento Sans"/>
                          <a:sym typeface="Quattrocento Sans"/>
                        </a:rPr>
                        <a:t>, </a:t>
                      </a:r>
                      <a:r>
                        <a:rPr lang="en-US" sz="1000" u="none" strike="noStrike" cap="none">
                          <a:solidFill>
                            <a:srgbClr val="1B1B1B"/>
                          </a:solidFill>
                          <a:latin typeface="Courier New"/>
                          <a:ea typeface="Courier New"/>
                          <a:cs typeface="Courier New"/>
                          <a:sym typeface="Courier New"/>
                        </a:rPr>
                        <a:t>head()</a:t>
                      </a:r>
                      <a:r>
                        <a:rPr lang="en-US" sz="1200" u="none" strike="noStrike" cap="none">
                          <a:solidFill>
                            <a:srgbClr val="1B1B1B"/>
                          </a:solidFill>
                          <a:highlight>
                            <a:srgbClr val="FFFFFF"/>
                          </a:highlight>
                          <a:latin typeface="Quattrocento Sans"/>
                          <a:ea typeface="Quattrocento Sans"/>
                          <a:cs typeface="Quattrocento Sans"/>
                          <a:sym typeface="Quattrocento Sans"/>
                        </a:rPr>
                        <a:t>, </a:t>
                      </a:r>
                      <a:r>
                        <a:rPr lang="en-US" sz="1000" u="none" strike="noStrike" cap="none">
                          <a:solidFill>
                            <a:srgbClr val="1B1B1B"/>
                          </a:solidFill>
                          <a:latin typeface="Courier New"/>
                          <a:ea typeface="Courier New"/>
                          <a:cs typeface="Courier New"/>
                          <a:sym typeface="Courier New"/>
                        </a:rPr>
                        <a:t>lock()</a:t>
                      </a:r>
                      <a:r>
                        <a:rPr lang="en-US" sz="1200" u="none" strike="noStrike" cap="none">
                          <a:solidFill>
                            <a:srgbClr val="1B1B1B"/>
                          </a:solidFill>
                          <a:highlight>
                            <a:srgbClr val="FFFFFF"/>
                          </a:highlight>
                          <a:latin typeface="Quattrocento Sans"/>
                          <a:ea typeface="Quattrocento Sans"/>
                          <a:cs typeface="Quattrocento Sans"/>
                          <a:sym typeface="Quattrocento Sans"/>
                        </a:rPr>
                        <a:t>, </a:t>
                      </a:r>
                      <a:r>
                        <a:rPr lang="en-US" sz="1000" u="none" strike="noStrike" cap="none">
                          <a:solidFill>
                            <a:srgbClr val="1B1B1B"/>
                          </a:solidFill>
                          <a:latin typeface="Courier New"/>
                          <a:ea typeface="Courier New"/>
                          <a:cs typeface="Courier New"/>
                          <a:sym typeface="Courier New"/>
                        </a:rPr>
                        <a:t>merge()</a:t>
                      </a:r>
                      <a:r>
                        <a:rPr lang="en-US" sz="1200" u="none" strike="noStrike" cap="none">
                          <a:solidFill>
                            <a:srgbClr val="1B1B1B"/>
                          </a:solidFill>
                          <a:highlight>
                            <a:srgbClr val="FFFFFF"/>
                          </a:highlight>
                          <a:latin typeface="Quattrocento Sans"/>
                          <a:ea typeface="Quattrocento Sans"/>
                          <a:cs typeface="Quattrocento Sans"/>
                          <a:sym typeface="Quattrocento Sans"/>
                        </a:rPr>
                        <a:t>, </a:t>
                      </a:r>
                      <a:r>
                        <a:rPr lang="en-US" sz="1000" u="none" strike="noStrike" cap="none">
                          <a:solidFill>
                            <a:srgbClr val="1B1B1B"/>
                          </a:solidFill>
                          <a:latin typeface="Courier New"/>
                          <a:ea typeface="Courier New"/>
                          <a:cs typeface="Courier New"/>
                          <a:sym typeface="Courier New"/>
                        </a:rPr>
                        <a:t>mkactivity()</a:t>
                      </a:r>
                      <a:r>
                        <a:rPr lang="en-US" sz="1200" u="none" strike="noStrike" cap="none">
                          <a:solidFill>
                            <a:srgbClr val="1B1B1B"/>
                          </a:solidFill>
                          <a:highlight>
                            <a:srgbClr val="FFFFFF"/>
                          </a:highlight>
                          <a:latin typeface="Quattrocento Sans"/>
                          <a:ea typeface="Quattrocento Sans"/>
                          <a:cs typeface="Quattrocento Sans"/>
                          <a:sym typeface="Quattrocento Sans"/>
                        </a:rPr>
                        <a:t>, </a:t>
                      </a:r>
                      <a:r>
                        <a:rPr lang="en-US" sz="1000" u="none" strike="noStrike" cap="none">
                          <a:solidFill>
                            <a:srgbClr val="1B1B1B"/>
                          </a:solidFill>
                          <a:latin typeface="Courier New"/>
                          <a:ea typeface="Courier New"/>
                          <a:cs typeface="Courier New"/>
                          <a:sym typeface="Courier New"/>
                        </a:rPr>
                        <a:t>mkcol()</a:t>
                      </a:r>
                      <a:r>
                        <a:rPr lang="en-US" sz="1200" u="none" strike="noStrike" cap="none">
                          <a:solidFill>
                            <a:srgbClr val="1B1B1B"/>
                          </a:solidFill>
                          <a:highlight>
                            <a:srgbClr val="FFFFFF"/>
                          </a:highlight>
                          <a:latin typeface="Quattrocento Sans"/>
                          <a:ea typeface="Quattrocento Sans"/>
                          <a:cs typeface="Quattrocento Sans"/>
                          <a:sym typeface="Quattrocento Sans"/>
                        </a:rPr>
                        <a:t>, </a:t>
                      </a:r>
                      <a:r>
                        <a:rPr lang="en-US" sz="1000" u="none" strike="noStrike" cap="none">
                          <a:solidFill>
                            <a:srgbClr val="1B1B1B"/>
                          </a:solidFill>
                          <a:latin typeface="Courier New"/>
                          <a:ea typeface="Courier New"/>
                          <a:cs typeface="Courier New"/>
                          <a:sym typeface="Courier New"/>
                        </a:rPr>
                        <a:t>move()</a:t>
                      </a:r>
                      <a:r>
                        <a:rPr lang="en-US" sz="1200" u="none" strike="noStrike" cap="none">
                          <a:solidFill>
                            <a:srgbClr val="1B1B1B"/>
                          </a:solidFill>
                          <a:highlight>
                            <a:srgbClr val="FFFFFF"/>
                          </a:highlight>
                          <a:latin typeface="Quattrocento Sans"/>
                          <a:ea typeface="Quattrocento Sans"/>
                          <a:cs typeface="Quattrocento Sans"/>
                          <a:sym typeface="Quattrocento Sans"/>
                        </a:rPr>
                        <a:t>, </a:t>
                      </a:r>
                      <a:r>
                        <a:rPr lang="en-US" sz="1000" u="none" strike="noStrike" cap="none">
                          <a:solidFill>
                            <a:srgbClr val="1B1B1B"/>
                          </a:solidFill>
                          <a:latin typeface="Courier New"/>
                          <a:ea typeface="Courier New"/>
                          <a:cs typeface="Courier New"/>
                          <a:sym typeface="Courier New"/>
                        </a:rPr>
                        <a:t>m-search()</a:t>
                      </a:r>
                      <a:r>
                        <a:rPr lang="en-US" sz="1200" u="none" strike="noStrike" cap="none">
                          <a:solidFill>
                            <a:srgbClr val="1B1B1B"/>
                          </a:solidFill>
                          <a:highlight>
                            <a:srgbClr val="FFFFFF"/>
                          </a:highlight>
                          <a:latin typeface="Quattrocento Sans"/>
                          <a:ea typeface="Quattrocento Sans"/>
                          <a:cs typeface="Quattrocento Sans"/>
                          <a:sym typeface="Quattrocento Sans"/>
                        </a:rPr>
                        <a:t>, </a:t>
                      </a:r>
                      <a:r>
                        <a:rPr lang="en-US" sz="1000" u="none" strike="noStrike" cap="none">
                          <a:solidFill>
                            <a:srgbClr val="1B1B1B"/>
                          </a:solidFill>
                          <a:latin typeface="Courier New"/>
                          <a:ea typeface="Courier New"/>
                          <a:cs typeface="Courier New"/>
                          <a:sym typeface="Courier New"/>
                        </a:rPr>
                        <a:t>notify()</a:t>
                      </a:r>
                      <a:r>
                        <a:rPr lang="en-US" sz="1200" u="none" strike="noStrike" cap="none">
                          <a:solidFill>
                            <a:srgbClr val="1B1B1B"/>
                          </a:solidFill>
                          <a:highlight>
                            <a:srgbClr val="FFFFFF"/>
                          </a:highlight>
                          <a:latin typeface="Quattrocento Sans"/>
                          <a:ea typeface="Quattrocento Sans"/>
                          <a:cs typeface="Quattrocento Sans"/>
                          <a:sym typeface="Quattrocento Sans"/>
                        </a:rPr>
                        <a:t>, </a:t>
                      </a:r>
                      <a:r>
                        <a:rPr lang="en-US" sz="1000" u="none" strike="noStrike" cap="none">
                          <a:solidFill>
                            <a:srgbClr val="1B1B1B"/>
                          </a:solidFill>
                          <a:latin typeface="Courier New"/>
                          <a:ea typeface="Courier New"/>
                          <a:cs typeface="Courier New"/>
                          <a:sym typeface="Courier New"/>
                        </a:rPr>
                        <a:t>options()</a:t>
                      </a:r>
                      <a:r>
                        <a:rPr lang="en-US" sz="1200" u="none" strike="noStrike" cap="none">
                          <a:solidFill>
                            <a:srgbClr val="1B1B1B"/>
                          </a:solidFill>
                          <a:highlight>
                            <a:srgbClr val="FFFFFF"/>
                          </a:highlight>
                          <a:latin typeface="Quattrocento Sans"/>
                          <a:ea typeface="Quattrocento Sans"/>
                          <a:cs typeface="Quattrocento Sans"/>
                          <a:sym typeface="Quattrocento Sans"/>
                        </a:rPr>
                        <a:t>, </a:t>
                      </a:r>
                      <a:r>
                        <a:rPr lang="en-US" sz="1000" u="none" strike="noStrike" cap="none">
                          <a:solidFill>
                            <a:srgbClr val="1B1B1B"/>
                          </a:solidFill>
                          <a:latin typeface="Courier New"/>
                          <a:ea typeface="Courier New"/>
                          <a:cs typeface="Courier New"/>
                          <a:sym typeface="Courier New"/>
                        </a:rPr>
                        <a:t>patch()</a:t>
                      </a:r>
                      <a:r>
                        <a:rPr lang="en-US" sz="1200" u="none" strike="noStrike" cap="none">
                          <a:solidFill>
                            <a:srgbClr val="1B1B1B"/>
                          </a:solidFill>
                          <a:highlight>
                            <a:srgbClr val="FFFFFF"/>
                          </a:highlight>
                          <a:latin typeface="Quattrocento Sans"/>
                          <a:ea typeface="Quattrocento Sans"/>
                          <a:cs typeface="Quattrocento Sans"/>
                          <a:sym typeface="Quattrocento Sans"/>
                        </a:rPr>
                        <a:t>, </a:t>
                      </a:r>
                      <a:r>
                        <a:rPr lang="en-US" sz="1000" b="1" u="none" strike="noStrike" cap="none">
                          <a:solidFill>
                            <a:srgbClr val="1B1B1B"/>
                          </a:solidFill>
                          <a:highlight>
                            <a:srgbClr val="FFFFFF"/>
                          </a:highlight>
                          <a:latin typeface="Courier New"/>
                          <a:ea typeface="Courier New"/>
                          <a:cs typeface="Courier New"/>
                          <a:sym typeface="Courier New"/>
                        </a:rPr>
                        <a:t>post()</a:t>
                      </a:r>
                      <a:r>
                        <a:rPr lang="en-US" sz="1200" u="none" strike="noStrike" cap="none">
                          <a:solidFill>
                            <a:srgbClr val="1B1B1B"/>
                          </a:solidFill>
                          <a:highlight>
                            <a:srgbClr val="FFFFFF"/>
                          </a:highlight>
                          <a:latin typeface="Quattrocento Sans"/>
                          <a:ea typeface="Quattrocento Sans"/>
                          <a:cs typeface="Quattrocento Sans"/>
                          <a:sym typeface="Quattrocento Sans"/>
                        </a:rPr>
                        <a:t>, </a:t>
                      </a:r>
                      <a:r>
                        <a:rPr lang="en-US" sz="1000" u="none" strike="noStrike" cap="none">
                          <a:solidFill>
                            <a:srgbClr val="1B1B1B"/>
                          </a:solidFill>
                          <a:latin typeface="Courier New"/>
                          <a:ea typeface="Courier New"/>
                          <a:cs typeface="Courier New"/>
                          <a:sym typeface="Courier New"/>
                        </a:rPr>
                        <a:t>purge()</a:t>
                      </a:r>
                      <a:r>
                        <a:rPr lang="en-US" sz="1200" u="none" strike="noStrike" cap="none">
                          <a:solidFill>
                            <a:srgbClr val="1B1B1B"/>
                          </a:solidFill>
                          <a:highlight>
                            <a:srgbClr val="FFFFFF"/>
                          </a:highlight>
                          <a:latin typeface="Quattrocento Sans"/>
                          <a:ea typeface="Quattrocento Sans"/>
                          <a:cs typeface="Quattrocento Sans"/>
                          <a:sym typeface="Quattrocento Sans"/>
                        </a:rPr>
                        <a:t>, </a:t>
                      </a:r>
                      <a:r>
                        <a:rPr lang="en-US" sz="1000" b="1" u="none" strike="noStrike" cap="none">
                          <a:solidFill>
                            <a:srgbClr val="1B1B1B"/>
                          </a:solidFill>
                          <a:highlight>
                            <a:srgbClr val="FFFFFF"/>
                          </a:highlight>
                          <a:latin typeface="Courier New"/>
                          <a:ea typeface="Courier New"/>
                          <a:cs typeface="Courier New"/>
                          <a:sym typeface="Courier New"/>
                        </a:rPr>
                        <a:t>put()</a:t>
                      </a:r>
                      <a:r>
                        <a:rPr lang="en-US" sz="1200" u="none" strike="noStrike" cap="none">
                          <a:solidFill>
                            <a:srgbClr val="1B1B1B"/>
                          </a:solidFill>
                          <a:highlight>
                            <a:srgbClr val="FFFFFF"/>
                          </a:highlight>
                          <a:latin typeface="Quattrocento Sans"/>
                          <a:ea typeface="Quattrocento Sans"/>
                          <a:cs typeface="Quattrocento Sans"/>
                          <a:sym typeface="Quattrocento Sans"/>
                        </a:rPr>
                        <a:t>, </a:t>
                      </a:r>
                      <a:r>
                        <a:rPr lang="en-US" sz="1000" u="none" strike="noStrike" cap="none">
                          <a:solidFill>
                            <a:srgbClr val="1B1B1B"/>
                          </a:solidFill>
                          <a:latin typeface="Courier New"/>
                          <a:ea typeface="Courier New"/>
                          <a:cs typeface="Courier New"/>
                          <a:sym typeface="Courier New"/>
                        </a:rPr>
                        <a:t>report()</a:t>
                      </a:r>
                      <a:r>
                        <a:rPr lang="en-US" sz="1200" u="none" strike="noStrike" cap="none">
                          <a:solidFill>
                            <a:srgbClr val="1B1B1B"/>
                          </a:solidFill>
                          <a:highlight>
                            <a:srgbClr val="FFFFFF"/>
                          </a:highlight>
                          <a:latin typeface="Quattrocento Sans"/>
                          <a:ea typeface="Quattrocento Sans"/>
                          <a:cs typeface="Quattrocento Sans"/>
                          <a:sym typeface="Quattrocento Sans"/>
                        </a:rPr>
                        <a:t>, </a:t>
                      </a:r>
                      <a:r>
                        <a:rPr lang="en-US" sz="1000" u="none" strike="noStrike" cap="none">
                          <a:solidFill>
                            <a:srgbClr val="1B1B1B"/>
                          </a:solidFill>
                          <a:latin typeface="Courier New"/>
                          <a:ea typeface="Courier New"/>
                          <a:cs typeface="Courier New"/>
                          <a:sym typeface="Courier New"/>
                        </a:rPr>
                        <a:t>search()</a:t>
                      </a:r>
                      <a:r>
                        <a:rPr lang="en-US" sz="1200" u="none" strike="noStrike" cap="none">
                          <a:solidFill>
                            <a:srgbClr val="1B1B1B"/>
                          </a:solidFill>
                          <a:highlight>
                            <a:srgbClr val="FFFFFF"/>
                          </a:highlight>
                          <a:latin typeface="Quattrocento Sans"/>
                          <a:ea typeface="Quattrocento Sans"/>
                          <a:cs typeface="Quattrocento Sans"/>
                          <a:sym typeface="Quattrocento Sans"/>
                        </a:rPr>
                        <a:t>, </a:t>
                      </a:r>
                      <a:r>
                        <a:rPr lang="en-US" sz="1000" u="none" strike="noStrike" cap="none">
                          <a:solidFill>
                            <a:srgbClr val="1B1B1B"/>
                          </a:solidFill>
                          <a:latin typeface="Courier New"/>
                          <a:ea typeface="Courier New"/>
                          <a:cs typeface="Courier New"/>
                          <a:sym typeface="Courier New"/>
                        </a:rPr>
                        <a:t>subscribe()</a:t>
                      </a:r>
                      <a:r>
                        <a:rPr lang="en-US" sz="1200" u="none" strike="noStrike" cap="none">
                          <a:solidFill>
                            <a:srgbClr val="1B1B1B"/>
                          </a:solidFill>
                          <a:highlight>
                            <a:srgbClr val="FFFFFF"/>
                          </a:highlight>
                          <a:latin typeface="Quattrocento Sans"/>
                          <a:ea typeface="Quattrocento Sans"/>
                          <a:cs typeface="Quattrocento Sans"/>
                          <a:sym typeface="Quattrocento Sans"/>
                        </a:rPr>
                        <a:t>, </a:t>
                      </a:r>
                      <a:r>
                        <a:rPr lang="en-US" sz="1000" u="none" strike="noStrike" cap="none">
                          <a:solidFill>
                            <a:srgbClr val="1B1B1B"/>
                          </a:solidFill>
                          <a:latin typeface="Courier New"/>
                          <a:ea typeface="Courier New"/>
                          <a:cs typeface="Courier New"/>
                          <a:sym typeface="Courier New"/>
                        </a:rPr>
                        <a:t>trace()</a:t>
                      </a:r>
                      <a:r>
                        <a:rPr lang="en-US" sz="1200" u="none" strike="noStrike" cap="none">
                          <a:solidFill>
                            <a:srgbClr val="1B1B1B"/>
                          </a:solidFill>
                          <a:highlight>
                            <a:srgbClr val="FFFFFF"/>
                          </a:highlight>
                          <a:latin typeface="Quattrocento Sans"/>
                          <a:ea typeface="Quattrocento Sans"/>
                          <a:cs typeface="Quattrocento Sans"/>
                          <a:sym typeface="Quattrocento Sans"/>
                        </a:rPr>
                        <a:t>, </a:t>
                      </a:r>
                      <a:r>
                        <a:rPr lang="en-US" sz="1000" u="none" strike="noStrike" cap="none">
                          <a:solidFill>
                            <a:srgbClr val="1B1B1B"/>
                          </a:solidFill>
                          <a:latin typeface="Courier New"/>
                          <a:ea typeface="Courier New"/>
                          <a:cs typeface="Courier New"/>
                          <a:sym typeface="Courier New"/>
                        </a:rPr>
                        <a:t>unlock()</a:t>
                      </a:r>
                      <a:r>
                        <a:rPr lang="en-US" sz="1200" u="none" strike="noStrike" cap="none">
                          <a:solidFill>
                            <a:srgbClr val="1B1B1B"/>
                          </a:solidFill>
                          <a:highlight>
                            <a:srgbClr val="FFFFFF"/>
                          </a:highlight>
                          <a:latin typeface="Quattrocento Sans"/>
                          <a:ea typeface="Quattrocento Sans"/>
                          <a:cs typeface="Quattrocento Sans"/>
                          <a:sym typeface="Quattrocento Sans"/>
                        </a:rPr>
                        <a:t>, </a:t>
                      </a:r>
                      <a:r>
                        <a:rPr lang="en-US" sz="1000" u="none" strike="noStrike" cap="none">
                          <a:solidFill>
                            <a:srgbClr val="1B1B1B"/>
                          </a:solidFill>
                          <a:latin typeface="Courier New"/>
                          <a:ea typeface="Courier New"/>
                          <a:cs typeface="Courier New"/>
                          <a:sym typeface="Courier New"/>
                        </a:rPr>
                        <a:t>unsubscribe()</a:t>
                      </a:r>
                      <a:r>
                        <a:rPr lang="en-US" sz="1200" u="none" strike="noStrike" cap="none">
                          <a:solidFill>
                            <a:srgbClr val="1B1B1B"/>
                          </a:solidFill>
                          <a:highlight>
                            <a:srgbClr val="FFFFFF"/>
                          </a:highlight>
                          <a:latin typeface="Quattrocento Sans"/>
                          <a:ea typeface="Quattrocento Sans"/>
                          <a:cs typeface="Quattrocento Sans"/>
                          <a:sym typeface="Quattrocento Sans"/>
                        </a:rPr>
                        <a:t>.</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There is a special routing method, app.all(), which will be called in response to any HTTP method. This is used for loading middleware functions at a particular path for all request methods. The following example (from the Express documentation) shows a handler that will be executed for requests to /secret irrespective of the HTTP verb used (provided it is supported by the </a:t>
                      </a:r>
                      <a:r>
                        <a:rPr lang="en-US" sz="1200" u="sng" strike="noStrike" cap="none">
                          <a:solidFill>
                            <a:schemeClr val="hlink"/>
                          </a:solidFill>
                          <a:latin typeface="Times New Roman"/>
                          <a:ea typeface="Times New Roman"/>
                          <a:cs typeface="Times New Roman"/>
                          <a:sym typeface="Times New Roman"/>
                          <a:hlinkClick r:id="rId3"/>
                        </a:rPr>
                        <a:t>http module</a:t>
                      </a:r>
                      <a:r>
                        <a:rPr lang="en-US" sz="1200" u="none" strike="noStrike" cap="none">
                          <a:latin typeface="Times New Roman"/>
                          <a:ea typeface="Times New Roman"/>
                          <a:cs typeface="Times New Roman"/>
                          <a:sym typeface="Times New Roman"/>
                        </a:rPr>
                        <a:t>).</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0"/>
                  </a:ext>
                </a:extLst>
              </a:tr>
              <a:tr h="839529">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9CDCFE"/>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all</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'/secret'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function</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req</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next</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console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CDCAA"/>
                          </a:solidFill>
                          <a:latin typeface="Consolas"/>
                          <a:ea typeface="Consolas"/>
                          <a:cs typeface="Consolas"/>
                          <a:sym typeface="Consolas"/>
                        </a:rPr>
                        <a:t>log</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'Accessing the secret section ...'</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DCDCAA"/>
                          </a:solidFill>
                          <a:latin typeface="Consolas"/>
                          <a:ea typeface="Consolas"/>
                          <a:cs typeface="Consolas"/>
                          <a:sym typeface="Consolas"/>
                        </a:rPr>
                        <a:t>next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6A9955"/>
                          </a:solidFill>
                          <a:latin typeface="Consolas"/>
                          <a:ea typeface="Consolas"/>
                          <a:cs typeface="Consolas"/>
                          <a:sym typeface="Consolas"/>
                        </a:rPr>
                        <a:t>// pass control to the next handler</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tc>
                  <a:txBody>
                    <a:bodyPr/>
                    <a:lstStyle/>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1119382">
                <a:tc gridSpan="2">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Routes allow you to match particular patterns of characters in a URL, and extract some values from the URL and pass them as parameters to the route handler (as attributes of the request object passed as a parameter).</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Often it is useful to group route handlers for a particular part of a site together and access them using a common route-prefix (e.g. a site with a Wiki might have all wiki-related routes in one file and have them accessed with a route prefix of /wiki/). In Express this is achieved by using the </a:t>
                      </a:r>
                      <a:r>
                        <a:rPr lang="en-US" sz="1200" u="sng" strike="noStrike" cap="none" dirty="0" err="1">
                          <a:solidFill>
                            <a:schemeClr val="hlink"/>
                          </a:solidFill>
                          <a:latin typeface="Times New Roman"/>
                          <a:ea typeface="Times New Roman"/>
                          <a:cs typeface="Times New Roman"/>
                          <a:sym typeface="Times New Roman"/>
                          <a:hlinkClick r:id="rId4"/>
                        </a:rPr>
                        <a:t>express.Router</a:t>
                      </a:r>
                      <a:r>
                        <a:rPr lang="en-US" sz="1200" u="none" strike="noStrike" cap="none" dirty="0">
                          <a:latin typeface="Times New Roman"/>
                          <a:ea typeface="Times New Roman"/>
                          <a:cs typeface="Times New Roman"/>
                          <a:sym typeface="Times New Roman"/>
                        </a:rPr>
                        <a:t> object. For example, we can create our wiki route in a module named wiki.js, and then export the Router object, as shown below:</a:t>
                      </a:r>
                      <a:endParaRPr sz="12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2"/>
                  </a:ext>
                </a:extLst>
              </a:tr>
              <a:tr h="1679088">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6A9955"/>
                          </a:solidFill>
                          <a:latin typeface="Consolas"/>
                          <a:ea typeface="Consolas"/>
                          <a:cs typeface="Consolas"/>
                          <a:sym typeface="Consolas"/>
                        </a:rPr>
                        <a:t>// wiki.js - Wiki route module</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569CD6"/>
                          </a:solidFill>
                          <a:latin typeface="Consolas"/>
                          <a:ea typeface="Consolas"/>
                          <a:cs typeface="Consolas"/>
                          <a:sym typeface="Consolas"/>
                        </a:rPr>
                        <a:t>const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DCDCAA"/>
                          </a:solidFill>
                          <a:latin typeface="Consolas"/>
                          <a:ea typeface="Consolas"/>
                          <a:cs typeface="Consolas"/>
                          <a:sym typeface="Consolas"/>
                        </a:rPr>
                        <a:t>express</a:t>
                      </a:r>
                      <a:r>
                        <a:rPr lang="en-US" sz="1050" u="none" strike="noStrike" cap="none" dirty="0">
                          <a:solidFill>
                            <a:srgbClr val="D4D4D4"/>
                          </a:solidFill>
                          <a:latin typeface="Consolas"/>
                          <a:ea typeface="Consolas"/>
                          <a:cs typeface="Consolas"/>
                          <a:sym typeface="Consolas"/>
                        </a:rPr>
                        <a:t> = </a:t>
                      </a:r>
                      <a:r>
                        <a:rPr lang="en-US" sz="1050" u="none" strike="noStrike" cap="none" dirty="0">
                          <a:solidFill>
                            <a:srgbClr val="DCDCAA"/>
                          </a:solidFill>
                          <a:latin typeface="Consolas"/>
                          <a:ea typeface="Consolas"/>
                          <a:cs typeface="Consolas"/>
                          <a:sym typeface="Consolas"/>
                        </a:rPr>
                        <a:t>require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'express'</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569CD6"/>
                          </a:solidFill>
                          <a:latin typeface="Consolas"/>
                          <a:ea typeface="Consolas"/>
                          <a:cs typeface="Consolas"/>
                          <a:sym typeface="Consolas"/>
                        </a:rPr>
                        <a:t>const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4FC1FF"/>
                          </a:solidFill>
                          <a:latin typeface="Consolas"/>
                          <a:ea typeface="Consolas"/>
                          <a:cs typeface="Consolas"/>
                          <a:sym typeface="Consolas"/>
                        </a:rPr>
                        <a:t>router</a:t>
                      </a:r>
                      <a:r>
                        <a:rPr lang="en-US" sz="1050" u="none" strike="noStrike" cap="none" dirty="0">
                          <a:solidFill>
                            <a:srgbClr val="D4D4D4"/>
                          </a:solidFill>
                          <a:latin typeface="Consolas"/>
                          <a:ea typeface="Consolas"/>
                          <a:cs typeface="Consolas"/>
                          <a:sym typeface="Consolas"/>
                        </a:rPr>
                        <a:t> = </a:t>
                      </a:r>
                      <a:r>
                        <a:rPr lang="en-US" sz="1050" u="none" strike="noStrike" cap="none" dirty="0" err="1">
                          <a:solidFill>
                            <a:srgbClr val="DCDCAA"/>
                          </a:solidFill>
                          <a:latin typeface="Consolas"/>
                          <a:ea typeface="Consolas"/>
                          <a:cs typeface="Consolas"/>
                          <a:sym typeface="Consolas"/>
                        </a:rPr>
                        <a:t>express</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Router</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6A9955"/>
                          </a:solidFill>
                          <a:latin typeface="Consolas"/>
                          <a:ea typeface="Consolas"/>
                          <a:cs typeface="Consolas"/>
                          <a:sym typeface="Consolas"/>
                        </a:rPr>
                        <a:t>// Home page route</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4FC1FF"/>
                          </a:solidFill>
                          <a:latin typeface="Consolas"/>
                          <a:ea typeface="Consolas"/>
                          <a:cs typeface="Consolas"/>
                          <a:sym typeface="Consolas"/>
                        </a:rPr>
                        <a:t>router</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get</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function</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req</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res</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send</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'Wiki home page'</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228600" marR="0" lvl="0" indent="0" algn="l" rtl="0">
                        <a:lnSpc>
                          <a:spcPct val="100000"/>
                        </a:lnSpc>
                        <a:spcBef>
                          <a:spcPts val="0"/>
                        </a:spcBef>
                        <a:spcAft>
                          <a:spcPts val="0"/>
                        </a:spcAft>
                        <a:buClr>
                          <a:srgbClr val="000000"/>
                        </a:buClr>
                        <a:buSzPts val="1200"/>
                        <a:buFont typeface="Arial"/>
                        <a:buNone/>
                      </a:pPr>
                      <a:endParaRPr sz="12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6A9955"/>
                          </a:solidFill>
                          <a:latin typeface="Consolas"/>
                          <a:ea typeface="Consolas"/>
                          <a:cs typeface="Consolas"/>
                          <a:sym typeface="Consolas"/>
                        </a:rPr>
                        <a:t>// About page route</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4FC1FF"/>
                          </a:solidFill>
                          <a:latin typeface="Consolas"/>
                          <a:ea typeface="Consolas"/>
                          <a:cs typeface="Consolas"/>
                          <a:sym typeface="Consolas"/>
                        </a:rPr>
                        <a:t>router</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get</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'/about'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function</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req</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res</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send</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'About this wiki'</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4FC1FF"/>
                          </a:solidFill>
                          <a:latin typeface="Consolas"/>
                          <a:ea typeface="Consolas"/>
                          <a:cs typeface="Consolas"/>
                          <a:sym typeface="Consolas"/>
                        </a:rPr>
                        <a:t>module</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4FC1FF"/>
                          </a:solidFill>
                          <a:latin typeface="Consolas"/>
                          <a:ea typeface="Consolas"/>
                          <a:cs typeface="Consolas"/>
                          <a:sym typeface="Consolas"/>
                        </a:rPr>
                        <a:t>exports</a:t>
                      </a:r>
                      <a:r>
                        <a:rPr lang="en-US" sz="1050" u="none" strike="noStrike" cap="none" dirty="0">
                          <a:solidFill>
                            <a:srgbClr val="D4D4D4"/>
                          </a:solidFill>
                          <a:latin typeface="Consolas"/>
                          <a:ea typeface="Consolas"/>
                          <a:cs typeface="Consolas"/>
                          <a:sym typeface="Consolas"/>
                        </a:rPr>
                        <a:t> = </a:t>
                      </a:r>
                      <a:r>
                        <a:rPr lang="en-US" sz="1050" u="none" strike="noStrike" cap="none" dirty="0">
                          <a:solidFill>
                            <a:srgbClr val="4FC1FF"/>
                          </a:solidFill>
                          <a:latin typeface="Consolas"/>
                          <a:ea typeface="Consolas"/>
                          <a:cs typeface="Consolas"/>
                          <a:sym typeface="Consolas"/>
                        </a:rPr>
                        <a:t>router</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6A9955"/>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5"/>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266" name="Google Shape;266;p35"/>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67" name="Google Shape;267;p35"/>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13</a:t>
            </a:fld>
            <a:endParaRPr/>
          </a:p>
        </p:txBody>
      </p:sp>
      <p:graphicFrame>
        <p:nvGraphicFramePr>
          <p:cNvPr id="268" name="Google Shape;268;p35"/>
          <p:cNvGraphicFramePr/>
          <p:nvPr>
            <p:extLst>
              <p:ext uri="{D42A27DB-BD31-4B8C-83A1-F6EECF244321}">
                <p14:modId xmlns:p14="http://schemas.microsoft.com/office/powerpoint/2010/main" val="79679813"/>
              </p:ext>
            </p:extLst>
          </p:nvPr>
        </p:nvGraphicFramePr>
        <p:xfrm>
          <a:off x="1066788" y="2046895"/>
          <a:ext cx="10816818" cy="4709070"/>
        </p:xfrm>
        <a:graphic>
          <a:graphicData uri="http://schemas.openxmlformats.org/drawingml/2006/table">
            <a:tbl>
              <a:tblPr>
                <a:noFill/>
                <a:tableStyleId>{99CD84AF-14CF-470D-B69C-EB98024C896D}</a:tableStyleId>
              </a:tblPr>
              <a:tblGrid>
                <a:gridCol w="10816818">
                  <a:extLst>
                    <a:ext uri="{9D8B030D-6E8A-4147-A177-3AD203B41FA5}">
                      <a16:colId xmlns:a16="http://schemas.microsoft.com/office/drawing/2014/main" val="20000"/>
                    </a:ext>
                  </a:extLst>
                </a:gridCol>
              </a:tblGrid>
              <a:tr h="773516">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300" u="none" strike="noStrike" cap="none" dirty="0">
                          <a:latin typeface="Times New Roman"/>
                          <a:ea typeface="Times New Roman"/>
                          <a:cs typeface="Times New Roman"/>
                          <a:sym typeface="Times New Roman"/>
                        </a:rPr>
                        <a:t>Adding routes to the Router object is just like adding routes to the app object (as shown previously).</a:t>
                      </a:r>
                      <a:endParaRPr sz="13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300" u="none" strike="noStrike" cap="none" dirty="0">
                          <a:latin typeface="Times New Roman"/>
                          <a:ea typeface="Times New Roman"/>
                          <a:cs typeface="Times New Roman"/>
                          <a:sym typeface="Times New Roman"/>
                        </a:rPr>
                        <a:t>To use the router in our main app file we would then require() the route module (wiki.js), then call use() on the Express application to add the Router to the middleware handling path. </a:t>
                      </a:r>
                      <a:r>
                        <a:rPr lang="en-US" sz="1300" u="sng" strike="noStrike" cap="none" dirty="0">
                          <a:latin typeface="Times New Roman"/>
                          <a:ea typeface="Times New Roman"/>
                          <a:cs typeface="Times New Roman"/>
                          <a:sym typeface="Times New Roman"/>
                        </a:rPr>
                        <a:t>The two routes will then be accessible from /wiki/ and /wiki/about/</a:t>
                      </a:r>
                      <a:endParaRPr sz="1300" u="sng"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773516">
                <a:tc>
                  <a:txBody>
                    <a:bodyPr/>
                    <a:lstStyle/>
                    <a:p>
                      <a:pPr marL="0" marR="0" lvl="0" indent="0" algn="l" rtl="0">
                        <a:lnSpc>
                          <a:spcPct val="100000"/>
                        </a:lnSpc>
                        <a:spcBef>
                          <a:spcPts val="0"/>
                        </a:spcBef>
                        <a:spcAft>
                          <a:spcPts val="0"/>
                        </a:spcAft>
                        <a:buClr>
                          <a:srgbClr val="000000"/>
                        </a:buClr>
                        <a:buSzPts val="1050"/>
                        <a:buFont typeface="Arial"/>
                        <a:buNone/>
                      </a:pPr>
                      <a:r>
                        <a:rPr lang="en-US" sz="1300" u="none" strike="noStrike" cap="none" dirty="0" err="1">
                          <a:solidFill>
                            <a:srgbClr val="569CD6"/>
                          </a:solidFill>
                          <a:latin typeface="Consolas"/>
                          <a:ea typeface="Consolas"/>
                          <a:cs typeface="Consolas"/>
                          <a:sym typeface="Consolas"/>
                        </a:rPr>
                        <a:t>const</a:t>
                      </a:r>
                      <a:r>
                        <a:rPr lang="en-US" sz="1300" u="none" strike="noStrike" cap="none" dirty="0">
                          <a:solidFill>
                            <a:srgbClr val="D4D4D4"/>
                          </a:solidFill>
                          <a:latin typeface="Consolas"/>
                          <a:ea typeface="Consolas"/>
                          <a:cs typeface="Consolas"/>
                          <a:sym typeface="Consolas"/>
                        </a:rPr>
                        <a:t> </a:t>
                      </a:r>
                      <a:r>
                        <a:rPr lang="en-US" sz="1300" u="none" strike="noStrike" cap="none" dirty="0">
                          <a:solidFill>
                            <a:srgbClr val="4FC1FF"/>
                          </a:solidFill>
                          <a:latin typeface="Consolas"/>
                          <a:ea typeface="Consolas"/>
                          <a:cs typeface="Consolas"/>
                          <a:sym typeface="Consolas"/>
                        </a:rPr>
                        <a:t>wiki</a:t>
                      </a:r>
                      <a:r>
                        <a:rPr lang="en-US" sz="1300" u="none" strike="noStrike" cap="none" dirty="0">
                          <a:solidFill>
                            <a:srgbClr val="D4D4D4"/>
                          </a:solidFill>
                          <a:latin typeface="Consolas"/>
                          <a:ea typeface="Consolas"/>
                          <a:cs typeface="Consolas"/>
                          <a:sym typeface="Consolas"/>
                        </a:rPr>
                        <a:t> = </a:t>
                      </a:r>
                      <a:r>
                        <a:rPr lang="en-US" sz="1300" u="none" strike="noStrike" cap="none" dirty="0">
                          <a:solidFill>
                            <a:srgbClr val="DCDCAA"/>
                          </a:solidFill>
                          <a:latin typeface="Consolas"/>
                          <a:ea typeface="Consolas"/>
                          <a:cs typeface="Consolas"/>
                          <a:sym typeface="Consolas"/>
                        </a:rPr>
                        <a:t>require</a:t>
                      </a:r>
                      <a:r>
                        <a:rPr lang="en-US" sz="1300" u="none" strike="noStrike" cap="none" dirty="0">
                          <a:solidFill>
                            <a:srgbClr val="D4D4D4"/>
                          </a:solidFill>
                          <a:latin typeface="Consolas"/>
                          <a:ea typeface="Consolas"/>
                          <a:cs typeface="Consolas"/>
                          <a:sym typeface="Consolas"/>
                        </a:rPr>
                        <a:t>(</a:t>
                      </a:r>
                      <a:r>
                        <a:rPr lang="en-US" sz="1300" u="none" strike="noStrike" cap="none" dirty="0">
                          <a:solidFill>
                            <a:srgbClr val="CE9178"/>
                          </a:solidFill>
                          <a:latin typeface="Consolas"/>
                          <a:ea typeface="Consolas"/>
                          <a:cs typeface="Consolas"/>
                          <a:sym typeface="Consolas"/>
                        </a:rPr>
                        <a:t>'./wiki.js'</a:t>
                      </a:r>
                      <a:r>
                        <a:rPr lang="en-US" sz="1300" u="none" strike="noStrike" cap="none" dirty="0">
                          <a:solidFill>
                            <a:srgbClr val="D4D4D4"/>
                          </a:solidFill>
                          <a:latin typeface="Consolas"/>
                          <a:ea typeface="Consolas"/>
                          <a:cs typeface="Consolas"/>
                          <a:sym typeface="Consolas"/>
                        </a:rPr>
                        <a:t>);</a:t>
                      </a:r>
                      <a:endParaRPr sz="13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300" u="none" strike="noStrike" cap="none" dirty="0">
                          <a:solidFill>
                            <a:srgbClr val="6A9955"/>
                          </a:solidFill>
                          <a:latin typeface="Consolas"/>
                          <a:ea typeface="Consolas"/>
                          <a:cs typeface="Consolas"/>
                          <a:sym typeface="Consolas"/>
                        </a:rPr>
                        <a:t>// ...</a:t>
                      </a:r>
                      <a:endParaRPr sz="13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300" u="none" strike="noStrike" cap="none" dirty="0" err="1">
                          <a:solidFill>
                            <a:srgbClr val="9CDCFE"/>
                          </a:solidFill>
                          <a:latin typeface="Consolas"/>
                          <a:ea typeface="Consolas"/>
                          <a:cs typeface="Consolas"/>
                          <a:sym typeface="Consolas"/>
                        </a:rPr>
                        <a:t>app</a:t>
                      </a:r>
                      <a:r>
                        <a:rPr lang="en-US" sz="1300" u="none" strike="noStrike" cap="none" dirty="0" err="1">
                          <a:solidFill>
                            <a:srgbClr val="D4D4D4"/>
                          </a:solidFill>
                          <a:latin typeface="Consolas"/>
                          <a:ea typeface="Consolas"/>
                          <a:cs typeface="Consolas"/>
                          <a:sym typeface="Consolas"/>
                        </a:rPr>
                        <a:t>.</a:t>
                      </a:r>
                      <a:r>
                        <a:rPr lang="en-US" sz="1300" u="none" strike="noStrike" cap="none" dirty="0" err="1">
                          <a:solidFill>
                            <a:srgbClr val="DCDCAA"/>
                          </a:solidFill>
                          <a:latin typeface="Consolas"/>
                          <a:ea typeface="Consolas"/>
                          <a:cs typeface="Consolas"/>
                          <a:sym typeface="Consolas"/>
                        </a:rPr>
                        <a:t>use</a:t>
                      </a:r>
                      <a:r>
                        <a:rPr lang="en-US" sz="1300" u="none" strike="noStrike" cap="none" dirty="0">
                          <a:solidFill>
                            <a:srgbClr val="D4D4D4"/>
                          </a:solidFill>
                          <a:latin typeface="Consolas"/>
                          <a:ea typeface="Consolas"/>
                          <a:cs typeface="Consolas"/>
                          <a:sym typeface="Consolas"/>
                        </a:rPr>
                        <a:t>(</a:t>
                      </a:r>
                      <a:r>
                        <a:rPr lang="en-US" sz="1300" u="none" strike="noStrike" cap="none" dirty="0">
                          <a:solidFill>
                            <a:srgbClr val="CE9178"/>
                          </a:solidFill>
                          <a:latin typeface="Consolas"/>
                          <a:ea typeface="Consolas"/>
                          <a:cs typeface="Consolas"/>
                          <a:sym typeface="Consolas"/>
                        </a:rPr>
                        <a:t>'/wiki'</a:t>
                      </a:r>
                      <a:r>
                        <a:rPr lang="en-US" sz="1300" u="none" strike="noStrike" cap="none" dirty="0">
                          <a:solidFill>
                            <a:srgbClr val="D4D4D4"/>
                          </a:solidFill>
                          <a:latin typeface="Consolas"/>
                          <a:ea typeface="Consolas"/>
                          <a:cs typeface="Consolas"/>
                          <a:sym typeface="Consolas"/>
                        </a:rPr>
                        <a:t>, </a:t>
                      </a:r>
                      <a:r>
                        <a:rPr lang="en-US" sz="1300" u="none" strike="noStrike" cap="none" dirty="0">
                          <a:solidFill>
                            <a:srgbClr val="9CDCFE"/>
                          </a:solidFill>
                          <a:latin typeface="Consolas"/>
                          <a:ea typeface="Consolas"/>
                          <a:cs typeface="Consolas"/>
                          <a:sym typeface="Consolas"/>
                        </a:rPr>
                        <a:t>wiki</a:t>
                      </a:r>
                      <a:r>
                        <a:rPr lang="en-US" sz="1300" u="none" strike="noStrike" cap="none" dirty="0">
                          <a:solidFill>
                            <a:srgbClr val="D4D4D4"/>
                          </a:solidFill>
                          <a:latin typeface="Consolas"/>
                          <a:ea typeface="Consolas"/>
                          <a:cs typeface="Consolas"/>
                          <a:sym typeface="Consolas"/>
                        </a:rPr>
                        <a:t>);</a:t>
                      </a:r>
                      <a:endParaRPr sz="130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2707385">
                <a:tc>
                  <a:txBody>
                    <a:bodyPr/>
                    <a:lstStyle/>
                    <a:p>
                      <a:pPr marL="0" marR="0" lvl="0" indent="0" algn="l" rtl="0">
                        <a:lnSpc>
                          <a:spcPct val="100000"/>
                        </a:lnSpc>
                        <a:spcBef>
                          <a:spcPts val="0"/>
                        </a:spcBef>
                        <a:spcAft>
                          <a:spcPts val="0"/>
                        </a:spcAft>
                        <a:buClr>
                          <a:srgbClr val="000000"/>
                        </a:buClr>
                        <a:buSzPts val="1200"/>
                        <a:buFont typeface="Arial"/>
                        <a:buNone/>
                      </a:pPr>
                      <a:r>
                        <a:rPr lang="en-US" sz="1300" b="1" u="sng" strike="noStrike" cap="none" dirty="0" err="1">
                          <a:latin typeface="Times New Roman"/>
                          <a:ea typeface="Times New Roman"/>
                          <a:cs typeface="Times New Roman"/>
                          <a:sym typeface="Times New Roman"/>
                        </a:rPr>
                        <a:t>Middlewares</a:t>
                      </a:r>
                      <a:endParaRPr sz="1300" b="1" u="sng"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300" u="none" strike="noStrike" cap="none" dirty="0">
                          <a:latin typeface="Times New Roman"/>
                          <a:ea typeface="Times New Roman"/>
                          <a:cs typeface="Times New Roman"/>
                          <a:sym typeface="Times New Roman"/>
                        </a:rPr>
                        <a:t>Conceptually, middleware is a way to encapsulate functionality: specifically, functionality that operates on an HTTP request to your application. Practically, a middleware is simply a function that takes three arguments: a request object, a response object, and a “next” function, which will be explained shortly.</a:t>
                      </a:r>
                      <a:endParaRPr sz="13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300" u="none" strike="noStrike" cap="none" dirty="0">
                          <a:latin typeface="Times New Roman"/>
                          <a:ea typeface="Times New Roman"/>
                          <a:cs typeface="Times New Roman"/>
                          <a:sym typeface="Times New Roman"/>
                        </a:rPr>
                        <a:t>Middleware is executed in what’s known as a pipeline. You can imagine a physical pipe, carrying water. The water gets pumped in at one end, and then there are gauges and valves before the water gets where it’s going. The important part about this analogy is that order matters: if you put a pressure gauge before a valve, it has a different effect than if you put the pressure gauge after the valve.</a:t>
                      </a:r>
                      <a:endParaRPr sz="13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300" u="none" strike="noStrike" cap="none" dirty="0">
                          <a:latin typeface="Times New Roman"/>
                          <a:ea typeface="Times New Roman"/>
                          <a:cs typeface="Times New Roman"/>
                          <a:sym typeface="Times New Roman"/>
                        </a:rPr>
                        <a:t>Similarly, if you have a valve that injects something into the water, everything “downstream” from that valve will contain the added ingredient. In an Express app, you insert middleware into the pipeline by calling </a:t>
                      </a:r>
                      <a:r>
                        <a:rPr lang="en-US" sz="1300" u="none" strike="noStrike" cap="none" dirty="0" err="1">
                          <a:latin typeface="Times New Roman"/>
                          <a:ea typeface="Times New Roman"/>
                          <a:cs typeface="Times New Roman"/>
                          <a:sym typeface="Times New Roman"/>
                        </a:rPr>
                        <a:t>app.use</a:t>
                      </a:r>
                      <a:r>
                        <a:rPr lang="en-US" sz="1300" u="none" strike="noStrike" cap="none" dirty="0">
                          <a:latin typeface="Times New Roman"/>
                          <a:ea typeface="Times New Roman"/>
                          <a:cs typeface="Times New Roman"/>
                          <a:sym typeface="Times New Roman"/>
                        </a:rPr>
                        <a:t>.</a:t>
                      </a:r>
                      <a:endParaRPr sz="13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300" u="none" strike="noStrike" cap="none" dirty="0">
                          <a:latin typeface="Times New Roman"/>
                          <a:ea typeface="Times New Roman"/>
                          <a:cs typeface="Times New Roman"/>
                          <a:sym typeface="Times New Roman"/>
                        </a:rPr>
                        <a:t>Middleware is used extensively in Express apps, for tasks from serving static files to error handling, to compressing HTTP responses. Whereas route functions end the HTTP request-response cycle by returning some response to the HTTP client, middleware functions typically perform some operation on the request or response and then call the next function in the "stack", which might be more middleware or a route handler. The order in which middleware is called is up to the app developer.</a:t>
                      </a:r>
                      <a:endParaRPr sz="13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300" u="none" strike="noStrike" cap="none" dirty="0">
                          <a:latin typeface="Times New Roman"/>
                          <a:ea typeface="Times New Roman"/>
                          <a:cs typeface="Times New Roman"/>
                          <a:sym typeface="Times New Roman"/>
                        </a:rPr>
                        <a:t>The middleware can perform any operation, execute any code, make changes to the request and response object, and it can also end the request-response cycle. If it does not end the cycle then it must call next() to pass control to the next middleware function (or the request will be left hanging).</a:t>
                      </a:r>
                      <a:endParaRPr sz="13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rgbClr val="FFFF00"/>
                    </a:solidFill>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p36"/>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274" name="Google Shape;274;p36"/>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75" name="Google Shape;275;p36"/>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14</a:t>
            </a:fld>
            <a:endParaRPr/>
          </a:p>
        </p:txBody>
      </p:sp>
      <p:graphicFrame>
        <p:nvGraphicFramePr>
          <p:cNvPr id="276" name="Google Shape;276;p36"/>
          <p:cNvGraphicFramePr/>
          <p:nvPr>
            <p:extLst>
              <p:ext uri="{D42A27DB-BD31-4B8C-83A1-F6EECF244321}">
                <p14:modId xmlns:p14="http://schemas.microsoft.com/office/powerpoint/2010/main" val="2028519394"/>
              </p:ext>
            </p:extLst>
          </p:nvPr>
        </p:nvGraphicFramePr>
        <p:xfrm>
          <a:off x="1066788" y="2074468"/>
          <a:ext cx="10816818" cy="4450050"/>
        </p:xfrm>
        <a:graphic>
          <a:graphicData uri="http://schemas.openxmlformats.org/drawingml/2006/table">
            <a:tbl>
              <a:tblPr>
                <a:noFill/>
                <a:tableStyleId>{99CD84AF-14CF-470D-B69C-EB98024C896D}</a:tableStyleId>
              </a:tblPr>
              <a:tblGrid>
                <a:gridCol w="10816818">
                  <a:extLst>
                    <a:ext uri="{9D8B030D-6E8A-4147-A177-3AD203B41FA5}">
                      <a16:colId xmlns:a16="http://schemas.microsoft.com/office/drawing/2014/main" val="20000"/>
                    </a:ext>
                  </a:extLst>
                </a:gridCol>
              </a:tblGrid>
              <a:tr h="35015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400" u="sng" strike="noStrike" cap="none" dirty="0">
                          <a:latin typeface="Times New Roman"/>
                          <a:ea typeface="Times New Roman"/>
                          <a:cs typeface="Times New Roman"/>
                          <a:sym typeface="Times New Roman"/>
                        </a:rPr>
                        <a:t>In </a:t>
                      </a:r>
                      <a:r>
                        <a:rPr lang="en-US" sz="1400" u="sng" strike="noStrike" cap="none">
                          <a:latin typeface="Times New Roman"/>
                          <a:ea typeface="Times New Roman"/>
                          <a:cs typeface="Times New Roman"/>
                          <a:sym typeface="Times New Roman"/>
                        </a:rPr>
                        <a:t>Express </a:t>
                      </a:r>
                      <a:r>
                        <a:rPr lang="en-US" sz="1400" u="sng" strike="noStrike" cap="none" smtClean="0">
                          <a:latin typeface="Times New Roman"/>
                          <a:ea typeface="Times New Roman"/>
                          <a:cs typeface="Times New Roman"/>
                          <a:sym typeface="Times New Roman"/>
                        </a:rPr>
                        <a:t>5.0</a:t>
                      </a:r>
                      <a:r>
                        <a:rPr lang="en-US" sz="1400" u="sng" strike="noStrike" cap="none" dirty="0">
                          <a:latin typeface="Times New Roman"/>
                          <a:ea typeface="Times New Roman"/>
                          <a:cs typeface="Times New Roman"/>
                          <a:sym typeface="Times New Roman"/>
                        </a:rPr>
                        <a:t>, middleware and route handlers are invoked in the order in which they were linked in, making it much clearer what the sequence is.</a:t>
                      </a:r>
                      <a:endParaRPr sz="1400" u="sng"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sng" strike="noStrike" cap="none" dirty="0">
                          <a:latin typeface="Times New Roman"/>
                          <a:ea typeface="Times New Roman"/>
                          <a:cs typeface="Times New Roman"/>
                          <a:sym typeface="Times New Roman"/>
                        </a:rPr>
                        <a:t>It’s common practice to have the very last middleware in your pipeline be a “catch all” handler for any request that doesn’t match any other routes. This middleware usually returns a status code of 404 (Not Found).</a:t>
                      </a:r>
                      <a:endParaRPr sz="1400" u="sng"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sng" strike="noStrike" cap="none" dirty="0">
                          <a:latin typeface="Times New Roman"/>
                          <a:ea typeface="Times New Roman"/>
                          <a:cs typeface="Times New Roman"/>
                          <a:sym typeface="Times New Roman"/>
                        </a:rPr>
                        <a:t>So how is a request “terminated” in the pipeline? That’s what the next function passed to each middleware does: if you don’t call next(), the request terminates with that middleware.</a:t>
                      </a:r>
                      <a:endParaRPr sz="1400" u="sng"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Learning how to think flexibly about middleware and route handlers is key to under‐ standing how Express works. Here are the things you should keep in mind:</a:t>
                      </a:r>
                      <a:endParaRPr sz="1400" u="none" strike="noStrike" cap="none" dirty="0">
                        <a:latin typeface="Times New Roman"/>
                        <a:ea typeface="Times New Roman"/>
                        <a:cs typeface="Times New Roman"/>
                        <a:sym typeface="Times New Roman"/>
                      </a:endParaRPr>
                    </a:p>
                    <a:p>
                      <a:pPr marL="9144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Route handlers (</a:t>
                      </a:r>
                      <a:r>
                        <a:rPr lang="en-US" sz="1400" u="none" strike="noStrike" cap="none" dirty="0" err="1">
                          <a:latin typeface="Times New Roman"/>
                          <a:ea typeface="Times New Roman"/>
                          <a:cs typeface="Times New Roman"/>
                          <a:sym typeface="Times New Roman"/>
                        </a:rPr>
                        <a:t>app.get</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app.post</a:t>
                      </a:r>
                      <a:r>
                        <a:rPr lang="en-US" sz="1400" u="none" strike="noStrike" cap="none" dirty="0">
                          <a:latin typeface="Times New Roman"/>
                          <a:ea typeface="Times New Roman"/>
                          <a:cs typeface="Times New Roman"/>
                          <a:sym typeface="Times New Roman"/>
                        </a:rPr>
                        <a:t>, etc.—often referred to collectively as </a:t>
                      </a:r>
                      <a:r>
                        <a:rPr lang="en-US" sz="1400" u="none" strike="noStrike" cap="none" dirty="0" err="1">
                          <a:latin typeface="Times New Roman"/>
                          <a:ea typeface="Times New Roman"/>
                          <a:cs typeface="Times New Roman"/>
                          <a:sym typeface="Times New Roman"/>
                        </a:rPr>
                        <a:t>app.VERB</a:t>
                      </a:r>
                      <a:r>
                        <a:rPr lang="en-US" sz="1400" u="none" strike="noStrike" cap="none" dirty="0">
                          <a:latin typeface="Times New Roman"/>
                          <a:ea typeface="Times New Roman"/>
                          <a:cs typeface="Times New Roman"/>
                          <a:sym typeface="Times New Roman"/>
                        </a:rPr>
                        <a:t>) can be thought of as middleware that handle only a specific HTTP verb (GET, POST, etc.). Conversely, middleware can be thought of as a route handler that handles all HTTP verbs (this is essentially equivalent to </a:t>
                      </a:r>
                      <a:r>
                        <a:rPr lang="en-US" sz="1400" u="none" strike="noStrike" cap="none" dirty="0" err="1">
                          <a:latin typeface="Times New Roman"/>
                          <a:ea typeface="Times New Roman"/>
                          <a:cs typeface="Times New Roman"/>
                          <a:sym typeface="Times New Roman"/>
                        </a:rPr>
                        <a:t>app.all</a:t>
                      </a:r>
                      <a:r>
                        <a:rPr lang="en-US" sz="1400" u="none" strike="noStrike" cap="none" dirty="0">
                          <a:latin typeface="Times New Roman"/>
                          <a:ea typeface="Times New Roman"/>
                          <a:cs typeface="Times New Roman"/>
                          <a:sym typeface="Times New Roman"/>
                        </a:rPr>
                        <a:t>, which handles any HTTP verb).</a:t>
                      </a:r>
                      <a:endParaRPr sz="1400" u="none" strike="noStrike" cap="none" dirty="0">
                        <a:latin typeface="Times New Roman"/>
                        <a:ea typeface="Times New Roman"/>
                        <a:cs typeface="Times New Roman"/>
                        <a:sym typeface="Times New Roman"/>
                      </a:endParaRPr>
                    </a:p>
                    <a:p>
                      <a:pPr marL="9144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Route handlers require a path as their first parameter. If you want that path to match any route, simply use /*. Middleware can also take a path as its first parameter, but it is optional (if it is omitted, it will match any path, as if you had specified /\*).</a:t>
                      </a:r>
                      <a:endParaRPr sz="1400" u="none" strike="noStrike" cap="none" dirty="0">
                        <a:latin typeface="Times New Roman"/>
                        <a:ea typeface="Times New Roman"/>
                        <a:cs typeface="Times New Roman"/>
                        <a:sym typeface="Times New Roman"/>
                      </a:endParaRPr>
                    </a:p>
                    <a:p>
                      <a:pPr marL="914400" marR="0" lvl="0" indent="-304800" algn="l" rtl="0">
                        <a:lnSpc>
                          <a:spcPct val="100000"/>
                        </a:lnSpc>
                        <a:spcBef>
                          <a:spcPts val="0"/>
                        </a:spcBef>
                        <a:spcAft>
                          <a:spcPts val="0"/>
                        </a:spcAft>
                        <a:buClr>
                          <a:srgbClr val="000000"/>
                        </a:buClr>
                        <a:buSzPts val="1200"/>
                        <a:buFont typeface="Noto Sans Symbols"/>
                        <a:buChar char="▪"/>
                      </a:pPr>
                      <a:r>
                        <a:rPr lang="en-US" sz="1400" u="sng" strike="noStrike" cap="none" dirty="0">
                          <a:latin typeface="Times New Roman"/>
                          <a:ea typeface="Times New Roman"/>
                          <a:cs typeface="Times New Roman"/>
                          <a:sym typeface="Times New Roman"/>
                        </a:rPr>
                        <a:t>Route handlers and middleware take a callback function that takes two, three, or four parameters (technically, you could also have zero or one parameters, but there is no sensible use for these forms). If there are two or three parameters, the first two parameters are the request and response objects, and the third </a:t>
                      </a:r>
                      <a:r>
                        <a:rPr lang="en-US" sz="1400" u="sng" strike="noStrike" cap="none" dirty="0" err="1">
                          <a:latin typeface="Times New Roman"/>
                          <a:ea typeface="Times New Roman"/>
                          <a:cs typeface="Times New Roman"/>
                          <a:sym typeface="Times New Roman"/>
                        </a:rPr>
                        <a:t>paramater</a:t>
                      </a:r>
                      <a:r>
                        <a:rPr lang="en-US" sz="1400" u="sng" strike="noStrike" cap="none" dirty="0">
                          <a:latin typeface="Times New Roman"/>
                          <a:ea typeface="Times New Roman"/>
                          <a:cs typeface="Times New Roman"/>
                          <a:sym typeface="Times New Roman"/>
                        </a:rPr>
                        <a:t> is the next function. If there are four parameters, it becomes an error-handling middle‐ ware.</a:t>
                      </a:r>
                      <a:endParaRPr sz="1400" u="sng" strike="noStrike" cap="none" dirty="0">
                        <a:latin typeface="Times New Roman"/>
                        <a:ea typeface="Times New Roman"/>
                        <a:cs typeface="Times New Roman"/>
                        <a:sym typeface="Times New Roman"/>
                      </a:endParaRPr>
                    </a:p>
                    <a:p>
                      <a:pPr marL="914400" marR="0" lvl="0" indent="-304800" algn="l" rtl="0">
                        <a:lnSpc>
                          <a:spcPct val="100000"/>
                        </a:lnSpc>
                        <a:spcBef>
                          <a:spcPts val="0"/>
                        </a:spcBef>
                        <a:spcAft>
                          <a:spcPts val="0"/>
                        </a:spcAft>
                        <a:buClr>
                          <a:srgbClr val="000000"/>
                        </a:buClr>
                        <a:buSzPts val="1200"/>
                        <a:buFont typeface="Noto Sans Symbols"/>
                        <a:buChar char="▪"/>
                      </a:pPr>
                      <a:r>
                        <a:rPr lang="en-US" sz="1400" u="sng" strike="noStrike" cap="none" dirty="0">
                          <a:latin typeface="Times New Roman"/>
                          <a:ea typeface="Times New Roman"/>
                          <a:cs typeface="Times New Roman"/>
                          <a:sym typeface="Times New Roman"/>
                        </a:rPr>
                        <a:t>If you don’t call next(), the pipeline will be terminated, and no more route handlers or middleware will be processed. If you don’t call next(), you should send a response to the client (</a:t>
                      </a:r>
                      <a:r>
                        <a:rPr lang="en-US" sz="1400" u="sng" strike="noStrike" cap="none" dirty="0" err="1">
                          <a:latin typeface="Times New Roman"/>
                          <a:ea typeface="Times New Roman"/>
                          <a:cs typeface="Times New Roman"/>
                          <a:sym typeface="Times New Roman"/>
                        </a:rPr>
                        <a:t>res.send</a:t>
                      </a:r>
                      <a:r>
                        <a:rPr lang="en-US" sz="1400" u="sng" strike="noStrike" cap="none" dirty="0">
                          <a:latin typeface="Times New Roman"/>
                          <a:ea typeface="Times New Roman"/>
                          <a:cs typeface="Times New Roman"/>
                          <a:sym typeface="Times New Roman"/>
                        </a:rPr>
                        <a:t>, </a:t>
                      </a:r>
                      <a:r>
                        <a:rPr lang="en-US" sz="1400" u="sng" strike="noStrike" cap="none" dirty="0" err="1">
                          <a:latin typeface="Times New Roman"/>
                          <a:ea typeface="Times New Roman"/>
                          <a:cs typeface="Times New Roman"/>
                          <a:sym typeface="Times New Roman"/>
                        </a:rPr>
                        <a:t>res.json</a:t>
                      </a:r>
                      <a:r>
                        <a:rPr lang="en-US" sz="1400" u="sng" strike="noStrike" cap="none" dirty="0">
                          <a:latin typeface="Times New Roman"/>
                          <a:ea typeface="Times New Roman"/>
                          <a:cs typeface="Times New Roman"/>
                          <a:sym typeface="Times New Roman"/>
                        </a:rPr>
                        <a:t>, </a:t>
                      </a:r>
                      <a:r>
                        <a:rPr lang="en-US" sz="1400" u="sng" strike="noStrike" cap="none" dirty="0" err="1">
                          <a:latin typeface="Times New Roman"/>
                          <a:ea typeface="Times New Roman"/>
                          <a:cs typeface="Times New Roman"/>
                          <a:sym typeface="Times New Roman"/>
                        </a:rPr>
                        <a:t>res.render</a:t>
                      </a:r>
                      <a:r>
                        <a:rPr lang="en-US" sz="1400" u="sng" strike="noStrike" cap="none" dirty="0">
                          <a:latin typeface="Times New Roman"/>
                          <a:ea typeface="Times New Roman"/>
                          <a:cs typeface="Times New Roman"/>
                          <a:sym typeface="Times New Roman"/>
                        </a:rPr>
                        <a:t>, etc.); if you don’t, the client will hang and eventually time out.</a:t>
                      </a:r>
                      <a:endParaRPr sz="1400" u="sng"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37"/>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282" name="Google Shape;282;p37"/>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83" name="Google Shape;283;p37"/>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15</a:t>
            </a:fld>
            <a:endParaRPr/>
          </a:p>
        </p:txBody>
      </p:sp>
      <p:graphicFrame>
        <p:nvGraphicFramePr>
          <p:cNvPr id="284" name="Google Shape;284;p37"/>
          <p:cNvGraphicFramePr/>
          <p:nvPr>
            <p:extLst>
              <p:ext uri="{D42A27DB-BD31-4B8C-83A1-F6EECF244321}">
                <p14:modId xmlns:p14="http://schemas.microsoft.com/office/powerpoint/2010/main" val="1228325376"/>
              </p:ext>
            </p:extLst>
          </p:nvPr>
        </p:nvGraphicFramePr>
        <p:xfrm>
          <a:off x="1066788" y="2077333"/>
          <a:ext cx="10816818" cy="4571910"/>
        </p:xfrm>
        <a:graphic>
          <a:graphicData uri="http://schemas.openxmlformats.org/drawingml/2006/table">
            <a:tbl>
              <a:tblPr>
                <a:noFill/>
                <a:tableStyleId>{99CD84AF-14CF-470D-B69C-EB98024C896D}</a:tableStyleId>
              </a:tblPr>
              <a:tblGrid>
                <a:gridCol w="10816818">
                  <a:extLst>
                    <a:ext uri="{9D8B030D-6E8A-4147-A177-3AD203B41FA5}">
                      <a16:colId xmlns:a16="http://schemas.microsoft.com/office/drawing/2014/main" val="20000"/>
                    </a:ext>
                  </a:extLst>
                </a:gridCol>
              </a:tblGrid>
              <a:tr h="350150">
                <a:tc>
                  <a:txBody>
                    <a:bodyPr/>
                    <a:lstStyle/>
                    <a:p>
                      <a:pPr marL="9144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If you do call next(), it’s generally inadvisable to send a response to the client. If you do, middleware or route handlers further down the pipeline will be executed, but any client responses they send will be ignored.</a:t>
                      </a:r>
                      <a:endParaRPr sz="16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50150">
                <a:tc>
                  <a:txBody>
                    <a:bodyPr/>
                    <a:lstStyle/>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err="1">
                          <a:solidFill>
                            <a:srgbClr val="9CDCFE"/>
                          </a:solidFill>
                          <a:latin typeface="Consolas"/>
                          <a:ea typeface="Consolas"/>
                          <a:cs typeface="Consolas"/>
                          <a:sym typeface="Consolas"/>
                        </a:rPr>
                        <a:t>app</a:t>
                      </a:r>
                      <a:r>
                        <a:rPr lang="en-US" sz="1200" u="none" strike="noStrike" cap="none" dirty="0" err="1">
                          <a:solidFill>
                            <a:srgbClr val="D4D4D4"/>
                          </a:solidFill>
                          <a:latin typeface="Consolas"/>
                          <a:ea typeface="Consolas"/>
                          <a:cs typeface="Consolas"/>
                          <a:sym typeface="Consolas"/>
                        </a:rPr>
                        <a:t>.</a:t>
                      </a:r>
                      <a:r>
                        <a:rPr lang="en-US" sz="1200" u="none" strike="noStrike" cap="none" dirty="0" err="1">
                          <a:solidFill>
                            <a:srgbClr val="DCDCAA"/>
                          </a:solidFill>
                          <a:latin typeface="Consolas"/>
                          <a:ea typeface="Consolas"/>
                          <a:cs typeface="Consolas"/>
                          <a:sym typeface="Consolas"/>
                        </a:rPr>
                        <a:t>use</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569CD6"/>
                          </a:solidFill>
                          <a:latin typeface="Consolas"/>
                          <a:ea typeface="Consolas"/>
                          <a:cs typeface="Consolas"/>
                          <a:sym typeface="Consolas"/>
                        </a:rPr>
                        <a:t>function</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9CDCFE"/>
                          </a:solidFill>
                          <a:latin typeface="Consolas"/>
                          <a:ea typeface="Consolas"/>
                          <a:cs typeface="Consolas"/>
                          <a:sym typeface="Consolas"/>
                        </a:rPr>
                        <a:t>req</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res</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next</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console</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DCDCAA"/>
                          </a:solidFill>
                          <a:latin typeface="Consolas"/>
                          <a:ea typeface="Consolas"/>
                          <a:cs typeface="Consolas"/>
                          <a:sym typeface="Consolas"/>
                        </a:rPr>
                        <a:t>log</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CE9178"/>
                          </a:solidFill>
                          <a:latin typeface="Consolas"/>
                          <a:ea typeface="Consolas"/>
                          <a:cs typeface="Consolas"/>
                          <a:sym typeface="Consolas"/>
                        </a:rPr>
                        <a:t>'processing request for "'</a:t>
                      </a:r>
                      <a:r>
                        <a:rPr lang="en-US" sz="1200" u="none" strike="noStrike" cap="none" dirty="0">
                          <a:solidFill>
                            <a:srgbClr val="D4D4D4"/>
                          </a:solidFill>
                          <a:latin typeface="Consolas"/>
                          <a:ea typeface="Consolas"/>
                          <a:cs typeface="Consolas"/>
                          <a:sym typeface="Consolas"/>
                        </a:rPr>
                        <a:t> + </a:t>
                      </a:r>
                      <a:r>
                        <a:rPr lang="en-US" sz="1200" u="none" strike="noStrike" cap="none" dirty="0">
                          <a:solidFill>
                            <a:srgbClr val="9CDCFE"/>
                          </a:solidFill>
                          <a:latin typeface="Consolas"/>
                          <a:ea typeface="Consolas"/>
                          <a:cs typeface="Consolas"/>
                          <a:sym typeface="Consolas"/>
                        </a:rPr>
                        <a:t>req</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9CDCFE"/>
                          </a:solidFill>
                          <a:latin typeface="Consolas"/>
                          <a:ea typeface="Consolas"/>
                          <a:cs typeface="Consolas"/>
                          <a:sym typeface="Consolas"/>
                        </a:rPr>
                        <a:t>url</a:t>
                      </a:r>
                      <a:r>
                        <a:rPr lang="en-US" sz="1200" u="none" strike="noStrike" cap="none" dirty="0">
                          <a:solidFill>
                            <a:srgbClr val="D4D4D4"/>
                          </a:solidFill>
                          <a:latin typeface="Consolas"/>
                          <a:ea typeface="Consolas"/>
                          <a:cs typeface="Consolas"/>
                          <a:sym typeface="Consolas"/>
                        </a:rPr>
                        <a:t> + </a:t>
                      </a:r>
                      <a:r>
                        <a:rPr lang="en-US" sz="1200" u="none" strike="noStrike" cap="none" dirty="0">
                          <a:solidFill>
                            <a:srgbClr val="CE9178"/>
                          </a:solidFill>
                          <a:latin typeface="Consolas"/>
                          <a:ea typeface="Consolas"/>
                          <a:cs typeface="Consolas"/>
                          <a:sym typeface="Consolas"/>
                        </a:rPr>
                        <a:t>'"....'</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DCDCAA"/>
                          </a:solidFill>
                          <a:latin typeface="Consolas"/>
                          <a:ea typeface="Consolas"/>
                          <a:cs typeface="Consolas"/>
                          <a:sym typeface="Consolas"/>
                        </a:rPr>
                        <a:t>next</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r>
                        <a:rPr lang="en-US" sz="1200" u="none" strike="noStrike" cap="none" dirty="0" err="1">
                          <a:solidFill>
                            <a:srgbClr val="9CDCFE"/>
                          </a:solidFill>
                          <a:latin typeface="Consolas"/>
                          <a:ea typeface="Consolas"/>
                          <a:cs typeface="Consolas"/>
                          <a:sym typeface="Consolas"/>
                        </a:rPr>
                        <a:t>app</a:t>
                      </a:r>
                      <a:r>
                        <a:rPr lang="en-US" sz="1200" u="none" strike="noStrike" cap="none" dirty="0" err="1">
                          <a:solidFill>
                            <a:srgbClr val="D4D4D4"/>
                          </a:solidFill>
                          <a:latin typeface="Consolas"/>
                          <a:ea typeface="Consolas"/>
                          <a:cs typeface="Consolas"/>
                          <a:sym typeface="Consolas"/>
                        </a:rPr>
                        <a:t>.</a:t>
                      </a:r>
                      <a:r>
                        <a:rPr lang="en-US" sz="1200" u="none" strike="noStrike" cap="none" dirty="0" err="1">
                          <a:solidFill>
                            <a:srgbClr val="DCDCAA"/>
                          </a:solidFill>
                          <a:latin typeface="Consolas"/>
                          <a:ea typeface="Consolas"/>
                          <a:cs typeface="Consolas"/>
                          <a:sym typeface="Consolas"/>
                        </a:rPr>
                        <a:t>use</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569CD6"/>
                          </a:solidFill>
                          <a:latin typeface="Consolas"/>
                          <a:ea typeface="Consolas"/>
                          <a:cs typeface="Consolas"/>
                          <a:sym typeface="Consolas"/>
                        </a:rPr>
                        <a:t>function</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9CDCFE"/>
                          </a:solidFill>
                          <a:latin typeface="Consolas"/>
                          <a:ea typeface="Consolas"/>
                          <a:cs typeface="Consolas"/>
                          <a:sym typeface="Consolas"/>
                        </a:rPr>
                        <a:t>req</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res</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next</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console</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DCDCAA"/>
                          </a:solidFill>
                          <a:latin typeface="Consolas"/>
                          <a:ea typeface="Consolas"/>
                          <a:cs typeface="Consolas"/>
                          <a:sym typeface="Consolas"/>
                        </a:rPr>
                        <a:t>log</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CE9178"/>
                          </a:solidFill>
                          <a:latin typeface="Consolas"/>
                          <a:ea typeface="Consolas"/>
                          <a:cs typeface="Consolas"/>
                          <a:sym typeface="Consolas"/>
                        </a:rPr>
                        <a:t>'terminating request'</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r>
                        <a:rPr lang="en-US" sz="1200" u="none" strike="noStrike" cap="none" dirty="0" err="1">
                          <a:solidFill>
                            <a:srgbClr val="9CDCFE"/>
                          </a:solidFill>
                          <a:latin typeface="Consolas"/>
                          <a:ea typeface="Consolas"/>
                          <a:cs typeface="Consolas"/>
                          <a:sym typeface="Consolas"/>
                        </a:rPr>
                        <a:t>res</a:t>
                      </a:r>
                      <a:r>
                        <a:rPr lang="en-US" sz="1200" u="none" strike="noStrike" cap="none" dirty="0" err="1">
                          <a:solidFill>
                            <a:srgbClr val="D4D4D4"/>
                          </a:solidFill>
                          <a:latin typeface="Consolas"/>
                          <a:ea typeface="Consolas"/>
                          <a:cs typeface="Consolas"/>
                          <a:sym typeface="Consolas"/>
                        </a:rPr>
                        <a:t>.</a:t>
                      </a:r>
                      <a:r>
                        <a:rPr lang="en-US" sz="1200" u="none" strike="noStrike" cap="none" dirty="0" err="1">
                          <a:solidFill>
                            <a:srgbClr val="DCDCAA"/>
                          </a:solidFill>
                          <a:latin typeface="Consolas"/>
                          <a:ea typeface="Consolas"/>
                          <a:cs typeface="Consolas"/>
                          <a:sym typeface="Consolas"/>
                        </a:rPr>
                        <a:t>send</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CE9178"/>
                          </a:solidFill>
                          <a:latin typeface="Consolas"/>
                          <a:ea typeface="Consolas"/>
                          <a:cs typeface="Consolas"/>
                          <a:sym typeface="Consolas"/>
                        </a:rPr>
                        <a:t>'thanks for playing!'</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6A9955"/>
                          </a:solidFill>
                          <a:latin typeface="Consolas"/>
                          <a:ea typeface="Consolas"/>
                          <a:cs typeface="Consolas"/>
                          <a:sym typeface="Consolas"/>
                        </a:rPr>
                        <a:t>// note that we do NOT call next() here...this terminates the request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r>
                        <a:rPr lang="en-US" sz="1200" u="none" strike="noStrike" cap="none" dirty="0" err="1">
                          <a:solidFill>
                            <a:srgbClr val="9CDCFE"/>
                          </a:solidFill>
                          <a:latin typeface="Consolas"/>
                          <a:ea typeface="Consolas"/>
                          <a:cs typeface="Consolas"/>
                          <a:sym typeface="Consolas"/>
                        </a:rPr>
                        <a:t>app</a:t>
                      </a:r>
                      <a:r>
                        <a:rPr lang="en-US" sz="1200" u="none" strike="noStrike" cap="none" dirty="0" err="1">
                          <a:solidFill>
                            <a:srgbClr val="D4D4D4"/>
                          </a:solidFill>
                          <a:latin typeface="Consolas"/>
                          <a:ea typeface="Consolas"/>
                          <a:cs typeface="Consolas"/>
                          <a:sym typeface="Consolas"/>
                        </a:rPr>
                        <a:t>.</a:t>
                      </a:r>
                      <a:r>
                        <a:rPr lang="en-US" sz="1200" u="none" strike="noStrike" cap="none" dirty="0" err="1">
                          <a:solidFill>
                            <a:srgbClr val="DCDCAA"/>
                          </a:solidFill>
                          <a:latin typeface="Consolas"/>
                          <a:ea typeface="Consolas"/>
                          <a:cs typeface="Consolas"/>
                          <a:sym typeface="Consolas"/>
                        </a:rPr>
                        <a:t>use</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569CD6"/>
                          </a:solidFill>
                          <a:latin typeface="Consolas"/>
                          <a:ea typeface="Consolas"/>
                          <a:cs typeface="Consolas"/>
                          <a:sym typeface="Consolas"/>
                        </a:rPr>
                        <a:t>function</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9CDCFE"/>
                          </a:solidFill>
                          <a:latin typeface="Consolas"/>
                          <a:ea typeface="Consolas"/>
                          <a:cs typeface="Consolas"/>
                          <a:sym typeface="Consolas"/>
                        </a:rPr>
                        <a:t>req</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res</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next</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console</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DCDCAA"/>
                          </a:solidFill>
                          <a:latin typeface="Consolas"/>
                          <a:ea typeface="Consolas"/>
                          <a:cs typeface="Consolas"/>
                          <a:sym typeface="Consolas"/>
                        </a:rPr>
                        <a:t>log</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CE9178"/>
                          </a:solidFill>
                          <a:latin typeface="Consolas"/>
                          <a:ea typeface="Consolas"/>
                          <a:cs typeface="Consolas"/>
                          <a:sym typeface="Consolas"/>
                        </a:rPr>
                        <a:t>'whoops, i</a:t>
                      </a:r>
                      <a:r>
                        <a:rPr lang="en-US" sz="1200" u="none" strike="noStrike" cap="none" dirty="0">
                          <a:solidFill>
                            <a:srgbClr val="D7BA7D"/>
                          </a:solidFill>
                          <a:latin typeface="Consolas"/>
                          <a:ea typeface="Consolas"/>
                          <a:cs typeface="Consolas"/>
                          <a:sym typeface="Consolas"/>
                        </a:rPr>
                        <a:t>\'</a:t>
                      </a:r>
                      <a:r>
                        <a:rPr lang="en-US" sz="1200" u="none" strike="noStrike" cap="none" dirty="0">
                          <a:solidFill>
                            <a:srgbClr val="CE9178"/>
                          </a:solidFill>
                          <a:latin typeface="Consolas"/>
                          <a:ea typeface="Consolas"/>
                          <a:cs typeface="Consolas"/>
                          <a:sym typeface="Consolas"/>
                        </a:rPr>
                        <a:t>ll never get called!'</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endParaRPr sz="16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r h="350150">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dirty="0">
                          <a:latin typeface="Times New Roman"/>
                          <a:ea typeface="Times New Roman"/>
                          <a:cs typeface="Times New Roman"/>
                          <a:sym typeface="Times New Roman"/>
                        </a:rPr>
                        <a:t>Here we have three </a:t>
                      </a:r>
                      <a:r>
                        <a:rPr lang="en-US" sz="1600" u="none" strike="noStrike" cap="none" dirty="0" err="1">
                          <a:latin typeface="Times New Roman"/>
                          <a:ea typeface="Times New Roman"/>
                          <a:cs typeface="Times New Roman"/>
                          <a:sym typeface="Times New Roman"/>
                        </a:rPr>
                        <a:t>middlewares</a:t>
                      </a:r>
                      <a:r>
                        <a:rPr lang="en-US" sz="1600" u="none" strike="noStrike" cap="none" dirty="0">
                          <a:latin typeface="Times New Roman"/>
                          <a:ea typeface="Times New Roman"/>
                          <a:cs typeface="Times New Roman"/>
                          <a:sym typeface="Times New Roman"/>
                        </a:rPr>
                        <a:t>. The first one simply logs a message to the console before passing on the request to the next middleware in the pipeline by calling next(). Then the next middleware actually handles the request. Note that if we omitted the </a:t>
                      </a:r>
                      <a:r>
                        <a:rPr lang="en-US" sz="1600" u="none" strike="noStrike" cap="none" dirty="0" err="1">
                          <a:latin typeface="Times New Roman"/>
                          <a:ea typeface="Times New Roman"/>
                          <a:cs typeface="Times New Roman"/>
                          <a:sym typeface="Times New Roman"/>
                        </a:rPr>
                        <a:t>res.send</a:t>
                      </a:r>
                      <a:r>
                        <a:rPr lang="en-US" sz="1600" u="none" strike="noStrike" cap="none" dirty="0">
                          <a:latin typeface="Times New Roman"/>
                          <a:ea typeface="Times New Roman"/>
                          <a:cs typeface="Times New Roman"/>
                          <a:sym typeface="Times New Roman"/>
                        </a:rPr>
                        <a:t> here, no response would ever be returned to the client. Eventually the client would time out. The last middleware will never execute, because all requests are terminated in the prior middleware.</a:t>
                      </a:r>
                      <a:endParaRPr sz="16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39"/>
          <p:cNvSpPr txBox="1">
            <a:spLocks noGrp="1"/>
          </p:cNvSpPr>
          <p:nvPr>
            <p:ph type="ftr" sz="quarter" idx="11"/>
          </p:nvPr>
        </p:nvSpPr>
        <p:spPr>
          <a:xfrm>
            <a:off x="4038600" y="281065"/>
            <a:ext cx="4114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298" name="Google Shape;298;p39"/>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16</a:t>
            </a:fld>
            <a:endParaRPr/>
          </a:p>
        </p:txBody>
      </p:sp>
      <p:graphicFrame>
        <p:nvGraphicFramePr>
          <p:cNvPr id="299" name="Google Shape;299;p39"/>
          <p:cNvGraphicFramePr/>
          <p:nvPr/>
        </p:nvGraphicFramePr>
        <p:xfrm>
          <a:off x="1017988" y="-22849"/>
          <a:ext cx="10156000" cy="6903690"/>
        </p:xfrm>
        <a:graphic>
          <a:graphicData uri="http://schemas.openxmlformats.org/drawingml/2006/table">
            <a:tbl>
              <a:tblPr>
                <a:noFill/>
                <a:tableStyleId>{99CD84AF-14CF-470D-B69C-EB98024C896D}</a:tableStyleId>
              </a:tblPr>
              <a:tblGrid>
                <a:gridCol w="5078000">
                  <a:extLst>
                    <a:ext uri="{9D8B030D-6E8A-4147-A177-3AD203B41FA5}">
                      <a16:colId xmlns:a16="http://schemas.microsoft.com/office/drawing/2014/main" val="20000"/>
                    </a:ext>
                  </a:extLst>
                </a:gridCol>
                <a:gridCol w="5078000">
                  <a:extLst>
                    <a:ext uri="{9D8B030D-6E8A-4147-A177-3AD203B41FA5}">
                      <a16:colId xmlns:a16="http://schemas.microsoft.com/office/drawing/2014/main" val="20001"/>
                    </a:ext>
                  </a:extLst>
                </a:gridCol>
              </a:tblGrid>
              <a:tr h="350150">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569CD6"/>
                          </a:solidFill>
                          <a:latin typeface="Consolas"/>
                          <a:ea typeface="Consolas"/>
                          <a:cs typeface="Consolas"/>
                          <a:sym typeface="Consolas"/>
                        </a:rPr>
                        <a:t>var</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app</a:t>
                      </a:r>
                      <a:r>
                        <a:rPr lang="en-US" sz="1050" u="none" strike="noStrike" cap="none" dirty="0">
                          <a:solidFill>
                            <a:srgbClr val="D4D4D4"/>
                          </a:solidFill>
                          <a:latin typeface="Consolas"/>
                          <a:ea typeface="Consolas"/>
                          <a:cs typeface="Consolas"/>
                          <a:sym typeface="Consolas"/>
                        </a:rPr>
                        <a:t> = </a:t>
                      </a:r>
                      <a:r>
                        <a:rPr lang="en-US" sz="1050" u="none" strike="noStrike" cap="none" dirty="0">
                          <a:solidFill>
                            <a:srgbClr val="DCDCAA"/>
                          </a:solidFill>
                          <a:latin typeface="Consolas"/>
                          <a:ea typeface="Consolas"/>
                          <a:cs typeface="Consolas"/>
                          <a:sym typeface="Consolas"/>
                        </a:rPr>
                        <a:t>require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'express'</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9CDCFE"/>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use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569CD6"/>
                          </a:solidFill>
                          <a:latin typeface="Consolas"/>
                          <a:ea typeface="Consolas"/>
                          <a:cs typeface="Consolas"/>
                          <a:sym typeface="Consolas"/>
                        </a:rPr>
                        <a:t>function</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req</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DCDCAA"/>
                          </a:solidFill>
                          <a:latin typeface="Consolas"/>
                          <a:ea typeface="Consolas"/>
                          <a:cs typeface="Consolas"/>
                          <a:sym typeface="Consolas"/>
                        </a:rPr>
                        <a:t>next</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console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CDCAA"/>
                          </a:solidFill>
                          <a:latin typeface="Consolas"/>
                          <a:ea typeface="Consolas"/>
                          <a:cs typeface="Consolas"/>
                          <a:sym typeface="Consolas"/>
                        </a:rPr>
                        <a:t>log</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a:t>
                      </a:r>
                      <a:r>
                        <a:rPr lang="en-US" sz="1050" u="none" strike="noStrike" cap="none" dirty="0">
                          <a:solidFill>
                            <a:srgbClr val="D7BA7D"/>
                          </a:solidFill>
                          <a:latin typeface="Consolas"/>
                          <a:ea typeface="Consolas"/>
                          <a:cs typeface="Consolas"/>
                          <a:sym typeface="Consolas"/>
                        </a:rPr>
                        <a:t>\n\</a:t>
                      </a:r>
                      <a:r>
                        <a:rPr lang="en-US" sz="1050" u="none" strike="noStrike" cap="none" dirty="0" err="1">
                          <a:solidFill>
                            <a:srgbClr val="D7BA7D"/>
                          </a:solidFill>
                          <a:latin typeface="Consolas"/>
                          <a:ea typeface="Consolas"/>
                          <a:cs typeface="Consolas"/>
                          <a:sym typeface="Consolas"/>
                        </a:rPr>
                        <a:t>n</a:t>
                      </a:r>
                      <a:r>
                        <a:rPr lang="en-US" sz="1050" u="none" strike="noStrike" cap="none" dirty="0" err="1">
                          <a:solidFill>
                            <a:srgbClr val="CE9178"/>
                          </a:solidFill>
                          <a:latin typeface="Consolas"/>
                          <a:ea typeface="Consolas"/>
                          <a:cs typeface="Consolas"/>
                          <a:sym typeface="Consolas"/>
                        </a:rPr>
                        <a:t>ALLWAYS</a:t>
                      </a:r>
                      <a:r>
                        <a:rPr lang="en-US" sz="1050" u="none" strike="noStrike" cap="none" dirty="0">
                          <a:solidFill>
                            <a:srgbClr val="CE9178"/>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DCDCAA"/>
                          </a:solidFill>
                          <a:latin typeface="Consolas"/>
                          <a:ea typeface="Consolas"/>
                          <a:cs typeface="Consolas"/>
                          <a:sym typeface="Consolas"/>
                        </a:rPr>
                        <a:t>next</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9CDCFE"/>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get</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'/a'</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function</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req</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console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CDCAA"/>
                          </a:solidFill>
                          <a:latin typeface="Consolas"/>
                          <a:ea typeface="Consolas"/>
                          <a:cs typeface="Consolas"/>
                          <a:sym typeface="Consolas"/>
                        </a:rPr>
                        <a:t>log</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'/a: route terminated'</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res</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send</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'a'</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9CDCFE"/>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get</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'/a'</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function</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req</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console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CDCAA"/>
                          </a:solidFill>
                          <a:latin typeface="Consolas"/>
                          <a:ea typeface="Consolas"/>
                          <a:cs typeface="Consolas"/>
                          <a:sym typeface="Consolas"/>
                        </a:rPr>
                        <a:t>log</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'/a: never called'</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9CDCFE"/>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get</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'/b'</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function</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req</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DCDCAA"/>
                          </a:solidFill>
                          <a:latin typeface="Consolas"/>
                          <a:ea typeface="Consolas"/>
                          <a:cs typeface="Consolas"/>
                          <a:sym typeface="Consolas"/>
                        </a:rPr>
                        <a:t>next</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console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CDCAA"/>
                          </a:solidFill>
                          <a:latin typeface="Consolas"/>
                          <a:ea typeface="Consolas"/>
                          <a:cs typeface="Consolas"/>
                          <a:sym typeface="Consolas"/>
                        </a:rPr>
                        <a:t>log</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'/b: route not terminated'</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DCDCAA"/>
                          </a:solidFill>
                          <a:latin typeface="Consolas"/>
                          <a:ea typeface="Consolas"/>
                          <a:cs typeface="Consolas"/>
                          <a:sym typeface="Consolas"/>
                        </a:rPr>
                        <a:t>next</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9CDCFE"/>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use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569CD6"/>
                          </a:solidFill>
                          <a:latin typeface="Consolas"/>
                          <a:ea typeface="Consolas"/>
                          <a:cs typeface="Consolas"/>
                          <a:sym typeface="Consolas"/>
                        </a:rPr>
                        <a:t>function</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req</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DCDCAA"/>
                          </a:solidFill>
                          <a:latin typeface="Consolas"/>
                          <a:ea typeface="Consolas"/>
                          <a:cs typeface="Consolas"/>
                          <a:sym typeface="Consolas"/>
                        </a:rPr>
                        <a:t>next</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console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CDCAA"/>
                          </a:solidFill>
                          <a:latin typeface="Consolas"/>
                          <a:ea typeface="Consolas"/>
                          <a:cs typeface="Consolas"/>
                          <a:sym typeface="Consolas"/>
                        </a:rPr>
                        <a:t>log</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'SOMETIMES'</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DCDCAA"/>
                          </a:solidFill>
                          <a:latin typeface="Consolas"/>
                          <a:ea typeface="Consolas"/>
                          <a:cs typeface="Consolas"/>
                          <a:sym typeface="Consolas"/>
                        </a:rPr>
                        <a:t>next</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9CDCFE"/>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get</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'/b'</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function</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req</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DCDCAA"/>
                          </a:solidFill>
                          <a:latin typeface="Consolas"/>
                          <a:ea typeface="Consolas"/>
                          <a:cs typeface="Consolas"/>
                          <a:sym typeface="Consolas"/>
                        </a:rPr>
                        <a:t>next</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console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CDCAA"/>
                          </a:solidFill>
                          <a:latin typeface="Consolas"/>
                          <a:ea typeface="Consolas"/>
                          <a:cs typeface="Consolas"/>
                          <a:sym typeface="Consolas"/>
                        </a:rPr>
                        <a:t>log</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'/b (part 2): error thrown'</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586C0"/>
                          </a:solidFill>
                          <a:latin typeface="Consolas"/>
                          <a:ea typeface="Consolas"/>
                          <a:cs typeface="Consolas"/>
                          <a:sym typeface="Consolas"/>
                        </a:rPr>
                        <a:t>throw</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new</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4EC9B0"/>
                          </a:solidFill>
                          <a:latin typeface="Consolas"/>
                          <a:ea typeface="Consolas"/>
                          <a:cs typeface="Consolas"/>
                          <a:sym typeface="Consolas"/>
                        </a:rPr>
                        <a:t>Error</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'b failed'</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9CDCFE"/>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use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'/b'</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function</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err</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req</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next</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console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CDCAA"/>
                          </a:solidFill>
                          <a:latin typeface="Consolas"/>
                          <a:ea typeface="Consolas"/>
                          <a:cs typeface="Consolas"/>
                          <a:sym typeface="Consolas"/>
                        </a:rPr>
                        <a:t>log</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'/b error detected and passed on'</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DCDCAA"/>
                          </a:solidFill>
                          <a:latin typeface="Consolas"/>
                          <a:ea typeface="Consolas"/>
                          <a:cs typeface="Consolas"/>
                          <a:sym typeface="Consolas"/>
                        </a:rPr>
                        <a:t>next</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err</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9CDCFE"/>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get</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'/c'</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function</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err</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req</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console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CDCAA"/>
                          </a:solidFill>
                          <a:latin typeface="Consolas"/>
                          <a:ea typeface="Consolas"/>
                          <a:cs typeface="Consolas"/>
                          <a:sym typeface="Consolas"/>
                        </a:rPr>
                        <a:t>log</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'/c: error thrown'</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586C0"/>
                          </a:solidFill>
                          <a:latin typeface="Consolas"/>
                          <a:ea typeface="Consolas"/>
                          <a:cs typeface="Consolas"/>
                          <a:sym typeface="Consolas"/>
                        </a:rPr>
                        <a:t>throw</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new</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4EC9B0"/>
                          </a:solidFill>
                          <a:latin typeface="Consolas"/>
                          <a:ea typeface="Consolas"/>
                          <a:cs typeface="Consolas"/>
                          <a:sym typeface="Consolas"/>
                        </a:rPr>
                        <a:t>Error</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'c failed'</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9CDCFE"/>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use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'/c'</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function</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err</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req</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next</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console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CDCAA"/>
                          </a:solidFill>
                          <a:latin typeface="Consolas"/>
                          <a:ea typeface="Consolas"/>
                          <a:cs typeface="Consolas"/>
                          <a:sym typeface="Consolas"/>
                        </a:rPr>
                        <a:t>log</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'/c: error </a:t>
                      </a:r>
                      <a:r>
                        <a:rPr lang="en-US" sz="1050" u="none" strike="noStrike" cap="none" dirty="0" err="1">
                          <a:solidFill>
                            <a:srgbClr val="CE9178"/>
                          </a:solidFill>
                          <a:latin typeface="Consolas"/>
                          <a:ea typeface="Consolas"/>
                          <a:cs typeface="Consolas"/>
                          <a:sym typeface="Consolas"/>
                        </a:rPr>
                        <a:t>deteccted</a:t>
                      </a:r>
                      <a:r>
                        <a:rPr lang="en-US" sz="1050" u="none" strike="noStrike" cap="none" dirty="0">
                          <a:solidFill>
                            <a:srgbClr val="CE9178"/>
                          </a:solidFill>
                          <a:latin typeface="Consolas"/>
                          <a:ea typeface="Consolas"/>
                          <a:cs typeface="Consolas"/>
                          <a:sym typeface="Consolas"/>
                        </a:rPr>
                        <a:t> but not passed on'</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DCDCAA"/>
                          </a:solidFill>
                          <a:latin typeface="Consolas"/>
                          <a:ea typeface="Consolas"/>
                          <a:cs typeface="Consolas"/>
                          <a:sym typeface="Consolas"/>
                        </a:rPr>
                        <a:t>next</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9CDCFE"/>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use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569CD6"/>
                          </a:solidFill>
                          <a:latin typeface="Consolas"/>
                          <a:ea typeface="Consolas"/>
                          <a:cs typeface="Consolas"/>
                          <a:sym typeface="Consolas"/>
                        </a:rPr>
                        <a:t>function</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err</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req</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next</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console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CDCAA"/>
                          </a:solidFill>
                          <a:latin typeface="Consolas"/>
                          <a:ea typeface="Consolas"/>
                          <a:cs typeface="Consolas"/>
                          <a:sym typeface="Consolas"/>
                        </a:rPr>
                        <a:t>log</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'unhandled error detected: '</a:t>
                      </a:r>
                      <a:r>
                        <a:rPr lang="en-US" sz="1050" u="none" strike="noStrike" cap="none" dirty="0">
                          <a:solidFill>
                            <a:srgbClr val="D4D4D4"/>
                          </a:solidFill>
                          <a:latin typeface="Consolas"/>
                          <a:ea typeface="Consolas"/>
                          <a:cs typeface="Consolas"/>
                          <a:sym typeface="Consolas"/>
                        </a:rPr>
                        <a:t> + </a:t>
                      </a:r>
                      <a:r>
                        <a:rPr lang="en-US" sz="1050" u="none" strike="noStrike" cap="none" dirty="0" err="1">
                          <a:solidFill>
                            <a:srgbClr val="9CDCFE"/>
                          </a:solidFill>
                          <a:latin typeface="Consolas"/>
                          <a:ea typeface="Consolas"/>
                          <a:cs typeface="Consolas"/>
                          <a:sym typeface="Consolas"/>
                        </a:rPr>
                        <a:t>err</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message</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res</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send</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'500 - server error'</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9CDCFE"/>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use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569CD6"/>
                          </a:solidFill>
                          <a:latin typeface="Consolas"/>
                          <a:ea typeface="Consolas"/>
                          <a:cs typeface="Consolas"/>
                          <a:sym typeface="Consolas"/>
                        </a:rPr>
                        <a:t>function</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req</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console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CDCAA"/>
                          </a:solidFill>
                          <a:latin typeface="Consolas"/>
                          <a:ea typeface="Consolas"/>
                          <a:cs typeface="Consolas"/>
                          <a:sym typeface="Consolas"/>
                        </a:rPr>
                        <a:t>log</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'route not handled'</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res</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send</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'404 - not found'</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9CDCFE"/>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listen</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B5CEA8"/>
                          </a:solidFill>
                          <a:latin typeface="Consolas"/>
                          <a:ea typeface="Consolas"/>
                          <a:cs typeface="Consolas"/>
                          <a:sym typeface="Consolas"/>
                        </a:rPr>
                        <a:t>3000</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function</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console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CDCAA"/>
                          </a:solidFill>
                          <a:latin typeface="Consolas"/>
                          <a:ea typeface="Consolas"/>
                          <a:cs typeface="Consolas"/>
                          <a:sym typeface="Consolas"/>
                        </a:rPr>
                        <a:t>log</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'listening on 3000'</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43"/>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330" name="Google Shape;330;p43"/>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331" name="Google Shape;331;p43"/>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17</a:t>
            </a:fld>
            <a:endParaRPr/>
          </a:p>
        </p:txBody>
      </p:sp>
      <p:graphicFrame>
        <p:nvGraphicFramePr>
          <p:cNvPr id="332" name="Google Shape;332;p43"/>
          <p:cNvGraphicFramePr/>
          <p:nvPr>
            <p:extLst>
              <p:ext uri="{D42A27DB-BD31-4B8C-83A1-F6EECF244321}">
                <p14:modId xmlns:p14="http://schemas.microsoft.com/office/powerpoint/2010/main" val="461228621"/>
              </p:ext>
            </p:extLst>
          </p:nvPr>
        </p:nvGraphicFramePr>
        <p:xfrm>
          <a:off x="1066788" y="2103182"/>
          <a:ext cx="10816818" cy="4450050"/>
        </p:xfrm>
        <a:graphic>
          <a:graphicData uri="http://schemas.openxmlformats.org/drawingml/2006/table">
            <a:tbl>
              <a:tblPr>
                <a:noFill/>
                <a:tableStyleId>{99CD84AF-14CF-470D-B69C-EB98024C896D}</a:tableStyleId>
              </a:tblPr>
              <a:tblGrid>
                <a:gridCol w="5408409">
                  <a:extLst>
                    <a:ext uri="{9D8B030D-6E8A-4147-A177-3AD203B41FA5}">
                      <a16:colId xmlns:a16="http://schemas.microsoft.com/office/drawing/2014/main" val="20000"/>
                    </a:ext>
                  </a:extLst>
                </a:gridCol>
                <a:gridCol w="5408409">
                  <a:extLst>
                    <a:ext uri="{9D8B030D-6E8A-4147-A177-3AD203B41FA5}">
                      <a16:colId xmlns:a16="http://schemas.microsoft.com/office/drawing/2014/main" val="20001"/>
                    </a:ext>
                  </a:extLst>
                </a:gridCol>
              </a:tblGrid>
              <a:tr h="350150">
                <a:tc gridSpan="2">
                  <a:txBody>
                    <a:bodyPr/>
                    <a:lstStyle/>
                    <a:p>
                      <a:pPr marL="0" marR="0" lvl="0" indent="0" algn="l" rtl="0">
                        <a:lnSpc>
                          <a:spcPct val="100000"/>
                        </a:lnSpc>
                        <a:spcBef>
                          <a:spcPts val="0"/>
                        </a:spcBef>
                        <a:spcAft>
                          <a:spcPts val="0"/>
                        </a:spcAft>
                        <a:buClr>
                          <a:srgbClr val="000000"/>
                        </a:buClr>
                        <a:buSzPts val="1200"/>
                        <a:buFont typeface="Arial"/>
                        <a:buNone/>
                      </a:pPr>
                      <a:r>
                        <a:rPr lang="en-US" sz="1400" b="1" u="sng" strike="noStrike" cap="none" dirty="0">
                          <a:latin typeface="Times New Roman"/>
                          <a:ea typeface="Times New Roman"/>
                          <a:cs typeface="Times New Roman"/>
                          <a:sym typeface="Times New Roman"/>
                        </a:rPr>
                        <a:t>Types of middleware</a:t>
                      </a:r>
                      <a:endParaRPr sz="1400" b="1" u="sng"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endParaRPr sz="1400" b="1" u="sng"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Middleware functions in Express are of the following types:</a:t>
                      </a:r>
                      <a:endParaRPr sz="1400" u="none" strike="noStrike" cap="none" dirty="0">
                        <a:latin typeface="Times New Roman"/>
                        <a:ea typeface="Times New Roman"/>
                        <a:cs typeface="Times New Roman"/>
                        <a:sym typeface="Times New Roman"/>
                      </a:endParaRPr>
                    </a:p>
                    <a:p>
                      <a:pPr marL="685800" marR="0" lvl="0" indent="-304800" algn="l" rtl="0">
                        <a:lnSpc>
                          <a:spcPct val="100000"/>
                        </a:lnSpc>
                        <a:spcBef>
                          <a:spcPts val="0"/>
                        </a:spcBef>
                        <a:spcAft>
                          <a:spcPts val="0"/>
                        </a:spcAft>
                        <a:buClr>
                          <a:srgbClr val="000000"/>
                        </a:buClr>
                        <a:buSzPts val="1200"/>
                        <a:buFont typeface="Times New Roman"/>
                        <a:buChar char="-"/>
                      </a:pPr>
                      <a:r>
                        <a:rPr lang="en-US" sz="1400" u="none" strike="noStrike" cap="none" dirty="0">
                          <a:latin typeface="Times New Roman"/>
                          <a:ea typeface="Times New Roman"/>
                          <a:cs typeface="Times New Roman"/>
                          <a:sym typeface="Times New Roman"/>
                        </a:rPr>
                        <a:t>Application-level middleware</a:t>
                      </a:r>
                      <a:endParaRPr sz="1400" u="none" strike="noStrike" cap="none" dirty="0">
                        <a:latin typeface="Times New Roman"/>
                        <a:ea typeface="Times New Roman"/>
                        <a:cs typeface="Times New Roman"/>
                        <a:sym typeface="Times New Roman"/>
                      </a:endParaRPr>
                    </a:p>
                    <a:p>
                      <a:pPr marL="9144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runs for all routes in an app object</a:t>
                      </a:r>
                      <a:endParaRPr sz="1400" u="none" strike="noStrike" cap="none" dirty="0">
                        <a:latin typeface="Times New Roman"/>
                        <a:ea typeface="Times New Roman"/>
                        <a:cs typeface="Times New Roman"/>
                        <a:sym typeface="Times New Roman"/>
                      </a:endParaRPr>
                    </a:p>
                    <a:p>
                      <a:pPr marL="685800" marR="0" lvl="0" indent="-304800" algn="l" rtl="0">
                        <a:lnSpc>
                          <a:spcPct val="100000"/>
                        </a:lnSpc>
                        <a:spcBef>
                          <a:spcPts val="0"/>
                        </a:spcBef>
                        <a:spcAft>
                          <a:spcPts val="0"/>
                        </a:spcAft>
                        <a:buClr>
                          <a:srgbClr val="000000"/>
                        </a:buClr>
                        <a:buSzPts val="1200"/>
                        <a:buFont typeface="Times New Roman"/>
                        <a:buChar char="-"/>
                      </a:pPr>
                      <a:r>
                        <a:rPr lang="en-US" sz="1400" u="none" strike="noStrike" cap="none" dirty="0">
                          <a:latin typeface="Times New Roman"/>
                          <a:ea typeface="Times New Roman"/>
                          <a:cs typeface="Times New Roman"/>
                          <a:sym typeface="Times New Roman"/>
                        </a:rPr>
                        <a:t>Router-level middleware</a:t>
                      </a:r>
                      <a:endParaRPr sz="1400" u="none" strike="noStrike" cap="none" dirty="0">
                        <a:latin typeface="Times New Roman"/>
                        <a:ea typeface="Times New Roman"/>
                        <a:cs typeface="Times New Roman"/>
                        <a:sym typeface="Times New Roman"/>
                      </a:endParaRPr>
                    </a:p>
                    <a:p>
                      <a:pPr marL="9144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runs for all routes in a router object</a:t>
                      </a:r>
                      <a:endParaRPr sz="1400" u="none" strike="noStrike" cap="none" dirty="0">
                        <a:latin typeface="Times New Roman"/>
                        <a:ea typeface="Times New Roman"/>
                        <a:cs typeface="Times New Roman"/>
                        <a:sym typeface="Times New Roman"/>
                      </a:endParaRPr>
                    </a:p>
                    <a:p>
                      <a:pPr marL="685800" marR="0" lvl="0" indent="-304800" algn="l" rtl="0">
                        <a:lnSpc>
                          <a:spcPct val="100000"/>
                        </a:lnSpc>
                        <a:spcBef>
                          <a:spcPts val="0"/>
                        </a:spcBef>
                        <a:spcAft>
                          <a:spcPts val="0"/>
                        </a:spcAft>
                        <a:buClr>
                          <a:srgbClr val="000000"/>
                        </a:buClr>
                        <a:buSzPts val="1200"/>
                        <a:buFont typeface="Times New Roman"/>
                        <a:buChar char="-"/>
                      </a:pPr>
                      <a:r>
                        <a:rPr lang="en-US" sz="1400" u="none" strike="noStrike" cap="none" dirty="0">
                          <a:latin typeface="Times New Roman"/>
                          <a:ea typeface="Times New Roman"/>
                          <a:cs typeface="Times New Roman"/>
                          <a:sym typeface="Times New Roman"/>
                        </a:rPr>
                        <a:t>Error-handling middleware</a:t>
                      </a:r>
                      <a:endParaRPr sz="1400" u="none" strike="noStrike" cap="none" dirty="0">
                        <a:latin typeface="Times New Roman"/>
                        <a:ea typeface="Times New Roman"/>
                        <a:cs typeface="Times New Roman"/>
                        <a:sym typeface="Times New Roman"/>
                      </a:endParaRPr>
                    </a:p>
                    <a:p>
                      <a:pPr marL="9144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for handling errors</a:t>
                      </a:r>
                      <a:endParaRPr sz="1400" u="none" strike="noStrike" cap="none" dirty="0">
                        <a:latin typeface="Times New Roman"/>
                        <a:ea typeface="Times New Roman"/>
                        <a:cs typeface="Times New Roman"/>
                        <a:sym typeface="Times New Roman"/>
                      </a:endParaRPr>
                    </a:p>
                    <a:p>
                      <a:pPr marL="685800" marR="0" lvl="0" indent="-304800" algn="l" rtl="0">
                        <a:lnSpc>
                          <a:spcPct val="100000"/>
                        </a:lnSpc>
                        <a:spcBef>
                          <a:spcPts val="0"/>
                        </a:spcBef>
                        <a:spcAft>
                          <a:spcPts val="0"/>
                        </a:spcAft>
                        <a:buClr>
                          <a:srgbClr val="000000"/>
                        </a:buClr>
                        <a:buSzPts val="1200"/>
                        <a:buFont typeface="Times New Roman"/>
                        <a:buChar char="-"/>
                      </a:pPr>
                      <a:r>
                        <a:rPr lang="en-US" sz="1400" u="none" strike="noStrike" cap="none" dirty="0">
                          <a:latin typeface="Times New Roman"/>
                          <a:ea typeface="Times New Roman"/>
                          <a:cs typeface="Times New Roman"/>
                          <a:sym typeface="Times New Roman"/>
                        </a:rPr>
                        <a:t>Built-in middleware</a:t>
                      </a:r>
                      <a:endParaRPr sz="1400" u="none" strike="noStrike" cap="none" dirty="0">
                        <a:latin typeface="Times New Roman"/>
                        <a:ea typeface="Times New Roman"/>
                        <a:cs typeface="Times New Roman"/>
                        <a:sym typeface="Times New Roman"/>
                      </a:endParaRPr>
                    </a:p>
                    <a:p>
                      <a:pPr marL="9144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provided by Express like </a:t>
                      </a:r>
                      <a:r>
                        <a:rPr lang="en-US" sz="1400" u="none" strike="noStrike" cap="none" dirty="0" err="1">
                          <a:latin typeface="Times New Roman"/>
                          <a:ea typeface="Times New Roman"/>
                          <a:cs typeface="Times New Roman"/>
                          <a:sym typeface="Times New Roman"/>
                        </a:rPr>
                        <a:t>express.static</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express.json</a:t>
                      </a:r>
                      <a:r>
                        <a:rPr lang="en-US" sz="1400" u="none" strike="noStrike" cap="none" dirty="0">
                          <a:latin typeface="Times New Roman"/>
                          <a:ea typeface="Times New Roman"/>
                          <a:cs typeface="Times New Roman"/>
                          <a:sym typeface="Times New Roman"/>
                        </a:rPr>
                        <a:t>, </a:t>
                      </a:r>
                      <a:r>
                        <a:rPr lang="en-US" sz="1400" u="none" strike="noStrike" cap="none" dirty="0" err="1">
                          <a:latin typeface="Times New Roman"/>
                          <a:ea typeface="Times New Roman"/>
                          <a:cs typeface="Times New Roman"/>
                          <a:sym typeface="Times New Roman"/>
                        </a:rPr>
                        <a:t>express.urlencoded</a:t>
                      </a:r>
                      <a:endParaRPr sz="1400" u="none" strike="noStrike" cap="none" dirty="0">
                        <a:latin typeface="Times New Roman"/>
                        <a:ea typeface="Times New Roman"/>
                        <a:cs typeface="Times New Roman"/>
                        <a:sym typeface="Times New Roman"/>
                      </a:endParaRPr>
                    </a:p>
                    <a:p>
                      <a:pPr marL="685800" marR="0" lvl="0" indent="-304800" algn="l" rtl="0">
                        <a:lnSpc>
                          <a:spcPct val="100000"/>
                        </a:lnSpc>
                        <a:spcBef>
                          <a:spcPts val="0"/>
                        </a:spcBef>
                        <a:spcAft>
                          <a:spcPts val="0"/>
                        </a:spcAft>
                        <a:buClr>
                          <a:srgbClr val="000000"/>
                        </a:buClr>
                        <a:buSzPts val="1200"/>
                        <a:buFont typeface="Times New Roman"/>
                        <a:buChar char="-"/>
                      </a:pPr>
                      <a:r>
                        <a:rPr lang="en-US" sz="1400" u="none" strike="noStrike" cap="none" dirty="0">
                          <a:latin typeface="Times New Roman"/>
                          <a:ea typeface="Times New Roman"/>
                          <a:cs typeface="Times New Roman"/>
                          <a:sym typeface="Times New Roman"/>
                        </a:rPr>
                        <a:t>Third-party middleware</a:t>
                      </a:r>
                      <a:endParaRPr sz="1400" u="none" strike="noStrike" cap="none" dirty="0">
                        <a:latin typeface="Times New Roman"/>
                        <a:ea typeface="Times New Roman"/>
                        <a:cs typeface="Times New Roman"/>
                        <a:sym typeface="Times New Roman"/>
                      </a:endParaRPr>
                    </a:p>
                    <a:p>
                      <a:pPr marL="9144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maintained by the community</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You can load application-level and router-level middleware with an optional mount path. You can also load a series of middleware functions together, which creates a sub-stack of the middleware system at a mount point.</a:t>
                      </a:r>
                      <a:endParaRPr sz="14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endParaRPr sz="14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r>
                        <a:rPr lang="en-US" sz="1400" b="1" u="sng" strike="noStrike" cap="none" dirty="0">
                          <a:latin typeface="Times New Roman"/>
                          <a:ea typeface="Times New Roman"/>
                          <a:cs typeface="Times New Roman"/>
                          <a:sym typeface="Times New Roman"/>
                        </a:rPr>
                        <a:t>Application-level middleware</a:t>
                      </a:r>
                      <a:endParaRPr sz="1400" b="1" u="sng"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Bind application-level middleware to an instance of the app object by using the </a:t>
                      </a:r>
                      <a:r>
                        <a:rPr lang="en-US" sz="1400" u="none" strike="noStrike" cap="none" dirty="0" err="1">
                          <a:latin typeface="Times New Roman"/>
                          <a:ea typeface="Times New Roman"/>
                          <a:cs typeface="Times New Roman"/>
                          <a:sym typeface="Times New Roman"/>
                        </a:rPr>
                        <a:t>app.use</a:t>
                      </a:r>
                      <a:r>
                        <a:rPr lang="en-US" sz="1400" u="none" strike="noStrike" cap="none" dirty="0">
                          <a:latin typeface="Times New Roman"/>
                          <a:ea typeface="Times New Roman"/>
                          <a:cs typeface="Times New Roman"/>
                          <a:sym typeface="Times New Roman"/>
                        </a:rPr>
                        <a:t>() and </a:t>
                      </a:r>
                      <a:r>
                        <a:rPr lang="en-US" sz="1400" u="none" strike="noStrike" cap="none" dirty="0" err="1">
                          <a:latin typeface="Times New Roman"/>
                          <a:ea typeface="Times New Roman"/>
                          <a:cs typeface="Times New Roman"/>
                          <a:sym typeface="Times New Roman"/>
                        </a:rPr>
                        <a:t>app.METHOD</a:t>
                      </a:r>
                      <a:r>
                        <a:rPr lang="en-US" sz="1400" u="none" strike="noStrike" cap="none" dirty="0">
                          <a:latin typeface="Times New Roman"/>
                          <a:ea typeface="Times New Roman"/>
                          <a:cs typeface="Times New Roman"/>
                          <a:sym typeface="Times New Roman"/>
                        </a:rPr>
                        <a:t>() functions, where METHOD is the HTTP method of the request that the middleware function handles (such as GET, PUT, or POST) in lowercase.</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This example shows a middleware function with no mount path. The function is executed every time the app receives a request.</a:t>
                      </a:r>
                      <a:endParaRPr sz="14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44"/>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338" name="Google Shape;338;p44"/>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339" name="Google Shape;339;p44"/>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18</a:t>
            </a:fld>
            <a:endParaRPr/>
          </a:p>
        </p:txBody>
      </p:sp>
      <p:graphicFrame>
        <p:nvGraphicFramePr>
          <p:cNvPr id="340" name="Google Shape;340;p44"/>
          <p:cNvGraphicFramePr/>
          <p:nvPr>
            <p:extLst>
              <p:ext uri="{D42A27DB-BD31-4B8C-83A1-F6EECF244321}">
                <p14:modId xmlns:p14="http://schemas.microsoft.com/office/powerpoint/2010/main" val="266729150"/>
              </p:ext>
            </p:extLst>
          </p:nvPr>
        </p:nvGraphicFramePr>
        <p:xfrm>
          <a:off x="1066788" y="2062111"/>
          <a:ext cx="10816818" cy="4449930"/>
        </p:xfrm>
        <a:graphic>
          <a:graphicData uri="http://schemas.openxmlformats.org/drawingml/2006/table">
            <a:tbl>
              <a:tblPr>
                <a:noFill/>
                <a:tableStyleId>{99CD84AF-14CF-470D-B69C-EB98024C896D}</a:tableStyleId>
              </a:tblPr>
              <a:tblGrid>
                <a:gridCol w="5408409">
                  <a:extLst>
                    <a:ext uri="{9D8B030D-6E8A-4147-A177-3AD203B41FA5}">
                      <a16:colId xmlns:a16="http://schemas.microsoft.com/office/drawing/2014/main" val="20000"/>
                    </a:ext>
                  </a:extLst>
                </a:gridCol>
                <a:gridCol w="5408409">
                  <a:extLst>
                    <a:ext uri="{9D8B030D-6E8A-4147-A177-3AD203B41FA5}">
                      <a16:colId xmlns:a16="http://schemas.microsoft.com/office/drawing/2014/main" val="20001"/>
                    </a:ext>
                  </a:extLst>
                </a:gridCol>
              </a:tblGrid>
              <a:tr h="350150">
                <a:tc gridSpan="2">
                  <a:txBody>
                    <a:bodyPr/>
                    <a:lstStyle/>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569CD6"/>
                          </a:solidFill>
                          <a:latin typeface="Consolas"/>
                          <a:ea typeface="Consolas"/>
                          <a:cs typeface="Consolas"/>
                          <a:sym typeface="Consolas"/>
                        </a:rPr>
                        <a:t>const</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DCDCAA"/>
                          </a:solidFill>
                          <a:latin typeface="Consolas"/>
                          <a:ea typeface="Consolas"/>
                          <a:cs typeface="Consolas"/>
                          <a:sym typeface="Consolas"/>
                        </a:rPr>
                        <a:t>express</a:t>
                      </a:r>
                      <a:r>
                        <a:rPr lang="en-US" sz="1200" u="none" strike="noStrike" cap="none" dirty="0">
                          <a:solidFill>
                            <a:srgbClr val="D4D4D4"/>
                          </a:solidFill>
                          <a:latin typeface="Consolas"/>
                          <a:ea typeface="Consolas"/>
                          <a:cs typeface="Consolas"/>
                          <a:sym typeface="Consolas"/>
                        </a:rPr>
                        <a:t> = </a:t>
                      </a:r>
                      <a:r>
                        <a:rPr lang="en-US" sz="1200" u="none" strike="noStrike" cap="none" dirty="0">
                          <a:solidFill>
                            <a:srgbClr val="DCDCAA"/>
                          </a:solidFill>
                          <a:latin typeface="Consolas"/>
                          <a:ea typeface="Consolas"/>
                          <a:cs typeface="Consolas"/>
                          <a:sym typeface="Consolas"/>
                        </a:rPr>
                        <a:t>require</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CE9178"/>
                          </a:solidFill>
                          <a:latin typeface="Consolas"/>
                          <a:ea typeface="Consolas"/>
                          <a:cs typeface="Consolas"/>
                          <a:sym typeface="Consolas"/>
                        </a:rPr>
                        <a:t>'express'</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569CD6"/>
                          </a:solidFill>
                          <a:latin typeface="Consolas"/>
                          <a:ea typeface="Consolas"/>
                          <a:cs typeface="Consolas"/>
                          <a:sym typeface="Consolas"/>
                        </a:rPr>
                        <a:t>const</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4FC1FF"/>
                          </a:solidFill>
                          <a:latin typeface="Consolas"/>
                          <a:ea typeface="Consolas"/>
                          <a:cs typeface="Consolas"/>
                          <a:sym typeface="Consolas"/>
                        </a:rPr>
                        <a:t>app</a:t>
                      </a:r>
                      <a:r>
                        <a:rPr lang="en-US" sz="1200" u="none" strike="noStrike" cap="none" dirty="0">
                          <a:solidFill>
                            <a:srgbClr val="D4D4D4"/>
                          </a:solidFill>
                          <a:latin typeface="Consolas"/>
                          <a:ea typeface="Consolas"/>
                          <a:cs typeface="Consolas"/>
                          <a:sym typeface="Consolas"/>
                        </a:rPr>
                        <a:t> = </a:t>
                      </a:r>
                      <a:r>
                        <a:rPr lang="en-US" sz="1200" u="none" strike="noStrike" cap="none" dirty="0">
                          <a:solidFill>
                            <a:srgbClr val="DCDCAA"/>
                          </a:solidFill>
                          <a:latin typeface="Consolas"/>
                          <a:ea typeface="Consolas"/>
                          <a:cs typeface="Consolas"/>
                          <a:sym typeface="Consolas"/>
                        </a:rPr>
                        <a:t>express</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err="1">
                          <a:solidFill>
                            <a:srgbClr val="4FC1FF"/>
                          </a:solidFill>
                          <a:latin typeface="Consolas"/>
                          <a:ea typeface="Consolas"/>
                          <a:cs typeface="Consolas"/>
                          <a:sym typeface="Consolas"/>
                        </a:rPr>
                        <a:t>app</a:t>
                      </a:r>
                      <a:r>
                        <a:rPr lang="en-US" sz="1200" u="none" strike="noStrike" cap="none" dirty="0" err="1">
                          <a:solidFill>
                            <a:srgbClr val="D4D4D4"/>
                          </a:solidFill>
                          <a:latin typeface="Consolas"/>
                          <a:ea typeface="Consolas"/>
                          <a:cs typeface="Consolas"/>
                          <a:sym typeface="Consolas"/>
                        </a:rPr>
                        <a:t>.</a:t>
                      </a:r>
                      <a:r>
                        <a:rPr lang="en-US" sz="1200" u="none" strike="noStrike" cap="none" dirty="0" err="1">
                          <a:solidFill>
                            <a:srgbClr val="DCDCAA"/>
                          </a:solidFill>
                          <a:latin typeface="Consolas"/>
                          <a:ea typeface="Consolas"/>
                          <a:cs typeface="Consolas"/>
                          <a:sym typeface="Consolas"/>
                        </a:rPr>
                        <a:t>use</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9CDCFE"/>
                          </a:solidFill>
                          <a:latin typeface="Consolas"/>
                          <a:ea typeface="Consolas"/>
                          <a:cs typeface="Consolas"/>
                          <a:sym typeface="Consolas"/>
                        </a:rPr>
                        <a:t>req</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res</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DCDCAA"/>
                          </a:solidFill>
                          <a:latin typeface="Consolas"/>
                          <a:ea typeface="Consolas"/>
                          <a:cs typeface="Consolas"/>
                          <a:sym typeface="Consolas"/>
                        </a:rPr>
                        <a:t>next</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569CD6"/>
                          </a:solidFill>
                          <a:latin typeface="Consolas"/>
                          <a:ea typeface="Consolas"/>
                          <a:cs typeface="Consolas"/>
                          <a:sym typeface="Consolas"/>
                        </a:rPr>
                        <a:t>=&gt;</a:t>
                      </a:r>
                      <a:r>
                        <a:rPr lang="en-US" sz="1200" u="none" strike="noStrike" cap="none" dirty="0">
                          <a:solidFill>
                            <a:srgbClr val="D4D4D4"/>
                          </a:solidFill>
                          <a:latin typeface="Consolas"/>
                          <a:ea typeface="Consolas"/>
                          <a:cs typeface="Consolas"/>
                          <a:sym typeface="Consolas"/>
                        </a:rPr>
                        <a:t> {</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console</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DCDCAA"/>
                          </a:solidFill>
                          <a:latin typeface="Consolas"/>
                          <a:ea typeface="Consolas"/>
                          <a:cs typeface="Consolas"/>
                          <a:sym typeface="Consolas"/>
                        </a:rPr>
                        <a:t>log</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CE9178"/>
                          </a:solidFill>
                          <a:latin typeface="Consolas"/>
                          <a:ea typeface="Consolas"/>
                          <a:cs typeface="Consolas"/>
                          <a:sym typeface="Consolas"/>
                        </a:rPr>
                        <a:t>'Time:'</a:t>
                      </a:r>
                      <a:r>
                        <a:rPr lang="en-US" sz="1200" u="none" strike="noStrike" cap="none" dirty="0">
                          <a:solidFill>
                            <a:srgbClr val="D4D4D4"/>
                          </a:solidFill>
                          <a:latin typeface="Consolas"/>
                          <a:ea typeface="Consolas"/>
                          <a:cs typeface="Consolas"/>
                          <a:sym typeface="Consolas"/>
                        </a:rPr>
                        <a:t>, </a:t>
                      </a:r>
                      <a:r>
                        <a:rPr lang="en-US" sz="1200" u="none" strike="noStrike" cap="none" dirty="0" err="1">
                          <a:solidFill>
                            <a:srgbClr val="4EC9B0"/>
                          </a:solidFill>
                          <a:latin typeface="Consolas"/>
                          <a:ea typeface="Consolas"/>
                          <a:cs typeface="Consolas"/>
                          <a:sym typeface="Consolas"/>
                        </a:rPr>
                        <a:t>Date</a:t>
                      </a:r>
                      <a:r>
                        <a:rPr lang="en-US" sz="1200" u="none" strike="noStrike" cap="none" dirty="0" err="1">
                          <a:solidFill>
                            <a:srgbClr val="D4D4D4"/>
                          </a:solidFill>
                          <a:latin typeface="Consolas"/>
                          <a:ea typeface="Consolas"/>
                          <a:cs typeface="Consolas"/>
                          <a:sym typeface="Consolas"/>
                        </a:rPr>
                        <a:t>.</a:t>
                      </a:r>
                      <a:r>
                        <a:rPr lang="en-US" sz="1200" u="none" strike="noStrike" cap="none" dirty="0" err="1">
                          <a:solidFill>
                            <a:srgbClr val="DCDCAA"/>
                          </a:solidFill>
                          <a:latin typeface="Consolas"/>
                          <a:ea typeface="Consolas"/>
                          <a:cs typeface="Consolas"/>
                          <a:sym typeface="Consolas"/>
                        </a:rPr>
                        <a:t>now</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DCDCAA"/>
                          </a:solidFill>
                          <a:latin typeface="Consolas"/>
                          <a:ea typeface="Consolas"/>
                          <a:cs typeface="Consolas"/>
                          <a:sym typeface="Consolas"/>
                        </a:rPr>
                        <a:t>next</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a:t>
                      </a:r>
                      <a:endParaRPr sz="16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tc hMerge="1">
                  <a:txBody>
                    <a:bodyPr/>
                    <a:lstStyle/>
                    <a:p>
                      <a:endParaRPr lang="en-US"/>
                    </a:p>
                  </a:txBody>
                  <a:tcPr/>
                </a:tc>
                <a:extLst>
                  <a:ext uri="{0D108BD9-81ED-4DB2-BD59-A6C34878D82A}">
                    <a16:rowId xmlns:a16="http://schemas.microsoft.com/office/drawing/2014/main" val="10000"/>
                  </a:ext>
                </a:extLst>
              </a:tr>
              <a:tr h="350150">
                <a:tc gridSpan="2">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a:latin typeface="Times New Roman"/>
                          <a:ea typeface="Times New Roman"/>
                          <a:cs typeface="Times New Roman"/>
                          <a:sym typeface="Times New Roman"/>
                        </a:rPr>
                        <a:t>This example shows a middleware function mounted on the /user/:id path. The function is executed for any type of HTTP request on the /user/:id path.</a:t>
                      </a:r>
                      <a:endParaRPr sz="1200" u="none" strike="noStrike" cap="none">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1"/>
                  </a:ext>
                </a:extLst>
              </a:tr>
              <a:tr h="350150">
                <a:tc gridSpan="2">
                  <a:txBody>
                    <a:bodyPr/>
                    <a:lstStyle/>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err="1">
                          <a:solidFill>
                            <a:srgbClr val="9CDCFE"/>
                          </a:solidFill>
                          <a:latin typeface="Consolas"/>
                          <a:ea typeface="Consolas"/>
                          <a:cs typeface="Consolas"/>
                          <a:sym typeface="Consolas"/>
                        </a:rPr>
                        <a:t>app</a:t>
                      </a:r>
                      <a:r>
                        <a:rPr lang="en-US" sz="1200" u="none" strike="noStrike" cap="none" dirty="0" err="1">
                          <a:solidFill>
                            <a:srgbClr val="D4D4D4"/>
                          </a:solidFill>
                          <a:latin typeface="Consolas"/>
                          <a:ea typeface="Consolas"/>
                          <a:cs typeface="Consolas"/>
                          <a:sym typeface="Consolas"/>
                        </a:rPr>
                        <a:t>.</a:t>
                      </a:r>
                      <a:r>
                        <a:rPr lang="en-US" sz="1200" u="none" strike="noStrike" cap="none" dirty="0" err="1">
                          <a:solidFill>
                            <a:srgbClr val="DCDCAA"/>
                          </a:solidFill>
                          <a:latin typeface="Consolas"/>
                          <a:ea typeface="Consolas"/>
                          <a:cs typeface="Consolas"/>
                          <a:sym typeface="Consolas"/>
                        </a:rPr>
                        <a:t>use</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CE9178"/>
                          </a:solidFill>
                          <a:latin typeface="Consolas"/>
                          <a:ea typeface="Consolas"/>
                          <a:cs typeface="Consolas"/>
                          <a:sym typeface="Consolas"/>
                        </a:rPr>
                        <a:t>'/user/:id'</a:t>
                      </a:r>
                      <a:r>
                        <a:rPr lang="en-US" sz="1200" u="none" strike="noStrike" cap="none" dirty="0">
                          <a:solidFill>
                            <a:srgbClr val="D4D4D4"/>
                          </a:solidFill>
                          <a:latin typeface="Consolas"/>
                          <a:ea typeface="Consolas"/>
                          <a:cs typeface="Consolas"/>
                          <a:sym typeface="Consolas"/>
                        </a:rPr>
                        <a:t>, (</a:t>
                      </a:r>
                      <a:r>
                        <a:rPr lang="en-US" sz="1200" u="none" strike="noStrike" cap="none" dirty="0" err="1">
                          <a:solidFill>
                            <a:srgbClr val="9CDCFE"/>
                          </a:solidFill>
                          <a:latin typeface="Consolas"/>
                          <a:ea typeface="Consolas"/>
                          <a:cs typeface="Consolas"/>
                          <a:sym typeface="Consolas"/>
                        </a:rPr>
                        <a:t>req</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res</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next</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569CD6"/>
                          </a:solidFill>
                          <a:latin typeface="Consolas"/>
                          <a:ea typeface="Consolas"/>
                          <a:cs typeface="Consolas"/>
                          <a:sym typeface="Consolas"/>
                        </a:rPr>
                        <a:t>=&gt;</a:t>
                      </a:r>
                      <a:r>
                        <a:rPr lang="en-US" sz="1200" u="none" strike="noStrike" cap="none" dirty="0">
                          <a:solidFill>
                            <a:srgbClr val="D4D4D4"/>
                          </a:solidFill>
                          <a:latin typeface="Consolas"/>
                          <a:ea typeface="Consolas"/>
                          <a:cs typeface="Consolas"/>
                          <a:sym typeface="Consolas"/>
                        </a:rPr>
                        <a:t> {</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console</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DCDCAA"/>
                          </a:solidFill>
                          <a:latin typeface="Consolas"/>
                          <a:ea typeface="Consolas"/>
                          <a:cs typeface="Consolas"/>
                          <a:sym typeface="Consolas"/>
                        </a:rPr>
                        <a:t>log</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CE9178"/>
                          </a:solidFill>
                          <a:latin typeface="Consolas"/>
                          <a:ea typeface="Consolas"/>
                          <a:cs typeface="Consolas"/>
                          <a:sym typeface="Consolas"/>
                        </a:rPr>
                        <a:t>'Request Type:'</a:t>
                      </a:r>
                      <a:r>
                        <a:rPr lang="en-US" sz="1200" u="none" strike="noStrike" cap="none" dirty="0">
                          <a:solidFill>
                            <a:srgbClr val="D4D4D4"/>
                          </a:solidFill>
                          <a:latin typeface="Consolas"/>
                          <a:ea typeface="Consolas"/>
                          <a:cs typeface="Consolas"/>
                          <a:sym typeface="Consolas"/>
                        </a:rPr>
                        <a:t>, </a:t>
                      </a:r>
                      <a:r>
                        <a:rPr lang="en-US" sz="1200" u="none" strike="noStrike" cap="none" dirty="0" err="1">
                          <a:solidFill>
                            <a:srgbClr val="9CDCFE"/>
                          </a:solidFill>
                          <a:latin typeface="Consolas"/>
                          <a:ea typeface="Consolas"/>
                          <a:cs typeface="Consolas"/>
                          <a:sym typeface="Consolas"/>
                        </a:rPr>
                        <a:t>req</a:t>
                      </a:r>
                      <a:r>
                        <a:rPr lang="en-US" sz="1200" u="none" strike="noStrike" cap="none" dirty="0" err="1">
                          <a:solidFill>
                            <a:srgbClr val="D4D4D4"/>
                          </a:solidFill>
                          <a:latin typeface="Consolas"/>
                          <a:ea typeface="Consolas"/>
                          <a:cs typeface="Consolas"/>
                          <a:sym typeface="Consolas"/>
                        </a:rPr>
                        <a:t>.</a:t>
                      </a:r>
                      <a:r>
                        <a:rPr lang="en-US" sz="1200" u="none" strike="noStrike" cap="none" dirty="0" err="1">
                          <a:solidFill>
                            <a:srgbClr val="9CDCFE"/>
                          </a:solidFill>
                          <a:latin typeface="Consolas"/>
                          <a:ea typeface="Consolas"/>
                          <a:cs typeface="Consolas"/>
                          <a:sym typeface="Consolas"/>
                        </a:rPr>
                        <a:t>method</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DCDCAA"/>
                          </a:solidFill>
                          <a:latin typeface="Consolas"/>
                          <a:ea typeface="Consolas"/>
                          <a:cs typeface="Consolas"/>
                          <a:sym typeface="Consolas"/>
                        </a:rPr>
                        <a:t>next</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a:t>
                      </a:r>
                      <a:endParaRPr sz="16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tc hMerge="1">
                  <a:txBody>
                    <a:bodyPr/>
                    <a:lstStyle/>
                    <a:p>
                      <a:endParaRPr lang="en-US"/>
                    </a:p>
                  </a:txBody>
                  <a:tcPr/>
                </a:tc>
                <a:extLst>
                  <a:ext uri="{0D108BD9-81ED-4DB2-BD59-A6C34878D82A}">
                    <a16:rowId xmlns:a16="http://schemas.microsoft.com/office/drawing/2014/main" val="10002"/>
                  </a:ext>
                </a:extLst>
              </a:tr>
              <a:tr h="350150">
                <a:tc gridSpan="2">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a:latin typeface="Times New Roman"/>
                          <a:ea typeface="Times New Roman"/>
                          <a:cs typeface="Times New Roman"/>
                          <a:sym typeface="Times New Roman"/>
                        </a:rPr>
                        <a:t>This example shows a route and its handler function (middleware system). The function handles GET requests to the /user/:id path.</a:t>
                      </a:r>
                      <a:endParaRPr sz="1200" u="none" strike="noStrike" cap="none">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3"/>
                  </a:ext>
                </a:extLst>
              </a:tr>
              <a:tr h="350150">
                <a:tc gridSpan="2">
                  <a:txBody>
                    <a:bodyPr/>
                    <a:lstStyle/>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err="1">
                          <a:solidFill>
                            <a:srgbClr val="9CDCFE"/>
                          </a:solidFill>
                          <a:latin typeface="Consolas"/>
                          <a:ea typeface="Consolas"/>
                          <a:cs typeface="Consolas"/>
                          <a:sym typeface="Consolas"/>
                        </a:rPr>
                        <a:t>app</a:t>
                      </a:r>
                      <a:r>
                        <a:rPr lang="en-US" sz="1200" u="none" strike="noStrike" cap="none" dirty="0" err="1">
                          <a:solidFill>
                            <a:srgbClr val="D4D4D4"/>
                          </a:solidFill>
                          <a:latin typeface="Consolas"/>
                          <a:ea typeface="Consolas"/>
                          <a:cs typeface="Consolas"/>
                          <a:sym typeface="Consolas"/>
                        </a:rPr>
                        <a:t>.</a:t>
                      </a:r>
                      <a:r>
                        <a:rPr lang="en-US" sz="1200" u="none" strike="noStrike" cap="none" dirty="0" err="1">
                          <a:solidFill>
                            <a:srgbClr val="DCDCAA"/>
                          </a:solidFill>
                          <a:latin typeface="Consolas"/>
                          <a:ea typeface="Consolas"/>
                          <a:cs typeface="Consolas"/>
                          <a:sym typeface="Consolas"/>
                        </a:rPr>
                        <a:t>get</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CE9178"/>
                          </a:solidFill>
                          <a:latin typeface="Consolas"/>
                          <a:ea typeface="Consolas"/>
                          <a:cs typeface="Consolas"/>
                          <a:sym typeface="Consolas"/>
                        </a:rPr>
                        <a:t>'/user/:id'</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req</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res</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next</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569CD6"/>
                          </a:solidFill>
                          <a:latin typeface="Consolas"/>
                          <a:ea typeface="Consolas"/>
                          <a:cs typeface="Consolas"/>
                          <a:sym typeface="Consolas"/>
                        </a:rPr>
                        <a:t>=&gt;</a:t>
                      </a:r>
                      <a:r>
                        <a:rPr lang="en-US" sz="1200" u="none" strike="noStrike" cap="none" dirty="0">
                          <a:solidFill>
                            <a:srgbClr val="D4D4D4"/>
                          </a:solidFill>
                          <a:latin typeface="Consolas"/>
                          <a:ea typeface="Consolas"/>
                          <a:cs typeface="Consolas"/>
                          <a:sym typeface="Consolas"/>
                        </a:rPr>
                        <a:t> {</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r>
                        <a:rPr lang="en-US" sz="1200" u="none" strike="noStrike" cap="none" dirty="0" err="1">
                          <a:solidFill>
                            <a:srgbClr val="9CDCFE"/>
                          </a:solidFill>
                          <a:latin typeface="Consolas"/>
                          <a:ea typeface="Consolas"/>
                          <a:cs typeface="Consolas"/>
                          <a:sym typeface="Consolas"/>
                        </a:rPr>
                        <a:t>res</a:t>
                      </a:r>
                      <a:r>
                        <a:rPr lang="en-US" sz="1200" u="none" strike="noStrike" cap="none" dirty="0" err="1">
                          <a:solidFill>
                            <a:srgbClr val="D4D4D4"/>
                          </a:solidFill>
                          <a:latin typeface="Consolas"/>
                          <a:ea typeface="Consolas"/>
                          <a:cs typeface="Consolas"/>
                          <a:sym typeface="Consolas"/>
                        </a:rPr>
                        <a:t>.</a:t>
                      </a:r>
                      <a:r>
                        <a:rPr lang="en-US" sz="1200" u="none" strike="noStrike" cap="none" dirty="0" err="1">
                          <a:solidFill>
                            <a:srgbClr val="DCDCAA"/>
                          </a:solidFill>
                          <a:latin typeface="Consolas"/>
                          <a:ea typeface="Consolas"/>
                          <a:cs typeface="Consolas"/>
                          <a:sym typeface="Consolas"/>
                        </a:rPr>
                        <a:t>send</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CE9178"/>
                          </a:solidFill>
                          <a:latin typeface="Consolas"/>
                          <a:ea typeface="Consolas"/>
                          <a:cs typeface="Consolas"/>
                          <a:sym typeface="Consolas"/>
                        </a:rPr>
                        <a:t>'USER'</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a:t>
                      </a:r>
                      <a:endParaRPr sz="16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tc hMerge="1">
                  <a:txBody>
                    <a:bodyPr/>
                    <a:lstStyle/>
                    <a:p>
                      <a:endParaRPr lang="en-US"/>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45"/>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346" name="Google Shape;346;p45"/>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347" name="Google Shape;347;p45"/>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19</a:t>
            </a:fld>
            <a:endParaRPr/>
          </a:p>
        </p:txBody>
      </p:sp>
      <p:graphicFrame>
        <p:nvGraphicFramePr>
          <p:cNvPr id="348" name="Google Shape;348;p45"/>
          <p:cNvGraphicFramePr/>
          <p:nvPr>
            <p:extLst>
              <p:ext uri="{D42A27DB-BD31-4B8C-83A1-F6EECF244321}">
                <p14:modId xmlns:p14="http://schemas.microsoft.com/office/powerpoint/2010/main" val="1430369707"/>
              </p:ext>
            </p:extLst>
          </p:nvPr>
        </p:nvGraphicFramePr>
        <p:xfrm>
          <a:off x="1066788" y="2033905"/>
          <a:ext cx="10816818" cy="4526160"/>
        </p:xfrm>
        <a:graphic>
          <a:graphicData uri="http://schemas.openxmlformats.org/drawingml/2006/table">
            <a:tbl>
              <a:tblPr>
                <a:noFill/>
                <a:tableStyleId>{99CD84AF-14CF-470D-B69C-EB98024C896D}</a:tableStyleId>
              </a:tblPr>
              <a:tblGrid>
                <a:gridCol w="5408409">
                  <a:extLst>
                    <a:ext uri="{9D8B030D-6E8A-4147-A177-3AD203B41FA5}">
                      <a16:colId xmlns:a16="http://schemas.microsoft.com/office/drawing/2014/main" val="20000"/>
                    </a:ext>
                  </a:extLst>
                </a:gridCol>
                <a:gridCol w="5408409">
                  <a:extLst>
                    <a:ext uri="{9D8B030D-6E8A-4147-A177-3AD203B41FA5}">
                      <a16:colId xmlns:a16="http://schemas.microsoft.com/office/drawing/2014/main" val="20001"/>
                    </a:ext>
                  </a:extLst>
                </a:gridCol>
              </a:tblGrid>
              <a:tr h="350150">
                <a:tc gridSpan="2">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Here is an example of loading a series of middleware functions at a mount point, with a mount path. It illustrates a middleware sub-stack that prints request info for any type of HTTP request to the /user/:id path.</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0"/>
                  </a:ext>
                </a:extLst>
              </a:tr>
              <a:tr h="350150">
                <a:tc gridSpan="2">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9CDCFE"/>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use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'/user/:id'</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req</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next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=&gt;</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console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CDCAA"/>
                          </a:solidFill>
                          <a:latin typeface="Consolas"/>
                          <a:ea typeface="Consolas"/>
                          <a:cs typeface="Consolas"/>
                          <a:sym typeface="Consolas"/>
                        </a:rPr>
                        <a:t>log</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'Request URL:'</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req</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originalUrl</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DCDCAA"/>
                          </a:solidFill>
                          <a:latin typeface="Consolas"/>
                          <a:ea typeface="Consolas"/>
                          <a:cs typeface="Consolas"/>
                          <a:sym typeface="Consolas"/>
                        </a:rPr>
                        <a:t>next</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req</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next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=&gt;</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console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CDCAA"/>
                          </a:solidFill>
                          <a:latin typeface="Consolas"/>
                          <a:ea typeface="Consolas"/>
                          <a:cs typeface="Consolas"/>
                          <a:sym typeface="Consolas"/>
                        </a:rPr>
                        <a:t>log</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'Request Type:'</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req</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method</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DCDCAA"/>
                          </a:solidFill>
                          <a:latin typeface="Consolas"/>
                          <a:ea typeface="Consolas"/>
                          <a:cs typeface="Consolas"/>
                          <a:sym typeface="Consolas"/>
                        </a:rPr>
                        <a:t>next</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tc hMerge="1">
                  <a:txBody>
                    <a:bodyPr/>
                    <a:lstStyle/>
                    <a:p>
                      <a:endParaRPr lang="en-US"/>
                    </a:p>
                  </a:txBody>
                  <a:tcPr/>
                </a:tc>
                <a:extLst>
                  <a:ext uri="{0D108BD9-81ED-4DB2-BD59-A6C34878D82A}">
                    <a16:rowId xmlns:a16="http://schemas.microsoft.com/office/drawing/2014/main" val="10001"/>
                  </a:ext>
                </a:extLst>
              </a:tr>
              <a:tr h="350150">
                <a:tc gridSpan="2">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Route handlers enable you to define multiple routes for a path. The example below defines two routes for GET requests to the /user/:id path. The second route will not cause any problems, but it will never get called because the first route ends the request-response cycle.</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This example shows a middleware sub-stack that handles GET requests to the /user/:id path.</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2"/>
                  </a:ext>
                </a:extLst>
              </a:tr>
              <a:tr h="350150">
                <a:tc gridSpan="2">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9CDCFE"/>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get</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'/user/:id'</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req</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next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=&gt;</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console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CDCAA"/>
                          </a:solidFill>
                          <a:latin typeface="Consolas"/>
                          <a:ea typeface="Consolas"/>
                          <a:cs typeface="Consolas"/>
                          <a:sym typeface="Consolas"/>
                        </a:rPr>
                        <a:t>log</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'ID:'</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req</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params</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id</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DCDCAA"/>
                          </a:solidFill>
                          <a:latin typeface="Consolas"/>
                          <a:ea typeface="Consolas"/>
                          <a:cs typeface="Consolas"/>
                          <a:sym typeface="Consolas"/>
                        </a:rPr>
                        <a:t>next</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req</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next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=&gt;</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res</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send</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'User Info'</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6A9955"/>
                          </a:solidFill>
                          <a:latin typeface="Consolas"/>
                          <a:ea typeface="Consolas"/>
                          <a:cs typeface="Consolas"/>
                          <a:sym typeface="Consolas"/>
                        </a:rPr>
                        <a:t>// handler for the /user/:id path, which prints the user ID</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9CDCFE"/>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get</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'/user/:id'</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req</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next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=&gt;</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res</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send</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req</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params</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id</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tc hMerge="1">
                  <a:txBody>
                    <a:bodyPr/>
                    <a:lstStyle/>
                    <a:p>
                      <a:endParaRPr lang="en-US"/>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46"/>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354" name="Google Shape;354;p46"/>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355" name="Google Shape;355;p46"/>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20</a:t>
            </a:fld>
            <a:endParaRPr/>
          </a:p>
        </p:txBody>
      </p:sp>
      <p:graphicFrame>
        <p:nvGraphicFramePr>
          <p:cNvPr id="356" name="Google Shape;356;p46"/>
          <p:cNvGraphicFramePr/>
          <p:nvPr>
            <p:extLst>
              <p:ext uri="{D42A27DB-BD31-4B8C-83A1-F6EECF244321}">
                <p14:modId xmlns:p14="http://schemas.microsoft.com/office/powerpoint/2010/main" val="732568916"/>
              </p:ext>
            </p:extLst>
          </p:nvPr>
        </p:nvGraphicFramePr>
        <p:xfrm>
          <a:off x="1017988" y="2046895"/>
          <a:ext cx="10865618" cy="4114710"/>
        </p:xfrm>
        <a:graphic>
          <a:graphicData uri="http://schemas.openxmlformats.org/drawingml/2006/table">
            <a:tbl>
              <a:tblPr>
                <a:noFill/>
                <a:tableStyleId>{99CD84AF-14CF-470D-B69C-EB98024C896D}</a:tableStyleId>
              </a:tblPr>
              <a:tblGrid>
                <a:gridCol w="5432809">
                  <a:extLst>
                    <a:ext uri="{9D8B030D-6E8A-4147-A177-3AD203B41FA5}">
                      <a16:colId xmlns:a16="http://schemas.microsoft.com/office/drawing/2014/main" val="20000"/>
                    </a:ext>
                  </a:extLst>
                </a:gridCol>
                <a:gridCol w="5432809">
                  <a:extLst>
                    <a:ext uri="{9D8B030D-6E8A-4147-A177-3AD203B41FA5}">
                      <a16:colId xmlns:a16="http://schemas.microsoft.com/office/drawing/2014/main" val="20001"/>
                    </a:ext>
                  </a:extLst>
                </a:gridCol>
              </a:tblGrid>
              <a:tr h="350150">
                <a:tc gridSpan="2">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300" u="none" strike="noStrike" cap="none">
                          <a:latin typeface="Times New Roman"/>
                          <a:ea typeface="Times New Roman"/>
                          <a:cs typeface="Times New Roman"/>
                          <a:sym typeface="Times New Roman"/>
                        </a:rPr>
                        <a:t>To skip the rest of the middleware functions from a router middleware stack, call next('route') to pass control to the next route. </a:t>
                      </a:r>
                      <a:endParaRPr sz="13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300" u="none" strike="noStrike" cap="none">
                          <a:latin typeface="Times New Roman"/>
                          <a:ea typeface="Times New Roman"/>
                          <a:cs typeface="Times New Roman"/>
                          <a:sym typeface="Times New Roman"/>
                        </a:rPr>
                        <a:t>NOTE: next('route') will work only in middleware functions that were loaded by using the app.METHOD() or router.METHOD() functions.</a:t>
                      </a:r>
                      <a:endParaRPr sz="13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300" u="none" strike="noStrike" cap="none">
                          <a:latin typeface="Times New Roman"/>
                          <a:ea typeface="Times New Roman"/>
                          <a:cs typeface="Times New Roman"/>
                          <a:sym typeface="Times New Roman"/>
                        </a:rPr>
                        <a:t>This example shows a middleware sub-stack that handles GET requests to the /user/:id path.</a:t>
                      </a:r>
                      <a:endParaRPr sz="13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0"/>
                  </a:ext>
                </a:extLst>
              </a:tr>
              <a:tr h="350150">
                <a:tc gridSpan="2">
                  <a:txBody>
                    <a:bodyPr/>
                    <a:lstStyle/>
                    <a:p>
                      <a:pPr marL="0" marR="0" lvl="0" indent="0" algn="l" rtl="0">
                        <a:lnSpc>
                          <a:spcPct val="100000"/>
                        </a:lnSpc>
                        <a:spcBef>
                          <a:spcPts val="0"/>
                        </a:spcBef>
                        <a:spcAft>
                          <a:spcPts val="0"/>
                        </a:spcAft>
                        <a:buClr>
                          <a:srgbClr val="000000"/>
                        </a:buClr>
                        <a:buSzPts val="1050"/>
                        <a:buFont typeface="Arial"/>
                        <a:buNone/>
                      </a:pPr>
                      <a:r>
                        <a:rPr lang="en-US" sz="1300" u="none" strike="noStrike" cap="none" dirty="0" err="1">
                          <a:solidFill>
                            <a:srgbClr val="9CDCFE"/>
                          </a:solidFill>
                          <a:latin typeface="Consolas"/>
                          <a:ea typeface="Consolas"/>
                          <a:cs typeface="Consolas"/>
                          <a:sym typeface="Consolas"/>
                        </a:rPr>
                        <a:t>app</a:t>
                      </a:r>
                      <a:r>
                        <a:rPr lang="en-US" sz="1300" u="none" strike="noStrike" cap="none" dirty="0" err="1">
                          <a:solidFill>
                            <a:srgbClr val="D4D4D4"/>
                          </a:solidFill>
                          <a:latin typeface="Consolas"/>
                          <a:ea typeface="Consolas"/>
                          <a:cs typeface="Consolas"/>
                          <a:sym typeface="Consolas"/>
                        </a:rPr>
                        <a:t>.</a:t>
                      </a:r>
                      <a:r>
                        <a:rPr lang="en-US" sz="1300" u="none" strike="noStrike" cap="none" dirty="0" err="1">
                          <a:solidFill>
                            <a:srgbClr val="DCDCAA"/>
                          </a:solidFill>
                          <a:latin typeface="Consolas"/>
                          <a:ea typeface="Consolas"/>
                          <a:cs typeface="Consolas"/>
                          <a:sym typeface="Consolas"/>
                        </a:rPr>
                        <a:t>get</a:t>
                      </a:r>
                      <a:r>
                        <a:rPr lang="en-US" sz="1300" u="none" strike="noStrike" cap="none" dirty="0">
                          <a:solidFill>
                            <a:srgbClr val="D4D4D4"/>
                          </a:solidFill>
                          <a:latin typeface="Consolas"/>
                          <a:ea typeface="Consolas"/>
                          <a:cs typeface="Consolas"/>
                          <a:sym typeface="Consolas"/>
                        </a:rPr>
                        <a:t>(</a:t>
                      </a:r>
                      <a:r>
                        <a:rPr lang="en-US" sz="1300" u="none" strike="noStrike" cap="none" dirty="0">
                          <a:solidFill>
                            <a:srgbClr val="CE9178"/>
                          </a:solidFill>
                          <a:latin typeface="Consolas"/>
                          <a:ea typeface="Consolas"/>
                          <a:cs typeface="Consolas"/>
                          <a:sym typeface="Consolas"/>
                        </a:rPr>
                        <a:t>'/user/:id'</a:t>
                      </a:r>
                      <a:r>
                        <a:rPr lang="en-US" sz="1300" u="none" strike="noStrike" cap="none" dirty="0">
                          <a:solidFill>
                            <a:srgbClr val="D4D4D4"/>
                          </a:solidFill>
                          <a:latin typeface="Consolas"/>
                          <a:ea typeface="Consolas"/>
                          <a:cs typeface="Consolas"/>
                          <a:sym typeface="Consolas"/>
                        </a:rPr>
                        <a:t>, (</a:t>
                      </a:r>
                      <a:r>
                        <a:rPr lang="en-US" sz="1300" u="none" strike="noStrike" cap="none" dirty="0">
                          <a:solidFill>
                            <a:srgbClr val="9CDCFE"/>
                          </a:solidFill>
                          <a:latin typeface="Consolas"/>
                          <a:ea typeface="Consolas"/>
                          <a:cs typeface="Consolas"/>
                          <a:sym typeface="Consolas"/>
                        </a:rPr>
                        <a:t>req</a:t>
                      </a:r>
                      <a:r>
                        <a:rPr lang="en-US" sz="1300" u="none" strike="noStrike" cap="none" dirty="0">
                          <a:solidFill>
                            <a:srgbClr val="D4D4D4"/>
                          </a:solidFill>
                          <a:latin typeface="Consolas"/>
                          <a:ea typeface="Consolas"/>
                          <a:cs typeface="Consolas"/>
                          <a:sym typeface="Consolas"/>
                        </a:rPr>
                        <a:t>, </a:t>
                      </a:r>
                      <a:r>
                        <a:rPr lang="en-US" sz="1300" u="none" strike="noStrike" cap="none" dirty="0">
                          <a:solidFill>
                            <a:srgbClr val="9CDCFE"/>
                          </a:solidFill>
                          <a:latin typeface="Consolas"/>
                          <a:ea typeface="Consolas"/>
                          <a:cs typeface="Consolas"/>
                          <a:sym typeface="Consolas"/>
                        </a:rPr>
                        <a:t>res</a:t>
                      </a:r>
                      <a:r>
                        <a:rPr lang="en-US" sz="1300" u="none" strike="noStrike" cap="none" dirty="0">
                          <a:solidFill>
                            <a:srgbClr val="D4D4D4"/>
                          </a:solidFill>
                          <a:latin typeface="Consolas"/>
                          <a:ea typeface="Consolas"/>
                          <a:cs typeface="Consolas"/>
                          <a:sym typeface="Consolas"/>
                        </a:rPr>
                        <a:t>, </a:t>
                      </a:r>
                      <a:r>
                        <a:rPr lang="en-US" sz="1300" u="none" strike="noStrike" cap="none" dirty="0">
                          <a:solidFill>
                            <a:srgbClr val="9CDCFE"/>
                          </a:solidFill>
                          <a:latin typeface="Consolas"/>
                          <a:ea typeface="Consolas"/>
                          <a:cs typeface="Consolas"/>
                          <a:sym typeface="Consolas"/>
                        </a:rPr>
                        <a:t>next</a:t>
                      </a:r>
                      <a:r>
                        <a:rPr lang="en-US" sz="1300" u="none" strike="noStrike" cap="none" dirty="0">
                          <a:solidFill>
                            <a:srgbClr val="D4D4D4"/>
                          </a:solidFill>
                          <a:latin typeface="Consolas"/>
                          <a:ea typeface="Consolas"/>
                          <a:cs typeface="Consolas"/>
                          <a:sym typeface="Consolas"/>
                        </a:rPr>
                        <a:t>) </a:t>
                      </a:r>
                      <a:r>
                        <a:rPr lang="en-US" sz="1300" u="none" strike="noStrike" cap="none" dirty="0">
                          <a:solidFill>
                            <a:srgbClr val="569CD6"/>
                          </a:solidFill>
                          <a:latin typeface="Consolas"/>
                          <a:ea typeface="Consolas"/>
                          <a:cs typeface="Consolas"/>
                          <a:sym typeface="Consolas"/>
                        </a:rPr>
                        <a:t>=&gt;</a:t>
                      </a:r>
                      <a:r>
                        <a:rPr lang="en-US" sz="1300" u="none" strike="noStrike" cap="none" dirty="0">
                          <a:solidFill>
                            <a:srgbClr val="D4D4D4"/>
                          </a:solidFill>
                          <a:latin typeface="Consolas"/>
                          <a:ea typeface="Consolas"/>
                          <a:cs typeface="Consolas"/>
                          <a:sym typeface="Consolas"/>
                        </a:rPr>
                        <a:t> {</a:t>
                      </a:r>
                      <a:endParaRPr sz="13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300" u="none" strike="noStrike" cap="none" dirty="0">
                          <a:solidFill>
                            <a:srgbClr val="D4D4D4"/>
                          </a:solidFill>
                          <a:latin typeface="Consolas"/>
                          <a:ea typeface="Consolas"/>
                          <a:cs typeface="Consolas"/>
                          <a:sym typeface="Consolas"/>
                        </a:rPr>
                        <a:t>  </a:t>
                      </a:r>
                      <a:r>
                        <a:rPr lang="en-US" sz="1300" u="none" strike="noStrike" cap="none" dirty="0">
                          <a:solidFill>
                            <a:srgbClr val="6A9955"/>
                          </a:solidFill>
                          <a:latin typeface="Consolas"/>
                          <a:ea typeface="Consolas"/>
                          <a:cs typeface="Consolas"/>
                          <a:sym typeface="Consolas"/>
                        </a:rPr>
                        <a:t>// if the user ID is 0, skip to the next route</a:t>
                      </a:r>
                      <a:endParaRPr sz="13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300" u="none" strike="noStrike" cap="none" dirty="0">
                          <a:solidFill>
                            <a:srgbClr val="D4D4D4"/>
                          </a:solidFill>
                          <a:latin typeface="Consolas"/>
                          <a:ea typeface="Consolas"/>
                          <a:cs typeface="Consolas"/>
                          <a:sym typeface="Consolas"/>
                        </a:rPr>
                        <a:t>  </a:t>
                      </a:r>
                      <a:r>
                        <a:rPr lang="en-US" sz="1300" u="none" strike="noStrike" cap="none" dirty="0">
                          <a:solidFill>
                            <a:srgbClr val="C586C0"/>
                          </a:solidFill>
                          <a:latin typeface="Consolas"/>
                          <a:ea typeface="Consolas"/>
                          <a:cs typeface="Consolas"/>
                          <a:sym typeface="Consolas"/>
                        </a:rPr>
                        <a:t>if</a:t>
                      </a:r>
                      <a:r>
                        <a:rPr lang="en-US" sz="1300" u="none" strike="noStrike" cap="none" dirty="0">
                          <a:solidFill>
                            <a:srgbClr val="D4D4D4"/>
                          </a:solidFill>
                          <a:latin typeface="Consolas"/>
                          <a:ea typeface="Consolas"/>
                          <a:cs typeface="Consolas"/>
                          <a:sym typeface="Consolas"/>
                        </a:rPr>
                        <a:t> (</a:t>
                      </a:r>
                      <a:r>
                        <a:rPr lang="en-US" sz="1300" u="none" strike="noStrike" cap="none" dirty="0">
                          <a:solidFill>
                            <a:srgbClr val="9CDCFE"/>
                          </a:solidFill>
                          <a:latin typeface="Consolas"/>
                          <a:ea typeface="Consolas"/>
                          <a:cs typeface="Consolas"/>
                          <a:sym typeface="Consolas"/>
                        </a:rPr>
                        <a:t>req</a:t>
                      </a:r>
                      <a:r>
                        <a:rPr lang="en-US" sz="1300" u="none" strike="noStrike" cap="none" dirty="0">
                          <a:solidFill>
                            <a:srgbClr val="D4D4D4"/>
                          </a:solidFill>
                          <a:latin typeface="Consolas"/>
                          <a:ea typeface="Consolas"/>
                          <a:cs typeface="Consolas"/>
                          <a:sym typeface="Consolas"/>
                        </a:rPr>
                        <a:t>.</a:t>
                      </a:r>
                      <a:r>
                        <a:rPr lang="en-US" sz="1300" u="none" strike="noStrike" cap="none" dirty="0">
                          <a:solidFill>
                            <a:srgbClr val="9CDCFE"/>
                          </a:solidFill>
                          <a:latin typeface="Consolas"/>
                          <a:ea typeface="Consolas"/>
                          <a:cs typeface="Consolas"/>
                          <a:sym typeface="Consolas"/>
                        </a:rPr>
                        <a:t>params</a:t>
                      </a:r>
                      <a:r>
                        <a:rPr lang="en-US" sz="1300" u="none" strike="noStrike" cap="none" dirty="0">
                          <a:solidFill>
                            <a:srgbClr val="D4D4D4"/>
                          </a:solidFill>
                          <a:latin typeface="Consolas"/>
                          <a:ea typeface="Consolas"/>
                          <a:cs typeface="Consolas"/>
                          <a:sym typeface="Consolas"/>
                        </a:rPr>
                        <a:t>.</a:t>
                      </a:r>
                      <a:r>
                        <a:rPr lang="en-US" sz="1300" u="none" strike="noStrike" cap="none" dirty="0">
                          <a:solidFill>
                            <a:srgbClr val="9CDCFE"/>
                          </a:solidFill>
                          <a:latin typeface="Consolas"/>
                          <a:ea typeface="Consolas"/>
                          <a:cs typeface="Consolas"/>
                          <a:sym typeface="Consolas"/>
                        </a:rPr>
                        <a:t>id</a:t>
                      </a:r>
                      <a:r>
                        <a:rPr lang="en-US" sz="1300" u="none" strike="noStrike" cap="none" dirty="0">
                          <a:solidFill>
                            <a:srgbClr val="D4D4D4"/>
                          </a:solidFill>
                          <a:latin typeface="Consolas"/>
                          <a:ea typeface="Consolas"/>
                          <a:cs typeface="Consolas"/>
                          <a:sym typeface="Consolas"/>
                        </a:rPr>
                        <a:t> === </a:t>
                      </a:r>
                      <a:r>
                        <a:rPr lang="en-US" sz="1300" u="none" strike="noStrike" cap="none" dirty="0">
                          <a:solidFill>
                            <a:srgbClr val="CE9178"/>
                          </a:solidFill>
                          <a:latin typeface="Consolas"/>
                          <a:ea typeface="Consolas"/>
                          <a:cs typeface="Consolas"/>
                          <a:sym typeface="Consolas"/>
                        </a:rPr>
                        <a:t>'0'</a:t>
                      </a:r>
                      <a:r>
                        <a:rPr lang="en-US" sz="1300" u="none" strike="noStrike" cap="none" dirty="0">
                          <a:solidFill>
                            <a:srgbClr val="D4D4D4"/>
                          </a:solidFill>
                          <a:latin typeface="Consolas"/>
                          <a:ea typeface="Consolas"/>
                          <a:cs typeface="Consolas"/>
                          <a:sym typeface="Consolas"/>
                        </a:rPr>
                        <a:t>) </a:t>
                      </a:r>
                      <a:r>
                        <a:rPr lang="en-US" sz="1300" u="none" strike="noStrike" cap="none" dirty="0">
                          <a:solidFill>
                            <a:srgbClr val="DCDCAA"/>
                          </a:solidFill>
                          <a:latin typeface="Consolas"/>
                          <a:ea typeface="Consolas"/>
                          <a:cs typeface="Consolas"/>
                          <a:sym typeface="Consolas"/>
                        </a:rPr>
                        <a:t>next</a:t>
                      </a:r>
                      <a:r>
                        <a:rPr lang="en-US" sz="1300" u="none" strike="noStrike" cap="none" dirty="0">
                          <a:solidFill>
                            <a:srgbClr val="D4D4D4"/>
                          </a:solidFill>
                          <a:latin typeface="Consolas"/>
                          <a:ea typeface="Consolas"/>
                          <a:cs typeface="Consolas"/>
                          <a:sym typeface="Consolas"/>
                        </a:rPr>
                        <a:t>(</a:t>
                      </a:r>
                      <a:r>
                        <a:rPr lang="en-US" sz="1300" u="none" strike="noStrike" cap="none" dirty="0">
                          <a:solidFill>
                            <a:srgbClr val="CE9178"/>
                          </a:solidFill>
                          <a:latin typeface="Consolas"/>
                          <a:ea typeface="Consolas"/>
                          <a:cs typeface="Consolas"/>
                          <a:sym typeface="Consolas"/>
                        </a:rPr>
                        <a:t>'route'</a:t>
                      </a:r>
                      <a:r>
                        <a:rPr lang="en-US" sz="1300" u="none" strike="noStrike" cap="none" dirty="0">
                          <a:solidFill>
                            <a:srgbClr val="D4D4D4"/>
                          </a:solidFill>
                          <a:latin typeface="Consolas"/>
                          <a:ea typeface="Consolas"/>
                          <a:cs typeface="Consolas"/>
                          <a:sym typeface="Consolas"/>
                        </a:rPr>
                        <a:t>)</a:t>
                      </a:r>
                      <a:endParaRPr sz="13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300" u="none" strike="noStrike" cap="none" dirty="0">
                          <a:solidFill>
                            <a:srgbClr val="D4D4D4"/>
                          </a:solidFill>
                          <a:latin typeface="Consolas"/>
                          <a:ea typeface="Consolas"/>
                          <a:cs typeface="Consolas"/>
                          <a:sym typeface="Consolas"/>
                        </a:rPr>
                        <a:t>  </a:t>
                      </a:r>
                      <a:r>
                        <a:rPr lang="en-US" sz="1300" u="none" strike="noStrike" cap="none" dirty="0">
                          <a:solidFill>
                            <a:srgbClr val="6A9955"/>
                          </a:solidFill>
                          <a:latin typeface="Consolas"/>
                          <a:ea typeface="Consolas"/>
                          <a:cs typeface="Consolas"/>
                          <a:sym typeface="Consolas"/>
                        </a:rPr>
                        <a:t>// otherwise pass the control to the next middleware function in this stack</a:t>
                      </a:r>
                      <a:endParaRPr sz="13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300" u="none" strike="noStrike" cap="none" dirty="0">
                          <a:solidFill>
                            <a:srgbClr val="D4D4D4"/>
                          </a:solidFill>
                          <a:latin typeface="Consolas"/>
                          <a:ea typeface="Consolas"/>
                          <a:cs typeface="Consolas"/>
                          <a:sym typeface="Consolas"/>
                        </a:rPr>
                        <a:t>  </a:t>
                      </a:r>
                      <a:r>
                        <a:rPr lang="en-US" sz="1300" u="none" strike="noStrike" cap="none" dirty="0">
                          <a:solidFill>
                            <a:srgbClr val="C586C0"/>
                          </a:solidFill>
                          <a:latin typeface="Consolas"/>
                          <a:ea typeface="Consolas"/>
                          <a:cs typeface="Consolas"/>
                          <a:sym typeface="Consolas"/>
                        </a:rPr>
                        <a:t>else</a:t>
                      </a:r>
                      <a:r>
                        <a:rPr lang="en-US" sz="1300" u="none" strike="noStrike" cap="none" dirty="0">
                          <a:solidFill>
                            <a:srgbClr val="D4D4D4"/>
                          </a:solidFill>
                          <a:latin typeface="Consolas"/>
                          <a:ea typeface="Consolas"/>
                          <a:cs typeface="Consolas"/>
                          <a:sym typeface="Consolas"/>
                        </a:rPr>
                        <a:t> </a:t>
                      </a:r>
                      <a:r>
                        <a:rPr lang="en-US" sz="1300" u="none" strike="noStrike" cap="none" dirty="0">
                          <a:solidFill>
                            <a:srgbClr val="DCDCAA"/>
                          </a:solidFill>
                          <a:latin typeface="Consolas"/>
                          <a:ea typeface="Consolas"/>
                          <a:cs typeface="Consolas"/>
                          <a:sym typeface="Consolas"/>
                        </a:rPr>
                        <a:t>next</a:t>
                      </a:r>
                      <a:r>
                        <a:rPr lang="en-US" sz="1300" u="none" strike="noStrike" cap="none" dirty="0">
                          <a:solidFill>
                            <a:srgbClr val="D4D4D4"/>
                          </a:solidFill>
                          <a:latin typeface="Consolas"/>
                          <a:ea typeface="Consolas"/>
                          <a:cs typeface="Consolas"/>
                          <a:sym typeface="Consolas"/>
                        </a:rPr>
                        <a:t>()</a:t>
                      </a:r>
                      <a:endParaRPr sz="13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300" u="none" strike="noStrike" cap="none" dirty="0">
                          <a:solidFill>
                            <a:srgbClr val="D4D4D4"/>
                          </a:solidFill>
                          <a:latin typeface="Consolas"/>
                          <a:ea typeface="Consolas"/>
                          <a:cs typeface="Consolas"/>
                          <a:sym typeface="Consolas"/>
                        </a:rPr>
                        <a:t>}, (</a:t>
                      </a:r>
                      <a:r>
                        <a:rPr lang="en-US" sz="1300" u="none" strike="noStrike" cap="none" dirty="0">
                          <a:solidFill>
                            <a:srgbClr val="9CDCFE"/>
                          </a:solidFill>
                          <a:latin typeface="Consolas"/>
                          <a:ea typeface="Consolas"/>
                          <a:cs typeface="Consolas"/>
                          <a:sym typeface="Consolas"/>
                        </a:rPr>
                        <a:t>req</a:t>
                      </a:r>
                      <a:r>
                        <a:rPr lang="en-US" sz="1300" u="none" strike="noStrike" cap="none" dirty="0">
                          <a:solidFill>
                            <a:srgbClr val="D4D4D4"/>
                          </a:solidFill>
                          <a:latin typeface="Consolas"/>
                          <a:ea typeface="Consolas"/>
                          <a:cs typeface="Consolas"/>
                          <a:sym typeface="Consolas"/>
                        </a:rPr>
                        <a:t>, </a:t>
                      </a:r>
                      <a:r>
                        <a:rPr lang="en-US" sz="1300" u="none" strike="noStrike" cap="none" dirty="0">
                          <a:solidFill>
                            <a:srgbClr val="9CDCFE"/>
                          </a:solidFill>
                          <a:latin typeface="Consolas"/>
                          <a:ea typeface="Consolas"/>
                          <a:cs typeface="Consolas"/>
                          <a:sym typeface="Consolas"/>
                        </a:rPr>
                        <a:t>res</a:t>
                      </a:r>
                      <a:r>
                        <a:rPr lang="en-US" sz="1300" u="none" strike="noStrike" cap="none" dirty="0">
                          <a:solidFill>
                            <a:srgbClr val="D4D4D4"/>
                          </a:solidFill>
                          <a:latin typeface="Consolas"/>
                          <a:ea typeface="Consolas"/>
                          <a:cs typeface="Consolas"/>
                          <a:sym typeface="Consolas"/>
                        </a:rPr>
                        <a:t>, </a:t>
                      </a:r>
                      <a:r>
                        <a:rPr lang="en-US" sz="1300" u="none" strike="noStrike" cap="none" dirty="0">
                          <a:solidFill>
                            <a:srgbClr val="9CDCFE"/>
                          </a:solidFill>
                          <a:latin typeface="Consolas"/>
                          <a:ea typeface="Consolas"/>
                          <a:cs typeface="Consolas"/>
                          <a:sym typeface="Consolas"/>
                        </a:rPr>
                        <a:t>next</a:t>
                      </a:r>
                      <a:r>
                        <a:rPr lang="en-US" sz="1300" u="none" strike="noStrike" cap="none" dirty="0">
                          <a:solidFill>
                            <a:srgbClr val="D4D4D4"/>
                          </a:solidFill>
                          <a:latin typeface="Consolas"/>
                          <a:ea typeface="Consolas"/>
                          <a:cs typeface="Consolas"/>
                          <a:sym typeface="Consolas"/>
                        </a:rPr>
                        <a:t>) </a:t>
                      </a:r>
                      <a:r>
                        <a:rPr lang="en-US" sz="1300" u="none" strike="noStrike" cap="none" dirty="0">
                          <a:solidFill>
                            <a:srgbClr val="569CD6"/>
                          </a:solidFill>
                          <a:latin typeface="Consolas"/>
                          <a:ea typeface="Consolas"/>
                          <a:cs typeface="Consolas"/>
                          <a:sym typeface="Consolas"/>
                        </a:rPr>
                        <a:t>=&gt;</a:t>
                      </a:r>
                      <a:r>
                        <a:rPr lang="en-US" sz="1300" u="none" strike="noStrike" cap="none" dirty="0">
                          <a:solidFill>
                            <a:srgbClr val="D4D4D4"/>
                          </a:solidFill>
                          <a:latin typeface="Consolas"/>
                          <a:ea typeface="Consolas"/>
                          <a:cs typeface="Consolas"/>
                          <a:sym typeface="Consolas"/>
                        </a:rPr>
                        <a:t> {</a:t>
                      </a:r>
                      <a:endParaRPr sz="13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300" u="none" strike="noStrike" cap="none" dirty="0">
                          <a:solidFill>
                            <a:srgbClr val="D4D4D4"/>
                          </a:solidFill>
                          <a:latin typeface="Consolas"/>
                          <a:ea typeface="Consolas"/>
                          <a:cs typeface="Consolas"/>
                          <a:sym typeface="Consolas"/>
                        </a:rPr>
                        <a:t>  </a:t>
                      </a:r>
                      <a:r>
                        <a:rPr lang="en-US" sz="1300" u="none" strike="noStrike" cap="none" dirty="0">
                          <a:solidFill>
                            <a:srgbClr val="6A9955"/>
                          </a:solidFill>
                          <a:latin typeface="Consolas"/>
                          <a:ea typeface="Consolas"/>
                          <a:cs typeface="Consolas"/>
                          <a:sym typeface="Consolas"/>
                        </a:rPr>
                        <a:t>// send a regular response</a:t>
                      </a:r>
                      <a:endParaRPr sz="13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300" u="none" strike="noStrike" cap="none" dirty="0">
                          <a:solidFill>
                            <a:srgbClr val="D4D4D4"/>
                          </a:solidFill>
                          <a:latin typeface="Consolas"/>
                          <a:ea typeface="Consolas"/>
                          <a:cs typeface="Consolas"/>
                          <a:sym typeface="Consolas"/>
                        </a:rPr>
                        <a:t>  </a:t>
                      </a:r>
                      <a:r>
                        <a:rPr lang="en-US" sz="1300" u="none" strike="noStrike" cap="none" dirty="0" err="1">
                          <a:solidFill>
                            <a:srgbClr val="9CDCFE"/>
                          </a:solidFill>
                          <a:latin typeface="Consolas"/>
                          <a:ea typeface="Consolas"/>
                          <a:cs typeface="Consolas"/>
                          <a:sym typeface="Consolas"/>
                        </a:rPr>
                        <a:t>res</a:t>
                      </a:r>
                      <a:r>
                        <a:rPr lang="en-US" sz="1300" u="none" strike="noStrike" cap="none" dirty="0" err="1">
                          <a:solidFill>
                            <a:srgbClr val="D4D4D4"/>
                          </a:solidFill>
                          <a:latin typeface="Consolas"/>
                          <a:ea typeface="Consolas"/>
                          <a:cs typeface="Consolas"/>
                          <a:sym typeface="Consolas"/>
                        </a:rPr>
                        <a:t>.</a:t>
                      </a:r>
                      <a:r>
                        <a:rPr lang="en-US" sz="1300" u="none" strike="noStrike" cap="none" dirty="0" err="1">
                          <a:solidFill>
                            <a:srgbClr val="DCDCAA"/>
                          </a:solidFill>
                          <a:latin typeface="Consolas"/>
                          <a:ea typeface="Consolas"/>
                          <a:cs typeface="Consolas"/>
                          <a:sym typeface="Consolas"/>
                        </a:rPr>
                        <a:t>send</a:t>
                      </a:r>
                      <a:r>
                        <a:rPr lang="en-US" sz="1300" u="none" strike="noStrike" cap="none" dirty="0">
                          <a:solidFill>
                            <a:srgbClr val="D4D4D4"/>
                          </a:solidFill>
                          <a:latin typeface="Consolas"/>
                          <a:ea typeface="Consolas"/>
                          <a:cs typeface="Consolas"/>
                          <a:sym typeface="Consolas"/>
                        </a:rPr>
                        <a:t>(</a:t>
                      </a:r>
                      <a:r>
                        <a:rPr lang="en-US" sz="1300" u="none" strike="noStrike" cap="none" dirty="0">
                          <a:solidFill>
                            <a:srgbClr val="CE9178"/>
                          </a:solidFill>
                          <a:latin typeface="Consolas"/>
                          <a:ea typeface="Consolas"/>
                          <a:cs typeface="Consolas"/>
                          <a:sym typeface="Consolas"/>
                        </a:rPr>
                        <a:t>'regular'</a:t>
                      </a:r>
                      <a:r>
                        <a:rPr lang="en-US" sz="1300" u="none" strike="noStrike" cap="none" dirty="0">
                          <a:solidFill>
                            <a:srgbClr val="D4D4D4"/>
                          </a:solidFill>
                          <a:latin typeface="Consolas"/>
                          <a:ea typeface="Consolas"/>
                          <a:cs typeface="Consolas"/>
                          <a:sym typeface="Consolas"/>
                        </a:rPr>
                        <a:t>)</a:t>
                      </a:r>
                      <a:endParaRPr sz="13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300" u="none" strike="noStrike" cap="none" dirty="0">
                          <a:solidFill>
                            <a:srgbClr val="D4D4D4"/>
                          </a:solidFill>
                          <a:latin typeface="Consolas"/>
                          <a:ea typeface="Consolas"/>
                          <a:cs typeface="Consolas"/>
                          <a:sym typeface="Consolas"/>
                        </a:rPr>
                        <a:t>})</a:t>
                      </a:r>
                      <a:endParaRPr sz="13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3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300" u="none" strike="noStrike" cap="none" dirty="0">
                          <a:solidFill>
                            <a:srgbClr val="6A9955"/>
                          </a:solidFill>
                          <a:latin typeface="Consolas"/>
                          <a:ea typeface="Consolas"/>
                          <a:cs typeface="Consolas"/>
                          <a:sym typeface="Consolas"/>
                        </a:rPr>
                        <a:t>// handler for the /user/:id path, which sends a special response</a:t>
                      </a:r>
                      <a:endParaRPr sz="13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300" u="none" strike="noStrike" cap="none" dirty="0" err="1">
                          <a:solidFill>
                            <a:srgbClr val="9CDCFE"/>
                          </a:solidFill>
                          <a:latin typeface="Consolas"/>
                          <a:ea typeface="Consolas"/>
                          <a:cs typeface="Consolas"/>
                          <a:sym typeface="Consolas"/>
                        </a:rPr>
                        <a:t>app</a:t>
                      </a:r>
                      <a:r>
                        <a:rPr lang="en-US" sz="1300" u="none" strike="noStrike" cap="none" dirty="0" err="1">
                          <a:solidFill>
                            <a:srgbClr val="D4D4D4"/>
                          </a:solidFill>
                          <a:latin typeface="Consolas"/>
                          <a:ea typeface="Consolas"/>
                          <a:cs typeface="Consolas"/>
                          <a:sym typeface="Consolas"/>
                        </a:rPr>
                        <a:t>.</a:t>
                      </a:r>
                      <a:r>
                        <a:rPr lang="en-US" sz="1300" u="none" strike="noStrike" cap="none" dirty="0" err="1">
                          <a:solidFill>
                            <a:srgbClr val="DCDCAA"/>
                          </a:solidFill>
                          <a:latin typeface="Consolas"/>
                          <a:ea typeface="Consolas"/>
                          <a:cs typeface="Consolas"/>
                          <a:sym typeface="Consolas"/>
                        </a:rPr>
                        <a:t>get</a:t>
                      </a:r>
                      <a:r>
                        <a:rPr lang="en-US" sz="1300" u="none" strike="noStrike" cap="none" dirty="0">
                          <a:solidFill>
                            <a:srgbClr val="D4D4D4"/>
                          </a:solidFill>
                          <a:latin typeface="Consolas"/>
                          <a:ea typeface="Consolas"/>
                          <a:cs typeface="Consolas"/>
                          <a:sym typeface="Consolas"/>
                        </a:rPr>
                        <a:t>(</a:t>
                      </a:r>
                      <a:r>
                        <a:rPr lang="en-US" sz="1300" u="none" strike="noStrike" cap="none" dirty="0">
                          <a:solidFill>
                            <a:srgbClr val="CE9178"/>
                          </a:solidFill>
                          <a:latin typeface="Consolas"/>
                          <a:ea typeface="Consolas"/>
                          <a:cs typeface="Consolas"/>
                          <a:sym typeface="Consolas"/>
                        </a:rPr>
                        <a:t>'/user/:id'</a:t>
                      </a:r>
                      <a:r>
                        <a:rPr lang="en-US" sz="1300" u="none" strike="noStrike" cap="none" dirty="0">
                          <a:solidFill>
                            <a:srgbClr val="D4D4D4"/>
                          </a:solidFill>
                          <a:latin typeface="Consolas"/>
                          <a:ea typeface="Consolas"/>
                          <a:cs typeface="Consolas"/>
                          <a:sym typeface="Consolas"/>
                        </a:rPr>
                        <a:t>, (</a:t>
                      </a:r>
                      <a:r>
                        <a:rPr lang="en-US" sz="1300" u="none" strike="noStrike" cap="none" dirty="0">
                          <a:solidFill>
                            <a:srgbClr val="9CDCFE"/>
                          </a:solidFill>
                          <a:latin typeface="Consolas"/>
                          <a:ea typeface="Consolas"/>
                          <a:cs typeface="Consolas"/>
                          <a:sym typeface="Consolas"/>
                        </a:rPr>
                        <a:t>req</a:t>
                      </a:r>
                      <a:r>
                        <a:rPr lang="en-US" sz="1300" u="none" strike="noStrike" cap="none" dirty="0">
                          <a:solidFill>
                            <a:srgbClr val="D4D4D4"/>
                          </a:solidFill>
                          <a:latin typeface="Consolas"/>
                          <a:ea typeface="Consolas"/>
                          <a:cs typeface="Consolas"/>
                          <a:sym typeface="Consolas"/>
                        </a:rPr>
                        <a:t>, </a:t>
                      </a:r>
                      <a:r>
                        <a:rPr lang="en-US" sz="1300" u="none" strike="noStrike" cap="none" dirty="0">
                          <a:solidFill>
                            <a:srgbClr val="9CDCFE"/>
                          </a:solidFill>
                          <a:latin typeface="Consolas"/>
                          <a:ea typeface="Consolas"/>
                          <a:cs typeface="Consolas"/>
                          <a:sym typeface="Consolas"/>
                        </a:rPr>
                        <a:t>res</a:t>
                      </a:r>
                      <a:r>
                        <a:rPr lang="en-US" sz="1300" u="none" strike="noStrike" cap="none" dirty="0">
                          <a:solidFill>
                            <a:srgbClr val="D4D4D4"/>
                          </a:solidFill>
                          <a:latin typeface="Consolas"/>
                          <a:ea typeface="Consolas"/>
                          <a:cs typeface="Consolas"/>
                          <a:sym typeface="Consolas"/>
                        </a:rPr>
                        <a:t>, </a:t>
                      </a:r>
                      <a:r>
                        <a:rPr lang="en-US" sz="1300" u="none" strike="noStrike" cap="none" dirty="0">
                          <a:solidFill>
                            <a:srgbClr val="9CDCFE"/>
                          </a:solidFill>
                          <a:latin typeface="Consolas"/>
                          <a:ea typeface="Consolas"/>
                          <a:cs typeface="Consolas"/>
                          <a:sym typeface="Consolas"/>
                        </a:rPr>
                        <a:t>next</a:t>
                      </a:r>
                      <a:r>
                        <a:rPr lang="en-US" sz="1300" u="none" strike="noStrike" cap="none" dirty="0">
                          <a:solidFill>
                            <a:srgbClr val="D4D4D4"/>
                          </a:solidFill>
                          <a:latin typeface="Consolas"/>
                          <a:ea typeface="Consolas"/>
                          <a:cs typeface="Consolas"/>
                          <a:sym typeface="Consolas"/>
                        </a:rPr>
                        <a:t>) </a:t>
                      </a:r>
                      <a:r>
                        <a:rPr lang="en-US" sz="1300" u="none" strike="noStrike" cap="none" dirty="0">
                          <a:solidFill>
                            <a:srgbClr val="569CD6"/>
                          </a:solidFill>
                          <a:latin typeface="Consolas"/>
                          <a:ea typeface="Consolas"/>
                          <a:cs typeface="Consolas"/>
                          <a:sym typeface="Consolas"/>
                        </a:rPr>
                        <a:t>=&gt;</a:t>
                      </a:r>
                      <a:r>
                        <a:rPr lang="en-US" sz="1300" u="none" strike="noStrike" cap="none" dirty="0">
                          <a:solidFill>
                            <a:srgbClr val="D4D4D4"/>
                          </a:solidFill>
                          <a:latin typeface="Consolas"/>
                          <a:ea typeface="Consolas"/>
                          <a:cs typeface="Consolas"/>
                          <a:sym typeface="Consolas"/>
                        </a:rPr>
                        <a:t> {</a:t>
                      </a:r>
                      <a:endParaRPr sz="13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300" u="none" strike="noStrike" cap="none" dirty="0">
                          <a:solidFill>
                            <a:srgbClr val="D4D4D4"/>
                          </a:solidFill>
                          <a:latin typeface="Consolas"/>
                          <a:ea typeface="Consolas"/>
                          <a:cs typeface="Consolas"/>
                          <a:sym typeface="Consolas"/>
                        </a:rPr>
                        <a:t>  </a:t>
                      </a:r>
                      <a:r>
                        <a:rPr lang="en-US" sz="1300" u="none" strike="noStrike" cap="none" dirty="0" err="1">
                          <a:solidFill>
                            <a:srgbClr val="9CDCFE"/>
                          </a:solidFill>
                          <a:latin typeface="Consolas"/>
                          <a:ea typeface="Consolas"/>
                          <a:cs typeface="Consolas"/>
                          <a:sym typeface="Consolas"/>
                        </a:rPr>
                        <a:t>res</a:t>
                      </a:r>
                      <a:r>
                        <a:rPr lang="en-US" sz="1300" u="none" strike="noStrike" cap="none" dirty="0" err="1">
                          <a:solidFill>
                            <a:srgbClr val="D4D4D4"/>
                          </a:solidFill>
                          <a:latin typeface="Consolas"/>
                          <a:ea typeface="Consolas"/>
                          <a:cs typeface="Consolas"/>
                          <a:sym typeface="Consolas"/>
                        </a:rPr>
                        <a:t>.</a:t>
                      </a:r>
                      <a:r>
                        <a:rPr lang="en-US" sz="1300" u="none" strike="noStrike" cap="none" dirty="0" err="1">
                          <a:solidFill>
                            <a:srgbClr val="DCDCAA"/>
                          </a:solidFill>
                          <a:latin typeface="Consolas"/>
                          <a:ea typeface="Consolas"/>
                          <a:cs typeface="Consolas"/>
                          <a:sym typeface="Consolas"/>
                        </a:rPr>
                        <a:t>send</a:t>
                      </a:r>
                      <a:r>
                        <a:rPr lang="en-US" sz="1300" u="none" strike="noStrike" cap="none" dirty="0">
                          <a:solidFill>
                            <a:srgbClr val="D4D4D4"/>
                          </a:solidFill>
                          <a:latin typeface="Consolas"/>
                          <a:ea typeface="Consolas"/>
                          <a:cs typeface="Consolas"/>
                          <a:sym typeface="Consolas"/>
                        </a:rPr>
                        <a:t>(</a:t>
                      </a:r>
                      <a:r>
                        <a:rPr lang="en-US" sz="1300" u="none" strike="noStrike" cap="none" dirty="0">
                          <a:solidFill>
                            <a:srgbClr val="CE9178"/>
                          </a:solidFill>
                          <a:latin typeface="Consolas"/>
                          <a:ea typeface="Consolas"/>
                          <a:cs typeface="Consolas"/>
                          <a:sym typeface="Consolas"/>
                        </a:rPr>
                        <a:t>'special'</a:t>
                      </a:r>
                      <a:r>
                        <a:rPr lang="en-US" sz="1300" u="none" strike="noStrike" cap="none" dirty="0">
                          <a:solidFill>
                            <a:srgbClr val="D4D4D4"/>
                          </a:solidFill>
                          <a:latin typeface="Consolas"/>
                          <a:ea typeface="Consolas"/>
                          <a:cs typeface="Consolas"/>
                          <a:sym typeface="Consolas"/>
                        </a:rPr>
                        <a:t>)</a:t>
                      </a:r>
                      <a:endParaRPr sz="13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300" u="none" strike="noStrike" cap="none" dirty="0">
                          <a:solidFill>
                            <a:srgbClr val="D4D4D4"/>
                          </a:solidFill>
                          <a:latin typeface="Consolas"/>
                          <a:ea typeface="Consolas"/>
                          <a:cs typeface="Consolas"/>
                          <a:sym typeface="Consolas"/>
                        </a:rPr>
                        <a:t>})</a:t>
                      </a:r>
                      <a:endParaRPr sz="1300" u="none" strike="noStrike" cap="none" dirty="0">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tc hMerge="1">
                  <a:txBody>
                    <a:bodyPr/>
                    <a:lstStyle/>
                    <a:p>
                      <a:endParaRPr lang="en-US"/>
                    </a:p>
                  </a:txBody>
                  <a:tcPr/>
                </a:tc>
                <a:extLst>
                  <a:ext uri="{0D108BD9-81ED-4DB2-BD59-A6C34878D82A}">
                    <a16:rowId xmlns:a16="http://schemas.microsoft.com/office/drawing/2014/main" val="10001"/>
                  </a:ext>
                </a:extLst>
              </a:tr>
              <a:tr h="350150">
                <a:tc gridSpan="2">
                  <a:txBody>
                    <a:bodyPr/>
                    <a:lstStyle/>
                    <a:p>
                      <a:pPr marL="152400" marR="0" lvl="0" indent="0" algn="l" rtl="0">
                        <a:lnSpc>
                          <a:spcPct val="100000"/>
                        </a:lnSpc>
                        <a:spcBef>
                          <a:spcPts val="0"/>
                        </a:spcBef>
                        <a:spcAft>
                          <a:spcPts val="0"/>
                        </a:spcAft>
                        <a:buClr>
                          <a:srgbClr val="000000"/>
                        </a:buClr>
                        <a:buSzPts val="1200"/>
                        <a:buFont typeface="Noto Sans Symbols"/>
                        <a:buNone/>
                      </a:pPr>
                      <a:endParaRPr sz="13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47"/>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362" name="Google Shape;362;p47"/>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363" name="Google Shape;363;p47"/>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21</a:t>
            </a:fld>
            <a:endParaRPr/>
          </a:p>
        </p:txBody>
      </p:sp>
      <p:graphicFrame>
        <p:nvGraphicFramePr>
          <p:cNvPr id="364" name="Google Shape;364;p47"/>
          <p:cNvGraphicFramePr/>
          <p:nvPr>
            <p:extLst>
              <p:ext uri="{D42A27DB-BD31-4B8C-83A1-F6EECF244321}">
                <p14:modId xmlns:p14="http://schemas.microsoft.com/office/powerpoint/2010/main" val="973057757"/>
              </p:ext>
            </p:extLst>
          </p:nvPr>
        </p:nvGraphicFramePr>
        <p:xfrm>
          <a:off x="1066788" y="2031394"/>
          <a:ext cx="10816818" cy="4032255"/>
        </p:xfrm>
        <a:graphic>
          <a:graphicData uri="http://schemas.openxmlformats.org/drawingml/2006/table">
            <a:tbl>
              <a:tblPr>
                <a:noFill/>
                <a:tableStyleId>{99CD84AF-14CF-470D-B69C-EB98024C896D}</a:tableStyleId>
              </a:tblPr>
              <a:tblGrid>
                <a:gridCol w="10816818">
                  <a:extLst>
                    <a:ext uri="{9D8B030D-6E8A-4147-A177-3AD203B41FA5}">
                      <a16:colId xmlns:a16="http://schemas.microsoft.com/office/drawing/2014/main" val="20000"/>
                    </a:ext>
                  </a:extLst>
                </a:gridCol>
              </a:tblGrid>
              <a:tr h="1590580">
                <a:tc>
                  <a:txBody>
                    <a:bodyPr/>
                    <a:lstStyle/>
                    <a:p>
                      <a:pPr marL="0" marR="0" lvl="0" indent="0" algn="l" rtl="0">
                        <a:lnSpc>
                          <a:spcPct val="100000"/>
                        </a:lnSpc>
                        <a:spcBef>
                          <a:spcPts val="0"/>
                        </a:spcBef>
                        <a:spcAft>
                          <a:spcPts val="0"/>
                        </a:spcAft>
                        <a:buClr>
                          <a:srgbClr val="000000"/>
                        </a:buClr>
                        <a:buSzPts val="1200"/>
                        <a:buFont typeface="Arial"/>
                        <a:buNone/>
                      </a:pPr>
                      <a:r>
                        <a:rPr lang="en-US" sz="1400" b="1" u="sng" strike="noStrike" cap="none" dirty="0">
                          <a:latin typeface="Times New Roman"/>
                          <a:ea typeface="Times New Roman"/>
                          <a:cs typeface="Times New Roman"/>
                          <a:sym typeface="Times New Roman"/>
                        </a:rPr>
                        <a:t>Router-level middleware</a:t>
                      </a:r>
                      <a:endParaRPr sz="1400" b="1" u="sng"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Router-level middleware works in the same way as application-level middleware, except it is bound to an instance of </a:t>
                      </a:r>
                      <a:r>
                        <a:rPr lang="en-US" sz="1400" u="none" strike="noStrike" cap="none" dirty="0" err="1">
                          <a:latin typeface="Times New Roman"/>
                          <a:ea typeface="Times New Roman"/>
                          <a:cs typeface="Times New Roman"/>
                          <a:sym typeface="Times New Roman"/>
                        </a:rPr>
                        <a:t>express.Router</a:t>
                      </a:r>
                      <a:r>
                        <a:rPr lang="en-US" sz="1400" u="none" strike="noStrike" cap="none" dirty="0">
                          <a:latin typeface="Times New Roman"/>
                          <a:ea typeface="Times New Roman"/>
                          <a:cs typeface="Times New Roman"/>
                          <a:sym typeface="Times New Roman"/>
                        </a:rPr>
                        <a:t>().</a:t>
                      </a:r>
                      <a:endParaRPr sz="14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50150">
                <a:tc>
                  <a:txBody>
                    <a:bodyPr/>
                    <a:lstStyle/>
                    <a:p>
                      <a:pPr marL="0" marR="0" lvl="0" indent="0" algn="l" rtl="0">
                        <a:lnSpc>
                          <a:spcPct val="100000"/>
                        </a:lnSpc>
                        <a:spcBef>
                          <a:spcPts val="0"/>
                        </a:spcBef>
                        <a:spcAft>
                          <a:spcPts val="0"/>
                        </a:spcAft>
                        <a:buClr>
                          <a:srgbClr val="000000"/>
                        </a:buClr>
                        <a:buSzPts val="1050"/>
                        <a:buFont typeface="Arial"/>
                        <a:buNone/>
                      </a:pPr>
                      <a:r>
                        <a:rPr lang="en-US" sz="1100" u="none" strike="noStrike" cap="none" dirty="0">
                          <a:solidFill>
                            <a:srgbClr val="569CD6"/>
                          </a:solidFill>
                          <a:latin typeface="Consolas"/>
                          <a:ea typeface="Consolas"/>
                          <a:cs typeface="Consolas"/>
                          <a:sym typeface="Consolas"/>
                        </a:rPr>
                        <a:t>const</a:t>
                      </a:r>
                      <a:r>
                        <a:rPr lang="en-US" sz="1100" u="none" strike="noStrike" cap="none" dirty="0">
                          <a:solidFill>
                            <a:srgbClr val="D4D4D4"/>
                          </a:solidFill>
                          <a:latin typeface="Consolas"/>
                          <a:ea typeface="Consolas"/>
                          <a:cs typeface="Consolas"/>
                          <a:sym typeface="Consolas"/>
                        </a:rPr>
                        <a:t> </a:t>
                      </a:r>
                      <a:r>
                        <a:rPr lang="en-US" sz="1100" u="none" strike="noStrike" cap="none" dirty="0">
                          <a:solidFill>
                            <a:srgbClr val="4FC1FF"/>
                          </a:solidFill>
                          <a:latin typeface="Consolas"/>
                          <a:ea typeface="Consolas"/>
                          <a:cs typeface="Consolas"/>
                          <a:sym typeface="Consolas"/>
                        </a:rPr>
                        <a:t>router</a:t>
                      </a:r>
                      <a:r>
                        <a:rPr lang="en-US" sz="1100" u="none" strike="noStrike" cap="none" dirty="0">
                          <a:solidFill>
                            <a:srgbClr val="D4D4D4"/>
                          </a:solidFill>
                          <a:latin typeface="Consolas"/>
                          <a:ea typeface="Consolas"/>
                          <a:cs typeface="Consolas"/>
                          <a:sym typeface="Consolas"/>
                        </a:rPr>
                        <a:t> = </a:t>
                      </a:r>
                      <a:r>
                        <a:rPr lang="en-US" sz="1100" u="none" strike="noStrike" cap="none" dirty="0" err="1">
                          <a:solidFill>
                            <a:srgbClr val="9CDCFE"/>
                          </a:solidFill>
                          <a:latin typeface="Consolas"/>
                          <a:ea typeface="Consolas"/>
                          <a:cs typeface="Consolas"/>
                          <a:sym typeface="Consolas"/>
                        </a:rPr>
                        <a:t>express</a:t>
                      </a:r>
                      <a:r>
                        <a:rPr lang="en-US" sz="1100" u="none" strike="noStrike" cap="none" dirty="0" err="1">
                          <a:solidFill>
                            <a:srgbClr val="D4D4D4"/>
                          </a:solidFill>
                          <a:latin typeface="Consolas"/>
                          <a:ea typeface="Consolas"/>
                          <a:cs typeface="Consolas"/>
                          <a:sym typeface="Consolas"/>
                        </a:rPr>
                        <a:t>.</a:t>
                      </a:r>
                      <a:r>
                        <a:rPr lang="en-US" sz="1100" u="none" strike="noStrike" cap="none" dirty="0" err="1">
                          <a:solidFill>
                            <a:srgbClr val="DCDCAA"/>
                          </a:solidFill>
                          <a:latin typeface="Consolas"/>
                          <a:ea typeface="Consolas"/>
                          <a:cs typeface="Consolas"/>
                          <a:sym typeface="Consolas"/>
                        </a:rPr>
                        <a:t>Router</a:t>
                      </a:r>
                      <a:r>
                        <a:rPr lang="en-US" sz="1100" u="none" strike="noStrike" cap="none" dirty="0">
                          <a:solidFill>
                            <a:srgbClr val="D4D4D4"/>
                          </a:solidFill>
                          <a:latin typeface="Consolas"/>
                          <a:ea typeface="Consolas"/>
                          <a:cs typeface="Consolas"/>
                          <a:sym typeface="Consolas"/>
                        </a:rPr>
                        <a:t>()</a:t>
                      </a:r>
                      <a:endParaRPr sz="1400" b="1" u="sng"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2"/>
                  </a:ext>
                </a:extLst>
              </a:tr>
              <a:tr h="2091185">
                <a:tc>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Load router-level middleware by using the </a:t>
                      </a:r>
                      <a:r>
                        <a:rPr lang="en-US" sz="1400" u="none" strike="noStrike" cap="none" dirty="0" err="1">
                          <a:latin typeface="Times New Roman"/>
                          <a:ea typeface="Times New Roman"/>
                          <a:cs typeface="Times New Roman"/>
                          <a:sym typeface="Times New Roman"/>
                        </a:rPr>
                        <a:t>router.use</a:t>
                      </a:r>
                      <a:r>
                        <a:rPr lang="en-US" sz="1400" u="none" strike="noStrike" cap="none" dirty="0">
                          <a:latin typeface="Times New Roman"/>
                          <a:ea typeface="Times New Roman"/>
                          <a:cs typeface="Times New Roman"/>
                          <a:sym typeface="Times New Roman"/>
                        </a:rPr>
                        <a:t>() and </a:t>
                      </a:r>
                      <a:r>
                        <a:rPr lang="en-US" sz="1400" u="none" strike="noStrike" cap="none" dirty="0" err="1">
                          <a:latin typeface="Times New Roman"/>
                          <a:ea typeface="Times New Roman"/>
                          <a:cs typeface="Times New Roman"/>
                          <a:sym typeface="Times New Roman"/>
                        </a:rPr>
                        <a:t>router.METHOD</a:t>
                      </a:r>
                      <a:r>
                        <a:rPr lang="en-US" sz="1400" u="none" strike="noStrike" cap="none" dirty="0">
                          <a:latin typeface="Times New Roman"/>
                          <a:ea typeface="Times New Roman"/>
                          <a:cs typeface="Times New Roman"/>
                          <a:sym typeface="Times New Roman"/>
                        </a:rPr>
                        <a:t>() functions.</a:t>
                      </a:r>
                      <a:endParaRPr sz="14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400" u="none" strike="noStrike" cap="none" dirty="0">
                          <a:latin typeface="Times New Roman"/>
                          <a:ea typeface="Times New Roman"/>
                          <a:cs typeface="Times New Roman"/>
                          <a:sym typeface="Times New Roman"/>
                        </a:rPr>
                        <a:t>The following example code replicates the middleware system that is shown above for application-level middleware, by using router-level middleware:</a:t>
                      </a:r>
                      <a:endParaRPr sz="1100" u="none" strike="noStrike" cap="none" dirty="0">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48"/>
          <p:cNvSpPr txBox="1">
            <a:spLocks noGrp="1"/>
          </p:cNvSpPr>
          <p:nvPr>
            <p:ph type="title"/>
          </p:nvPr>
        </p:nvSpPr>
        <p:spPr>
          <a:xfrm>
            <a:off x="1066775" y="684744"/>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370" name="Google Shape;370;p48"/>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371" name="Google Shape;371;p48"/>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22</a:t>
            </a:fld>
            <a:endParaRPr/>
          </a:p>
        </p:txBody>
      </p:sp>
      <p:graphicFrame>
        <p:nvGraphicFramePr>
          <p:cNvPr id="372" name="Google Shape;372;p48"/>
          <p:cNvGraphicFramePr/>
          <p:nvPr>
            <p:extLst>
              <p:ext uri="{D42A27DB-BD31-4B8C-83A1-F6EECF244321}">
                <p14:modId xmlns:p14="http://schemas.microsoft.com/office/powerpoint/2010/main" val="1801831604"/>
              </p:ext>
            </p:extLst>
          </p:nvPr>
        </p:nvGraphicFramePr>
        <p:xfrm>
          <a:off x="1017987" y="2003540"/>
          <a:ext cx="10865619" cy="4503390"/>
        </p:xfrm>
        <a:graphic>
          <a:graphicData uri="http://schemas.openxmlformats.org/drawingml/2006/table">
            <a:tbl>
              <a:tblPr>
                <a:noFill/>
                <a:tableStyleId>{99CD84AF-14CF-470D-B69C-EB98024C896D}</a:tableStyleId>
              </a:tblPr>
              <a:tblGrid>
                <a:gridCol w="3621873">
                  <a:extLst>
                    <a:ext uri="{9D8B030D-6E8A-4147-A177-3AD203B41FA5}">
                      <a16:colId xmlns:a16="http://schemas.microsoft.com/office/drawing/2014/main" val="20000"/>
                    </a:ext>
                  </a:extLst>
                </a:gridCol>
                <a:gridCol w="3621873">
                  <a:extLst>
                    <a:ext uri="{9D8B030D-6E8A-4147-A177-3AD203B41FA5}">
                      <a16:colId xmlns:a16="http://schemas.microsoft.com/office/drawing/2014/main" val="20001"/>
                    </a:ext>
                  </a:extLst>
                </a:gridCol>
                <a:gridCol w="3621873">
                  <a:extLst>
                    <a:ext uri="{9D8B030D-6E8A-4147-A177-3AD203B41FA5}">
                      <a16:colId xmlns:a16="http://schemas.microsoft.com/office/drawing/2014/main" val="20002"/>
                    </a:ext>
                  </a:extLst>
                </a:gridCol>
              </a:tblGrid>
              <a:tr h="350150">
                <a:tc gridSpan="2">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569CD6"/>
                          </a:solidFill>
                          <a:latin typeface="Consolas"/>
                          <a:ea typeface="Consolas"/>
                          <a:cs typeface="Consolas"/>
                          <a:sym typeface="Consolas"/>
                        </a:rPr>
                        <a:t>const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DCDCAA"/>
                          </a:solidFill>
                          <a:latin typeface="Consolas"/>
                          <a:ea typeface="Consolas"/>
                          <a:cs typeface="Consolas"/>
                          <a:sym typeface="Consolas"/>
                        </a:rPr>
                        <a:t>express</a:t>
                      </a:r>
                      <a:r>
                        <a:rPr lang="en-US" sz="1050" u="none" strike="noStrike" cap="none" dirty="0">
                          <a:solidFill>
                            <a:srgbClr val="D4D4D4"/>
                          </a:solidFill>
                          <a:latin typeface="Consolas"/>
                          <a:ea typeface="Consolas"/>
                          <a:cs typeface="Consolas"/>
                          <a:sym typeface="Consolas"/>
                        </a:rPr>
                        <a:t> = </a:t>
                      </a:r>
                      <a:r>
                        <a:rPr lang="en-US" sz="1050" u="none" strike="noStrike" cap="none" dirty="0">
                          <a:solidFill>
                            <a:srgbClr val="DCDCAA"/>
                          </a:solidFill>
                          <a:latin typeface="Consolas"/>
                          <a:ea typeface="Consolas"/>
                          <a:cs typeface="Consolas"/>
                          <a:sym typeface="Consolas"/>
                        </a:rPr>
                        <a:t>require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'express'</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569CD6"/>
                          </a:solidFill>
                          <a:latin typeface="Consolas"/>
                          <a:ea typeface="Consolas"/>
                          <a:cs typeface="Consolas"/>
                          <a:sym typeface="Consolas"/>
                        </a:rPr>
                        <a:t>const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4FC1FF"/>
                          </a:solidFill>
                          <a:latin typeface="Consolas"/>
                          <a:ea typeface="Consolas"/>
                          <a:cs typeface="Consolas"/>
                          <a:sym typeface="Consolas"/>
                        </a:rPr>
                        <a:t>app</a:t>
                      </a:r>
                      <a:r>
                        <a:rPr lang="en-US" sz="1050" u="none" strike="noStrike" cap="none" dirty="0">
                          <a:solidFill>
                            <a:srgbClr val="D4D4D4"/>
                          </a:solidFill>
                          <a:latin typeface="Consolas"/>
                          <a:ea typeface="Consolas"/>
                          <a:cs typeface="Consolas"/>
                          <a:sym typeface="Consolas"/>
                        </a:rPr>
                        <a:t> = </a:t>
                      </a:r>
                      <a:r>
                        <a:rPr lang="en-US" sz="1050" u="none" strike="noStrike" cap="none" dirty="0">
                          <a:solidFill>
                            <a:srgbClr val="DCDCAA"/>
                          </a:solidFill>
                          <a:latin typeface="Consolas"/>
                          <a:ea typeface="Consolas"/>
                          <a:cs typeface="Consolas"/>
                          <a:sym typeface="Consolas"/>
                        </a:rPr>
                        <a:t>express</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569CD6"/>
                          </a:solidFill>
                          <a:latin typeface="Consolas"/>
                          <a:ea typeface="Consolas"/>
                          <a:cs typeface="Consolas"/>
                          <a:sym typeface="Consolas"/>
                        </a:rPr>
                        <a:t>const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4FC1FF"/>
                          </a:solidFill>
                          <a:latin typeface="Consolas"/>
                          <a:ea typeface="Consolas"/>
                          <a:cs typeface="Consolas"/>
                          <a:sym typeface="Consolas"/>
                        </a:rPr>
                        <a:t>router</a:t>
                      </a:r>
                      <a:r>
                        <a:rPr lang="en-US" sz="1050" u="none" strike="noStrike" cap="none" dirty="0">
                          <a:solidFill>
                            <a:srgbClr val="D4D4D4"/>
                          </a:solidFill>
                          <a:latin typeface="Consolas"/>
                          <a:ea typeface="Consolas"/>
                          <a:cs typeface="Consolas"/>
                          <a:sym typeface="Consolas"/>
                        </a:rPr>
                        <a:t> = </a:t>
                      </a:r>
                      <a:r>
                        <a:rPr lang="en-US" sz="1050" u="none" strike="noStrike" cap="none" dirty="0" err="1">
                          <a:solidFill>
                            <a:srgbClr val="DCDCAA"/>
                          </a:solidFill>
                          <a:latin typeface="Consolas"/>
                          <a:ea typeface="Consolas"/>
                          <a:cs typeface="Consolas"/>
                          <a:sym typeface="Consolas"/>
                        </a:rPr>
                        <a:t>express</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Router</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6A9955"/>
                          </a:solidFill>
                          <a:latin typeface="Consolas"/>
                          <a:ea typeface="Consolas"/>
                          <a:cs typeface="Consolas"/>
                          <a:sym typeface="Consolas"/>
                        </a:rPr>
                        <a:t>// a middleware function with no mount path. This code is executed for every request to the router</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4FC1FF"/>
                          </a:solidFill>
                          <a:latin typeface="Consolas"/>
                          <a:ea typeface="Consolas"/>
                          <a:cs typeface="Consolas"/>
                          <a:sym typeface="Consolas"/>
                        </a:rPr>
                        <a:t>router</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use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req</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DCDCAA"/>
                          </a:solidFill>
                          <a:latin typeface="Consolas"/>
                          <a:ea typeface="Consolas"/>
                          <a:cs typeface="Consolas"/>
                          <a:sym typeface="Consolas"/>
                        </a:rPr>
                        <a:t>next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=&gt;</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console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CDCAA"/>
                          </a:solidFill>
                          <a:latin typeface="Consolas"/>
                          <a:ea typeface="Consolas"/>
                          <a:cs typeface="Consolas"/>
                          <a:sym typeface="Consolas"/>
                        </a:rPr>
                        <a:t>log</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'Time:'</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4EC9B0"/>
                          </a:solidFill>
                          <a:latin typeface="Consolas"/>
                          <a:ea typeface="Consolas"/>
                          <a:cs typeface="Consolas"/>
                          <a:sym typeface="Consolas"/>
                        </a:rPr>
                        <a:t>Date</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now</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DCDCAA"/>
                          </a:solidFill>
                          <a:latin typeface="Consolas"/>
                          <a:ea typeface="Consolas"/>
                          <a:cs typeface="Consolas"/>
                          <a:sym typeface="Consolas"/>
                        </a:rPr>
                        <a:t>next</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6A9955"/>
                          </a:solidFill>
                          <a:latin typeface="Consolas"/>
                          <a:ea typeface="Consolas"/>
                          <a:cs typeface="Consolas"/>
                          <a:sym typeface="Consolas"/>
                        </a:rPr>
                        <a:t>// a middleware sub-stack shows request info for any type of HTTP request to the /user/:id path</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4FC1FF"/>
                          </a:solidFill>
                          <a:latin typeface="Consolas"/>
                          <a:ea typeface="Consolas"/>
                          <a:cs typeface="Consolas"/>
                          <a:sym typeface="Consolas"/>
                        </a:rPr>
                        <a:t>router</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use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'/user/:id'</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req</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DCDCAA"/>
                          </a:solidFill>
                          <a:latin typeface="Consolas"/>
                          <a:ea typeface="Consolas"/>
                          <a:cs typeface="Consolas"/>
                          <a:sym typeface="Consolas"/>
                        </a:rPr>
                        <a:t>next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=&gt;</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console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CDCAA"/>
                          </a:solidFill>
                          <a:latin typeface="Consolas"/>
                          <a:ea typeface="Consolas"/>
                          <a:cs typeface="Consolas"/>
                          <a:sym typeface="Consolas"/>
                        </a:rPr>
                        <a:t>log</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'Request URL:'</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req</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originalUrl</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DCDCAA"/>
                          </a:solidFill>
                          <a:latin typeface="Consolas"/>
                          <a:ea typeface="Consolas"/>
                          <a:cs typeface="Consolas"/>
                          <a:sym typeface="Consolas"/>
                        </a:rPr>
                        <a:t>next</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req</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DCDCAA"/>
                          </a:solidFill>
                          <a:latin typeface="Consolas"/>
                          <a:ea typeface="Consolas"/>
                          <a:cs typeface="Consolas"/>
                          <a:sym typeface="Consolas"/>
                        </a:rPr>
                        <a:t>next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=&gt;</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console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CDCAA"/>
                          </a:solidFill>
                          <a:latin typeface="Consolas"/>
                          <a:ea typeface="Consolas"/>
                          <a:cs typeface="Consolas"/>
                          <a:sym typeface="Consolas"/>
                        </a:rPr>
                        <a:t>log</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'Request Type:'</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req</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method</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DCDCAA"/>
                          </a:solidFill>
                          <a:latin typeface="Consolas"/>
                          <a:ea typeface="Consolas"/>
                          <a:cs typeface="Consolas"/>
                          <a:sym typeface="Consolas"/>
                        </a:rPr>
                        <a:t>next</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6A9955"/>
                          </a:solidFill>
                          <a:latin typeface="Consolas"/>
                          <a:ea typeface="Consolas"/>
                          <a:cs typeface="Consolas"/>
                          <a:sym typeface="Consolas"/>
                        </a:rPr>
                        <a:t>// a middleware sub-stack that handles GET requests to the /user/:id path</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4FC1FF"/>
                          </a:solidFill>
                          <a:latin typeface="Consolas"/>
                          <a:ea typeface="Consolas"/>
                          <a:cs typeface="Consolas"/>
                          <a:sym typeface="Consolas"/>
                        </a:rPr>
                        <a:t>router</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get</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'/user/:id'</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req</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DCDCAA"/>
                          </a:solidFill>
                          <a:latin typeface="Consolas"/>
                          <a:ea typeface="Consolas"/>
                          <a:cs typeface="Consolas"/>
                          <a:sym typeface="Consolas"/>
                        </a:rPr>
                        <a:t>next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=&gt;</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6A9955"/>
                          </a:solidFill>
                          <a:latin typeface="Consolas"/>
                          <a:ea typeface="Consolas"/>
                          <a:cs typeface="Consolas"/>
                          <a:sym typeface="Consolas"/>
                        </a:rPr>
                        <a:t>// if the user ID is 0, skip to the next router</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586C0"/>
                          </a:solidFill>
                          <a:latin typeface="Consolas"/>
                          <a:ea typeface="Consolas"/>
                          <a:cs typeface="Consolas"/>
                          <a:sym typeface="Consolas"/>
                        </a:rPr>
                        <a:t>if</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req</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params</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id</a:t>
                      </a:r>
                      <a:r>
                        <a:rPr lang="en-US" sz="1050" u="none" strike="noStrike" cap="none" dirty="0">
                          <a:solidFill>
                            <a:srgbClr val="D4D4D4"/>
                          </a:solidFill>
                          <a:latin typeface="Consolas"/>
                          <a:ea typeface="Consolas"/>
                          <a:cs typeface="Consolas"/>
                          <a:sym typeface="Consolas"/>
                        </a:rPr>
                        <a:t> === </a:t>
                      </a:r>
                      <a:r>
                        <a:rPr lang="en-US" sz="1050" u="none" strike="noStrike" cap="none" dirty="0">
                          <a:solidFill>
                            <a:srgbClr val="CE9178"/>
                          </a:solidFill>
                          <a:latin typeface="Consolas"/>
                          <a:ea typeface="Consolas"/>
                          <a:cs typeface="Consolas"/>
                          <a:sym typeface="Consolas"/>
                        </a:rPr>
                        <a:t>'0'</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DCDCAA"/>
                          </a:solidFill>
                          <a:latin typeface="Consolas"/>
                          <a:ea typeface="Consolas"/>
                          <a:cs typeface="Consolas"/>
                          <a:sym typeface="Consolas"/>
                        </a:rPr>
                        <a:t>next</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'route'</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6A9955"/>
                          </a:solidFill>
                          <a:latin typeface="Consolas"/>
                          <a:ea typeface="Consolas"/>
                          <a:cs typeface="Consolas"/>
                          <a:sym typeface="Consolas"/>
                        </a:rPr>
                        <a:t>// otherwise pass control to the next middleware function in this stack</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586C0"/>
                          </a:solidFill>
                          <a:latin typeface="Consolas"/>
                          <a:ea typeface="Consolas"/>
                          <a:cs typeface="Consolas"/>
                          <a:sym typeface="Consolas"/>
                        </a:rPr>
                        <a:t>else</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DCDCAA"/>
                          </a:solidFill>
                          <a:latin typeface="Consolas"/>
                          <a:ea typeface="Consolas"/>
                          <a:cs typeface="Consolas"/>
                          <a:sym typeface="Consolas"/>
                        </a:rPr>
                        <a:t>next</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req</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DCDCAA"/>
                          </a:solidFill>
                          <a:latin typeface="Consolas"/>
                          <a:ea typeface="Consolas"/>
                          <a:cs typeface="Consolas"/>
                          <a:sym typeface="Consolas"/>
                        </a:rPr>
                        <a:t>next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=&gt;</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6A9955"/>
                          </a:solidFill>
                          <a:latin typeface="Consolas"/>
                          <a:ea typeface="Consolas"/>
                          <a:cs typeface="Consolas"/>
                          <a:sym typeface="Consolas"/>
                        </a:rPr>
                        <a:t>// render a regular page</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res</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render</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'regular'</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6A9955"/>
                          </a:solidFill>
                          <a:latin typeface="Consolas"/>
                          <a:ea typeface="Consolas"/>
                          <a:cs typeface="Consolas"/>
                          <a:sym typeface="Consolas"/>
                        </a:rPr>
                        <a:t>// handler for the /user/:id path, which renders a special page</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4FC1FF"/>
                          </a:solidFill>
                          <a:latin typeface="Consolas"/>
                          <a:ea typeface="Consolas"/>
                          <a:cs typeface="Consolas"/>
                          <a:sym typeface="Consolas"/>
                        </a:rPr>
                        <a:t>router</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get</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'/user/:id'</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req</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DCDCAA"/>
                          </a:solidFill>
                          <a:latin typeface="Consolas"/>
                          <a:ea typeface="Consolas"/>
                          <a:cs typeface="Consolas"/>
                          <a:sym typeface="Consolas"/>
                        </a:rPr>
                        <a:t>next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=&gt;</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console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CDCAA"/>
                          </a:solidFill>
                          <a:latin typeface="Consolas"/>
                          <a:ea typeface="Consolas"/>
                          <a:cs typeface="Consolas"/>
                          <a:sym typeface="Consolas"/>
                        </a:rPr>
                        <a:t>log</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req</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params</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id</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res</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render</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'special'</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6A9955"/>
                          </a:solidFill>
                          <a:latin typeface="Consolas"/>
                          <a:ea typeface="Consolas"/>
                          <a:cs typeface="Consolas"/>
                          <a:sym typeface="Consolas"/>
                        </a:rPr>
                        <a:t>// mount the router on the app</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4FC1FF"/>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use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4FC1FF"/>
                          </a:solidFill>
                          <a:latin typeface="Consolas"/>
                          <a:ea typeface="Consolas"/>
                          <a:cs typeface="Consolas"/>
                          <a:sym typeface="Consolas"/>
                        </a:rPr>
                        <a:t>router</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49"/>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378" name="Google Shape;378;p49"/>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379" name="Google Shape;379;p49"/>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23</a:t>
            </a:fld>
            <a:endParaRPr/>
          </a:p>
        </p:txBody>
      </p:sp>
      <p:graphicFrame>
        <p:nvGraphicFramePr>
          <p:cNvPr id="380" name="Google Shape;380;p49"/>
          <p:cNvGraphicFramePr/>
          <p:nvPr>
            <p:extLst>
              <p:ext uri="{D42A27DB-BD31-4B8C-83A1-F6EECF244321}">
                <p14:modId xmlns:p14="http://schemas.microsoft.com/office/powerpoint/2010/main" val="3041482842"/>
              </p:ext>
            </p:extLst>
          </p:nvPr>
        </p:nvGraphicFramePr>
        <p:xfrm>
          <a:off x="1066788" y="2046895"/>
          <a:ext cx="10816818" cy="4145220"/>
        </p:xfrm>
        <a:graphic>
          <a:graphicData uri="http://schemas.openxmlformats.org/drawingml/2006/table">
            <a:tbl>
              <a:tblPr>
                <a:noFill/>
                <a:tableStyleId>{99CD84AF-14CF-470D-B69C-EB98024C896D}</a:tableStyleId>
              </a:tblPr>
              <a:tblGrid>
                <a:gridCol w="5408409">
                  <a:extLst>
                    <a:ext uri="{9D8B030D-6E8A-4147-A177-3AD203B41FA5}">
                      <a16:colId xmlns:a16="http://schemas.microsoft.com/office/drawing/2014/main" val="20000"/>
                    </a:ext>
                  </a:extLst>
                </a:gridCol>
                <a:gridCol w="5408409">
                  <a:extLst>
                    <a:ext uri="{9D8B030D-6E8A-4147-A177-3AD203B41FA5}">
                      <a16:colId xmlns:a16="http://schemas.microsoft.com/office/drawing/2014/main" val="20001"/>
                    </a:ext>
                  </a:extLst>
                </a:gridCol>
              </a:tblGrid>
              <a:tr h="350150">
                <a:tc gridSpan="2">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a:latin typeface="Times New Roman"/>
                          <a:ea typeface="Times New Roman"/>
                          <a:cs typeface="Times New Roman"/>
                          <a:sym typeface="Times New Roman"/>
                        </a:rPr>
                        <a:t>To skip the rest of the router’s middleware functions, call next('router') to pass control back out of the router instance.</a:t>
                      </a:r>
                      <a:endParaRPr sz="16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600" u="none" strike="noStrike" cap="none">
                          <a:latin typeface="Times New Roman"/>
                          <a:ea typeface="Times New Roman"/>
                          <a:cs typeface="Times New Roman"/>
                          <a:sym typeface="Times New Roman"/>
                        </a:rPr>
                        <a:t>This example shows a middleware sub-stack that handles GET requests to the /user/:id path.</a:t>
                      </a:r>
                      <a:endParaRPr sz="1200" u="none" strike="noStrike" cap="none">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0"/>
                  </a:ext>
                </a:extLst>
              </a:tr>
              <a:tr h="350150">
                <a:tc gridSpan="2">
                  <a:txBody>
                    <a:bodyPr/>
                    <a:lstStyle/>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569CD6"/>
                          </a:solidFill>
                          <a:latin typeface="Consolas"/>
                          <a:ea typeface="Consolas"/>
                          <a:cs typeface="Consolas"/>
                          <a:sym typeface="Consolas"/>
                        </a:rPr>
                        <a:t>const</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DCDCAA"/>
                          </a:solidFill>
                          <a:latin typeface="Consolas"/>
                          <a:ea typeface="Consolas"/>
                          <a:cs typeface="Consolas"/>
                          <a:sym typeface="Consolas"/>
                        </a:rPr>
                        <a:t>express</a:t>
                      </a:r>
                      <a:r>
                        <a:rPr lang="en-US" sz="1200" u="none" strike="noStrike" cap="none" dirty="0">
                          <a:solidFill>
                            <a:srgbClr val="D4D4D4"/>
                          </a:solidFill>
                          <a:latin typeface="Consolas"/>
                          <a:ea typeface="Consolas"/>
                          <a:cs typeface="Consolas"/>
                          <a:sym typeface="Consolas"/>
                        </a:rPr>
                        <a:t> = </a:t>
                      </a:r>
                      <a:r>
                        <a:rPr lang="en-US" sz="1200" u="none" strike="noStrike" cap="none" dirty="0">
                          <a:solidFill>
                            <a:srgbClr val="DCDCAA"/>
                          </a:solidFill>
                          <a:latin typeface="Consolas"/>
                          <a:ea typeface="Consolas"/>
                          <a:cs typeface="Consolas"/>
                          <a:sym typeface="Consolas"/>
                        </a:rPr>
                        <a:t>require</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CE9178"/>
                          </a:solidFill>
                          <a:latin typeface="Consolas"/>
                          <a:ea typeface="Consolas"/>
                          <a:cs typeface="Consolas"/>
                          <a:sym typeface="Consolas"/>
                        </a:rPr>
                        <a:t>'express'</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569CD6"/>
                          </a:solidFill>
                          <a:latin typeface="Consolas"/>
                          <a:ea typeface="Consolas"/>
                          <a:cs typeface="Consolas"/>
                          <a:sym typeface="Consolas"/>
                        </a:rPr>
                        <a:t>const</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4FC1FF"/>
                          </a:solidFill>
                          <a:latin typeface="Consolas"/>
                          <a:ea typeface="Consolas"/>
                          <a:cs typeface="Consolas"/>
                          <a:sym typeface="Consolas"/>
                        </a:rPr>
                        <a:t>app</a:t>
                      </a:r>
                      <a:r>
                        <a:rPr lang="en-US" sz="1200" u="none" strike="noStrike" cap="none" dirty="0">
                          <a:solidFill>
                            <a:srgbClr val="D4D4D4"/>
                          </a:solidFill>
                          <a:latin typeface="Consolas"/>
                          <a:ea typeface="Consolas"/>
                          <a:cs typeface="Consolas"/>
                          <a:sym typeface="Consolas"/>
                        </a:rPr>
                        <a:t> = </a:t>
                      </a:r>
                      <a:r>
                        <a:rPr lang="en-US" sz="1200" u="none" strike="noStrike" cap="none" dirty="0">
                          <a:solidFill>
                            <a:srgbClr val="DCDCAA"/>
                          </a:solidFill>
                          <a:latin typeface="Consolas"/>
                          <a:ea typeface="Consolas"/>
                          <a:cs typeface="Consolas"/>
                          <a:sym typeface="Consolas"/>
                        </a:rPr>
                        <a:t>express</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569CD6"/>
                          </a:solidFill>
                          <a:latin typeface="Consolas"/>
                          <a:ea typeface="Consolas"/>
                          <a:cs typeface="Consolas"/>
                          <a:sym typeface="Consolas"/>
                        </a:rPr>
                        <a:t>const</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4FC1FF"/>
                          </a:solidFill>
                          <a:latin typeface="Consolas"/>
                          <a:ea typeface="Consolas"/>
                          <a:cs typeface="Consolas"/>
                          <a:sym typeface="Consolas"/>
                        </a:rPr>
                        <a:t>router</a:t>
                      </a:r>
                      <a:r>
                        <a:rPr lang="en-US" sz="1200" u="none" strike="noStrike" cap="none" dirty="0">
                          <a:solidFill>
                            <a:srgbClr val="D4D4D4"/>
                          </a:solidFill>
                          <a:latin typeface="Consolas"/>
                          <a:ea typeface="Consolas"/>
                          <a:cs typeface="Consolas"/>
                          <a:sym typeface="Consolas"/>
                        </a:rPr>
                        <a:t> = </a:t>
                      </a:r>
                      <a:r>
                        <a:rPr lang="en-US" sz="1200" u="none" strike="noStrike" cap="none" dirty="0" err="1">
                          <a:solidFill>
                            <a:srgbClr val="DCDCAA"/>
                          </a:solidFill>
                          <a:latin typeface="Consolas"/>
                          <a:ea typeface="Consolas"/>
                          <a:cs typeface="Consolas"/>
                          <a:sym typeface="Consolas"/>
                        </a:rPr>
                        <a:t>express</a:t>
                      </a:r>
                      <a:r>
                        <a:rPr lang="en-US" sz="1200" u="none" strike="noStrike" cap="none" dirty="0" err="1">
                          <a:solidFill>
                            <a:srgbClr val="D4D4D4"/>
                          </a:solidFill>
                          <a:latin typeface="Consolas"/>
                          <a:ea typeface="Consolas"/>
                          <a:cs typeface="Consolas"/>
                          <a:sym typeface="Consolas"/>
                        </a:rPr>
                        <a:t>.</a:t>
                      </a:r>
                      <a:r>
                        <a:rPr lang="en-US" sz="1200" u="none" strike="noStrike" cap="none" dirty="0" err="1">
                          <a:solidFill>
                            <a:srgbClr val="DCDCAA"/>
                          </a:solidFill>
                          <a:latin typeface="Consolas"/>
                          <a:ea typeface="Consolas"/>
                          <a:cs typeface="Consolas"/>
                          <a:sym typeface="Consolas"/>
                        </a:rPr>
                        <a:t>Router</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6A9955"/>
                          </a:solidFill>
                          <a:latin typeface="Consolas"/>
                          <a:ea typeface="Consolas"/>
                          <a:cs typeface="Consolas"/>
                          <a:sym typeface="Consolas"/>
                        </a:rPr>
                        <a:t>// predicate the router with a check and bail out when needed</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err="1">
                          <a:solidFill>
                            <a:srgbClr val="4FC1FF"/>
                          </a:solidFill>
                          <a:latin typeface="Consolas"/>
                          <a:ea typeface="Consolas"/>
                          <a:cs typeface="Consolas"/>
                          <a:sym typeface="Consolas"/>
                        </a:rPr>
                        <a:t>router</a:t>
                      </a:r>
                      <a:r>
                        <a:rPr lang="en-US" sz="1200" u="none" strike="noStrike" cap="none" dirty="0" err="1">
                          <a:solidFill>
                            <a:srgbClr val="D4D4D4"/>
                          </a:solidFill>
                          <a:latin typeface="Consolas"/>
                          <a:ea typeface="Consolas"/>
                          <a:cs typeface="Consolas"/>
                          <a:sym typeface="Consolas"/>
                        </a:rPr>
                        <a:t>.</a:t>
                      </a:r>
                      <a:r>
                        <a:rPr lang="en-US" sz="1200" u="none" strike="noStrike" cap="none" dirty="0" err="1">
                          <a:solidFill>
                            <a:srgbClr val="DCDCAA"/>
                          </a:solidFill>
                          <a:latin typeface="Consolas"/>
                          <a:ea typeface="Consolas"/>
                          <a:cs typeface="Consolas"/>
                          <a:sym typeface="Consolas"/>
                        </a:rPr>
                        <a:t>use</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9CDCFE"/>
                          </a:solidFill>
                          <a:latin typeface="Consolas"/>
                          <a:ea typeface="Consolas"/>
                          <a:cs typeface="Consolas"/>
                          <a:sym typeface="Consolas"/>
                        </a:rPr>
                        <a:t>req</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res</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DCDCAA"/>
                          </a:solidFill>
                          <a:latin typeface="Consolas"/>
                          <a:ea typeface="Consolas"/>
                          <a:cs typeface="Consolas"/>
                          <a:sym typeface="Consolas"/>
                        </a:rPr>
                        <a:t>next</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569CD6"/>
                          </a:solidFill>
                          <a:latin typeface="Consolas"/>
                          <a:ea typeface="Consolas"/>
                          <a:cs typeface="Consolas"/>
                          <a:sym typeface="Consolas"/>
                        </a:rPr>
                        <a:t>=&gt;</a:t>
                      </a:r>
                      <a:r>
                        <a:rPr lang="en-US" sz="1200" u="none" strike="noStrike" cap="none" dirty="0">
                          <a:solidFill>
                            <a:srgbClr val="D4D4D4"/>
                          </a:solidFill>
                          <a:latin typeface="Consolas"/>
                          <a:ea typeface="Consolas"/>
                          <a:cs typeface="Consolas"/>
                          <a:sym typeface="Consolas"/>
                        </a:rPr>
                        <a:t> {</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C586C0"/>
                          </a:solidFill>
                          <a:latin typeface="Consolas"/>
                          <a:ea typeface="Consolas"/>
                          <a:cs typeface="Consolas"/>
                          <a:sym typeface="Consolas"/>
                        </a:rPr>
                        <a:t>if</a:t>
                      </a:r>
                      <a:r>
                        <a:rPr lang="en-US" sz="1200" u="none" strike="noStrike" cap="none" dirty="0">
                          <a:solidFill>
                            <a:srgbClr val="D4D4D4"/>
                          </a:solidFill>
                          <a:latin typeface="Consolas"/>
                          <a:ea typeface="Consolas"/>
                          <a:cs typeface="Consolas"/>
                          <a:sym typeface="Consolas"/>
                        </a:rPr>
                        <a:t> (!</a:t>
                      </a:r>
                      <a:r>
                        <a:rPr lang="en-US" sz="1200" u="none" strike="noStrike" cap="none" dirty="0" err="1">
                          <a:solidFill>
                            <a:srgbClr val="9CDCFE"/>
                          </a:solidFill>
                          <a:latin typeface="Consolas"/>
                          <a:ea typeface="Consolas"/>
                          <a:cs typeface="Consolas"/>
                          <a:sym typeface="Consolas"/>
                        </a:rPr>
                        <a:t>req</a:t>
                      </a:r>
                      <a:r>
                        <a:rPr lang="en-US" sz="1200" u="none" strike="noStrike" cap="none" dirty="0" err="1">
                          <a:solidFill>
                            <a:srgbClr val="D4D4D4"/>
                          </a:solidFill>
                          <a:latin typeface="Consolas"/>
                          <a:ea typeface="Consolas"/>
                          <a:cs typeface="Consolas"/>
                          <a:sym typeface="Consolas"/>
                        </a:rPr>
                        <a:t>.</a:t>
                      </a:r>
                      <a:r>
                        <a:rPr lang="en-US" sz="1200" u="none" strike="noStrike" cap="none" dirty="0" err="1">
                          <a:solidFill>
                            <a:srgbClr val="9CDCFE"/>
                          </a:solidFill>
                          <a:latin typeface="Consolas"/>
                          <a:ea typeface="Consolas"/>
                          <a:cs typeface="Consolas"/>
                          <a:sym typeface="Consolas"/>
                        </a:rPr>
                        <a:t>headers</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CE9178"/>
                          </a:solidFill>
                          <a:latin typeface="Consolas"/>
                          <a:ea typeface="Consolas"/>
                          <a:cs typeface="Consolas"/>
                          <a:sym typeface="Consolas"/>
                        </a:rPr>
                        <a:t>'x-auth'</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C586C0"/>
                          </a:solidFill>
                          <a:latin typeface="Consolas"/>
                          <a:ea typeface="Consolas"/>
                          <a:cs typeface="Consolas"/>
                          <a:sym typeface="Consolas"/>
                        </a:rPr>
                        <a:t>return</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DCDCAA"/>
                          </a:solidFill>
                          <a:latin typeface="Consolas"/>
                          <a:ea typeface="Consolas"/>
                          <a:cs typeface="Consolas"/>
                          <a:sym typeface="Consolas"/>
                        </a:rPr>
                        <a:t>next</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CE9178"/>
                          </a:solidFill>
                          <a:latin typeface="Consolas"/>
                          <a:ea typeface="Consolas"/>
                          <a:cs typeface="Consolas"/>
                          <a:sym typeface="Consolas"/>
                        </a:rPr>
                        <a:t>'router'</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DCDCAA"/>
                          </a:solidFill>
                          <a:latin typeface="Consolas"/>
                          <a:ea typeface="Consolas"/>
                          <a:cs typeface="Consolas"/>
                          <a:sym typeface="Consolas"/>
                        </a:rPr>
                        <a:t>next</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err="1">
                          <a:solidFill>
                            <a:srgbClr val="4FC1FF"/>
                          </a:solidFill>
                          <a:latin typeface="Consolas"/>
                          <a:ea typeface="Consolas"/>
                          <a:cs typeface="Consolas"/>
                          <a:sym typeface="Consolas"/>
                        </a:rPr>
                        <a:t>router</a:t>
                      </a:r>
                      <a:r>
                        <a:rPr lang="en-US" sz="1200" u="none" strike="noStrike" cap="none" dirty="0" err="1">
                          <a:solidFill>
                            <a:srgbClr val="D4D4D4"/>
                          </a:solidFill>
                          <a:latin typeface="Consolas"/>
                          <a:ea typeface="Consolas"/>
                          <a:cs typeface="Consolas"/>
                          <a:sym typeface="Consolas"/>
                        </a:rPr>
                        <a:t>.</a:t>
                      </a:r>
                      <a:r>
                        <a:rPr lang="en-US" sz="1200" u="none" strike="noStrike" cap="none" dirty="0" err="1">
                          <a:solidFill>
                            <a:srgbClr val="DCDCAA"/>
                          </a:solidFill>
                          <a:latin typeface="Consolas"/>
                          <a:ea typeface="Consolas"/>
                          <a:cs typeface="Consolas"/>
                          <a:sym typeface="Consolas"/>
                        </a:rPr>
                        <a:t>get</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CE9178"/>
                          </a:solidFill>
                          <a:latin typeface="Consolas"/>
                          <a:ea typeface="Consolas"/>
                          <a:cs typeface="Consolas"/>
                          <a:sym typeface="Consolas"/>
                        </a:rPr>
                        <a:t>'/user/:id'</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req</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res</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569CD6"/>
                          </a:solidFill>
                          <a:latin typeface="Consolas"/>
                          <a:ea typeface="Consolas"/>
                          <a:cs typeface="Consolas"/>
                          <a:sym typeface="Consolas"/>
                        </a:rPr>
                        <a:t>=&gt;</a:t>
                      </a:r>
                      <a:r>
                        <a:rPr lang="en-US" sz="1200" u="none" strike="noStrike" cap="none" dirty="0">
                          <a:solidFill>
                            <a:srgbClr val="D4D4D4"/>
                          </a:solidFill>
                          <a:latin typeface="Consolas"/>
                          <a:ea typeface="Consolas"/>
                          <a:cs typeface="Consolas"/>
                          <a:sym typeface="Consolas"/>
                        </a:rPr>
                        <a:t> {</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r>
                        <a:rPr lang="en-US" sz="1200" u="none" strike="noStrike" cap="none" dirty="0" err="1">
                          <a:solidFill>
                            <a:srgbClr val="9CDCFE"/>
                          </a:solidFill>
                          <a:latin typeface="Consolas"/>
                          <a:ea typeface="Consolas"/>
                          <a:cs typeface="Consolas"/>
                          <a:sym typeface="Consolas"/>
                        </a:rPr>
                        <a:t>res</a:t>
                      </a:r>
                      <a:r>
                        <a:rPr lang="en-US" sz="1200" u="none" strike="noStrike" cap="none" dirty="0" err="1">
                          <a:solidFill>
                            <a:srgbClr val="D4D4D4"/>
                          </a:solidFill>
                          <a:latin typeface="Consolas"/>
                          <a:ea typeface="Consolas"/>
                          <a:cs typeface="Consolas"/>
                          <a:sym typeface="Consolas"/>
                        </a:rPr>
                        <a:t>.</a:t>
                      </a:r>
                      <a:r>
                        <a:rPr lang="en-US" sz="1200" u="none" strike="noStrike" cap="none" dirty="0" err="1">
                          <a:solidFill>
                            <a:srgbClr val="DCDCAA"/>
                          </a:solidFill>
                          <a:latin typeface="Consolas"/>
                          <a:ea typeface="Consolas"/>
                          <a:cs typeface="Consolas"/>
                          <a:sym typeface="Consolas"/>
                        </a:rPr>
                        <a:t>send</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CE9178"/>
                          </a:solidFill>
                          <a:latin typeface="Consolas"/>
                          <a:ea typeface="Consolas"/>
                          <a:cs typeface="Consolas"/>
                          <a:sym typeface="Consolas"/>
                        </a:rPr>
                        <a:t>'hello, user!'</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6A9955"/>
                          </a:solidFill>
                          <a:latin typeface="Consolas"/>
                          <a:ea typeface="Consolas"/>
                          <a:cs typeface="Consolas"/>
                          <a:sym typeface="Consolas"/>
                        </a:rPr>
                        <a:t>// use the router and 401 anything falling through</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err="1">
                          <a:solidFill>
                            <a:srgbClr val="4FC1FF"/>
                          </a:solidFill>
                          <a:latin typeface="Consolas"/>
                          <a:ea typeface="Consolas"/>
                          <a:cs typeface="Consolas"/>
                          <a:sym typeface="Consolas"/>
                        </a:rPr>
                        <a:t>app</a:t>
                      </a:r>
                      <a:r>
                        <a:rPr lang="en-US" sz="1200" u="none" strike="noStrike" cap="none" dirty="0" err="1">
                          <a:solidFill>
                            <a:srgbClr val="D4D4D4"/>
                          </a:solidFill>
                          <a:latin typeface="Consolas"/>
                          <a:ea typeface="Consolas"/>
                          <a:cs typeface="Consolas"/>
                          <a:sym typeface="Consolas"/>
                        </a:rPr>
                        <a:t>.</a:t>
                      </a:r>
                      <a:r>
                        <a:rPr lang="en-US" sz="1200" u="none" strike="noStrike" cap="none" dirty="0" err="1">
                          <a:solidFill>
                            <a:srgbClr val="DCDCAA"/>
                          </a:solidFill>
                          <a:latin typeface="Consolas"/>
                          <a:ea typeface="Consolas"/>
                          <a:cs typeface="Consolas"/>
                          <a:sym typeface="Consolas"/>
                        </a:rPr>
                        <a:t>use</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CE9178"/>
                          </a:solidFill>
                          <a:latin typeface="Consolas"/>
                          <a:ea typeface="Consolas"/>
                          <a:cs typeface="Consolas"/>
                          <a:sym typeface="Consolas"/>
                        </a:rPr>
                        <a:t>'/admin'</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4FC1FF"/>
                          </a:solidFill>
                          <a:latin typeface="Consolas"/>
                          <a:ea typeface="Consolas"/>
                          <a:cs typeface="Consolas"/>
                          <a:sym typeface="Consolas"/>
                        </a:rPr>
                        <a:t>router</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req</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9CDCFE"/>
                          </a:solidFill>
                          <a:latin typeface="Consolas"/>
                          <a:ea typeface="Consolas"/>
                          <a:cs typeface="Consolas"/>
                          <a:sym typeface="Consolas"/>
                        </a:rPr>
                        <a:t>res</a:t>
                      </a:r>
                      <a:r>
                        <a:rPr lang="en-US" sz="1200" u="none" strike="noStrike" cap="none" dirty="0">
                          <a:solidFill>
                            <a:srgbClr val="D4D4D4"/>
                          </a:solidFill>
                          <a:latin typeface="Consolas"/>
                          <a:ea typeface="Consolas"/>
                          <a:cs typeface="Consolas"/>
                          <a:sym typeface="Consolas"/>
                        </a:rPr>
                        <a:t>) </a:t>
                      </a:r>
                      <a:r>
                        <a:rPr lang="en-US" sz="1200" u="none" strike="noStrike" cap="none" dirty="0">
                          <a:solidFill>
                            <a:srgbClr val="569CD6"/>
                          </a:solidFill>
                          <a:latin typeface="Consolas"/>
                          <a:ea typeface="Consolas"/>
                          <a:cs typeface="Consolas"/>
                          <a:sym typeface="Consolas"/>
                        </a:rPr>
                        <a:t>=&gt;</a:t>
                      </a:r>
                      <a:r>
                        <a:rPr lang="en-US" sz="1200" u="none" strike="noStrike" cap="none" dirty="0">
                          <a:solidFill>
                            <a:srgbClr val="D4D4D4"/>
                          </a:solidFill>
                          <a:latin typeface="Consolas"/>
                          <a:ea typeface="Consolas"/>
                          <a:cs typeface="Consolas"/>
                          <a:sym typeface="Consolas"/>
                        </a:rPr>
                        <a:t> {</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  </a:t>
                      </a:r>
                      <a:r>
                        <a:rPr lang="en-US" sz="1200" u="none" strike="noStrike" cap="none" dirty="0" err="1">
                          <a:solidFill>
                            <a:srgbClr val="9CDCFE"/>
                          </a:solidFill>
                          <a:latin typeface="Consolas"/>
                          <a:ea typeface="Consolas"/>
                          <a:cs typeface="Consolas"/>
                          <a:sym typeface="Consolas"/>
                        </a:rPr>
                        <a:t>res</a:t>
                      </a:r>
                      <a:r>
                        <a:rPr lang="en-US" sz="1200" u="none" strike="noStrike" cap="none" dirty="0" err="1">
                          <a:solidFill>
                            <a:srgbClr val="D4D4D4"/>
                          </a:solidFill>
                          <a:latin typeface="Consolas"/>
                          <a:ea typeface="Consolas"/>
                          <a:cs typeface="Consolas"/>
                          <a:sym typeface="Consolas"/>
                        </a:rPr>
                        <a:t>.</a:t>
                      </a:r>
                      <a:r>
                        <a:rPr lang="en-US" sz="1200" u="none" strike="noStrike" cap="none" dirty="0" err="1">
                          <a:solidFill>
                            <a:srgbClr val="DCDCAA"/>
                          </a:solidFill>
                          <a:latin typeface="Consolas"/>
                          <a:ea typeface="Consolas"/>
                          <a:cs typeface="Consolas"/>
                          <a:sym typeface="Consolas"/>
                        </a:rPr>
                        <a:t>sendStatus</a:t>
                      </a:r>
                      <a:r>
                        <a:rPr lang="en-US" sz="1200" u="none" strike="noStrike" cap="none" dirty="0">
                          <a:solidFill>
                            <a:srgbClr val="D4D4D4"/>
                          </a:solidFill>
                          <a:latin typeface="Consolas"/>
                          <a:ea typeface="Consolas"/>
                          <a:cs typeface="Consolas"/>
                          <a:sym typeface="Consolas"/>
                        </a:rPr>
                        <a:t>(</a:t>
                      </a:r>
                      <a:r>
                        <a:rPr lang="en-US" sz="1200" u="none" strike="noStrike" cap="none" dirty="0">
                          <a:solidFill>
                            <a:srgbClr val="B5CEA8"/>
                          </a:solidFill>
                          <a:latin typeface="Consolas"/>
                          <a:ea typeface="Consolas"/>
                          <a:cs typeface="Consolas"/>
                          <a:sym typeface="Consolas"/>
                        </a:rPr>
                        <a:t>401</a:t>
                      </a: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200" u="none" strike="noStrike" cap="none" dirty="0">
                          <a:solidFill>
                            <a:srgbClr val="D4D4D4"/>
                          </a:solidFill>
                          <a:latin typeface="Consolas"/>
                          <a:ea typeface="Consolas"/>
                          <a:cs typeface="Consolas"/>
                          <a:sym typeface="Consolas"/>
                        </a:rPr>
                        <a:t>})</a:t>
                      </a:r>
                      <a:endParaRPr sz="1200" u="none" strike="noStrike" cap="none" dirty="0">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tc hMerge="1">
                  <a:txBody>
                    <a:bodyPr/>
                    <a:lstStyle/>
                    <a:p>
                      <a:endParaRPr lang="en-US"/>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50"/>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386" name="Google Shape;386;p50"/>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387" name="Google Shape;387;p50"/>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24</a:t>
            </a:fld>
            <a:endParaRPr/>
          </a:p>
        </p:txBody>
      </p:sp>
      <p:graphicFrame>
        <p:nvGraphicFramePr>
          <p:cNvPr id="388" name="Google Shape;388;p50"/>
          <p:cNvGraphicFramePr/>
          <p:nvPr>
            <p:extLst>
              <p:ext uri="{D42A27DB-BD31-4B8C-83A1-F6EECF244321}">
                <p14:modId xmlns:p14="http://schemas.microsoft.com/office/powerpoint/2010/main" val="916887516"/>
              </p:ext>
            </p:extLst>
          </p:nvPr>
        </p:nvGraphicFramePr>
        <p:xfrm>
          <a:off x="1066788" y="2160340"/>
          <a:ext cx="10156000" cy="731490"/>
        </p:xfrm>
        <a:graphic>
          <a:graphicData uri="http://schemas.openxmlformats.org/drawingml/2006/table">
            <a:tbl>
              <a:tblPr>
                <a:noFill/>
                <a:tableStyleId>{99CD84AF-14CF-470D-B69C-EB98024C896D}</a:tableStyleId>
              </a:tblPr>
              <a:tblGrid>
                <a:gridCol w="5078000">
                  <a:extLst>
                    <a:ext uri="{9D8B030D-6E8A-4147-A177-3AD203B41FA5}">
                      <a16:colId xmlns:a16="http://schemas.microsoft.com/office/drawing/2014/main" val="20000"/>
                    </a:ext>
                  </a:extLst>
                </a:gridCol>
                <a:gridCol w="5078000">
                  <a:extLst>
                    <a:ext uri="{9D8B030D-6E8A-4147-A177-3AD203B41FA5}">
                      <a16:colId xmlns:a16="http://schemas.microsoft.com/office/drawing/2014/main" val="20001"/>
                    </a:ext>
                  </a:extLst>
                </a:gridCol>
              </a:tblGrid>
              <a:tr h="350150">
                <a:tc gridSpan="2">
                  <a:txBody>
                    <a:bodyPr/>
                    <a:lstStyle/>
                    <a:p>
                      <a:pPr marL="0" marR="0" lvl="0" indent="0" algn="l" rtl="0">
                        <a:lnSpc>
                          <a:spcPct val="100000"/>
                        </a:lnSpc>
                        <a:spcBef>
                          <a:spcPts val="0"/>
                        </a:spcBef>
                        <a:spcAft>
                          <a:spcPts val="0"/>
                        </a:spcAft>
                        <a:buClr>
                          <a:srgbClr val="000000"/>
                        </a:buClr>
                        <a:buSzPts val="1200"/>
                        <a:buFont typeface="Arial"/>
                        <a:buNone/>
                      </a:pPr>
                      <a:r>
                        <a:rPr lang="en-US" sz="1200" b="1" u="sng" strike="noStrike" cap="none">
                          <a:latin typeface="Times New Roman"/>
                          <a:ea typeface="Times New Roman"/>
                          <a:cs typeface="Times New Roman"/>
                          <a:sym typeface="Times New Roman"/>
                        </a:rPr>
                        <a:t>Built-in middleware</a:t>
                      </a:r>
                      <a:endParaRPr sz="1200" b="1" u="sng"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Built-in middleware functions are bundled with Express so we do not need to install any additional modules for using them.</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Express provides the following Built-in middleware functions:</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0"/>
                  </a:ext>
                </a:extLst>
              </a:tr>
            </a:tbl>
          </a:graphicData>
        </a:graphic>
      </p:graphicFrame>
      <p:pic>
        <p:nvPicPr>
          <p:cNvPr id="389" name="Google Shape;389;p50"/>
          <p:cNvPicPr preferRelativeResize="0"/>
          <p:nvPr/>
        </p:nvPicPr>
        <p:blipFill rotWithShape="1">
          <a:blip r:embed="rId3">
            <a:alphaModFix/>
          </a:blip>
          <a:srcRect/>
          <a:stretch/>
        </p:blipFill>
        <p:spPr>
          <a:xfrm>
            <a:off x="3239875" y="2974555"/>
            <a:ext cx="4762500" cy="26479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51"/>
          <p:cNvSpPr txBox="1">
            <a:spLocks noGrp="1"/>
          </p:cNvSpPr>
          <p:nvPr>
            <p:ph type="title"/>
          </p:nvPr>
        </p:nvSpPr>
        <p:spPr>
          <a:xfrm>
            <a:off x="1066788" y="95610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395" name="Google Shape;395;p51"/>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396" name="Google Shape;396;p51"/>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25</a:t>
            </a:fld>
            <a:endParaRPr/>
          </a:p>
        </p:txBody>
      </p:sp>
      <p:graphicFrame>
        <p:nvGraphicFramePr>
          <p:cNvPr id="397" name="Google Shape;397;p51"/>
          <p:cNvGraphicFramePr/>
          <p:nvPr>
            <p:extLst>
              <p:ext uri="{D42A27DB-BD31-4B8C-83A1-F6EECF244321}">
                <p14:modId xmlns:p14="http://schemas.microsoft.com/office/powerpoint/2010/main" val="2804643998"/>
              </p:ext>
            </p:extLst>
          </p:nvPr>
        </p:nvGraphicFramePr>
        <p:xfrm>
          <a:off x="1066788" y="2046895"/>
          <a:ext cx="10816818" cy="4518540"/>
        </p:xfrm>
        <a:graphic>
          <a:graphicData uri="http://schemas.openxmlformats.org/drawingml/2006/table">
            <a:tbl>
              <a:tblPr>
                <a:noFill/>
                <a:tableStyleId>{99CD84AF-14CF-470D-B69C-EB98024C896D}</a:tableStyleId>
              </a:tblPr>
              <a:tblGrid>
                <a:gridCol w="5408409">
                  <a:extLst>
                    <a:ext uri="{9D8B030D-6E8A-4147-A177-3AD203B41FA5}">
                      <a16:colId xmlns:a16="http://schemas.microsoft.com/office/drawing/2014/main" val="20000"/>
                    </a:ext>
                  </a:extLst>
                </a:gridCol>
                <a:gridCol w="5408409">
                  <a:extLst>
                    <a:ext uri="{9D8B030D-6E8A-4147-A177-3AD203B41FA5}">
                      <a16:colId xmlns:a16="http://schemas.microsoft.com/office/drawing/2014/main" val="20001"/>
                    </a:ext>
                  </a:extLst>
                </a:gridCol>
              </a:tblGrid>
              <a:tr h="350150">
                <a:tc gridSpan="2">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Let us see some examples of their use.</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b="1" u="none" strike="noStrike" cap="none">
                          <a:latin typeface="Times New Roman"/>
                          <a:ea typeface="Times New Roman"/>
                          <a:cs typeface="Times New Roman"/>
                          <a:sym typeface="Times New Roman"/>
                        </a:rPr>
                        <a:t>Using express.static for Serving Static Assets</a:t>
                      </a:r>
                      <a:endParaRPr sz="1200" b="1"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We use the express.static built-in middleware function to serve static files such as images, CSS files, and JavaScript files. Here is an example of using express.static to serve our HTML and image files:</a:t>
                      </a:r>
                      <a:endParaRPr sz="1200" b="1" u="sng"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0"/>
                  </a:ext>
                </a:extLst>
              </a:tr>
              <a:tr h="350150">
                <a:tc gridSpan="2">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569CD6"/>
                          </a:solidFill>
                          <a:latin typeface="Consolas"/>
                          <a:ea typeface="Consolas"/>
                          <a:cs typeface="Consolas"/>
                          <a:sym typeface="Consolas"/>
                        </a:rPr>
                        <a:t>const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DCDCAA"/>
                          </a:solidFill>
                          <a:latin typeface="Consolas"/>
                          <a:ea typeface="Consolas"/>
                          <a:cs typeface="Consolas"/>
                          <a:sym typeface="Consolas"/>
                        </a:rPr>
                        <a:t>express</a:t>
                      </a:r>
                      <a:r>
                        <a:rPr lang="en-US" sz="1050" u="none" strike="noStrike" cap="none" dirty="0">
                          <a:solidFill>
                            <a:srgbClr val="D4D4D4"/>
                          </a:solidFill>
                          <a:latin typeface="Consolas"/>
                          <a:ea typeface="Consolas"/>
                          <a:cs typeface="Consolas"/>
                          <a:sym typeface="Consolas"/>
                        </a:rPr>
                        <a:t> = </a:t>
                      </a:r>
                      <a:r>
                        <a:rPr lang="en-US" sz="1050" u="none" strike="noStrike" cap="none" dirty="0">
                          <a:solidFill>
                            <a:srgbClr val="DCDCAA"/>
                          </a:solidFill>
                          <a:latin typeface="Consolas"/>
                          <a:ea typeface="Consolas"/>
                          <a:cs typeface="Consolas"/>
                          <a:sym typeface="Consolas"/>
                        </a:rPr>
                        <a:t>require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'express'</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569CD6"/>
                          </a:solidFill>
                          <a:latin typeface="Consolas"/>
                          <a:ea typeface="Consolas"/>
                          <a:cs typeface="Consolas"/>
                          <a:sym typeface="Consolas"/>
                        </a:rPr>
                        <a:t>const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4FC1FF"/>
                          </a:solidFill>
                          <a:latin typeface="Consolas"/>
                          <a:ea typeface="Consolas"/>
                          <a:cs typeface="Consolas"/>
                          <a:sym typeface="Consolas"/>
                        </a:rPr>
                        <a:t>app</a:t>
                      </a:r>
                      <a:r>
                        <a:rPr lang="en-US" sz="1050" u="none" strike="noStrike" cap="none" dirty="0">
                          <a:solidFill>
                            <a:srgbClr val="D4D4D4"/>
                          </a:solidFill>
                          <a:latin typeface="Consolas"/>
                          <a:ea typeface="Consolas"/>
                          <a:cs typeface="Consolas"/>
                          <a:sym typeface="Consolas"/>
                        </a:rPr>
                        <a:t> = </a:t>
                      </a:r>
                      <a:r>
                        <a:rPr lang="en-US" sz="1050" u="none" strike="noStrike" cap="none" dirty="0">
                          <a:solidFill>
                            <a:srgbClr val="DCDCAA"/>
                          </a:solidFill>
                          <a:latin typeface="Consolas"/>
                          <a:ea typeface="Consolas"/>
                          <a:cs typeface="Consolas"/>
                          <a:sym typeface="Consolas"/>
                        </a:rPr>
                        <a:t>express</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4FC1FF"/>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use</a:t>
                      </a:r>
                      <a:r>
                        <a:rPr lang="en-US" sz="1050" u="none" strike="noStrike" cap="none" dirty="0">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express</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static</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'images'</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4FC1FF"/>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use</a:t>
                      </a:r>
                      <a:r>
                        <a:rPr lang="en-US" sz="1050" u="none" strike="noStrike" cap="none" dirty="0">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express</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static</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a:t>
                      </a:r>
                      <a:r>
                        <a:rPr lang="en-US" sz="1050" u="none" strike="noStrike" cap="none" dirty="0" err="1">
                          <a:solidFill>
                            <a:srgbClr val="CE9178"/>
                          </a:solidFill>
                          <a:latin typeface="Consolas"/>
                          <a:ea typeface="Consolas"/>
                          <a:cs typeface="Consolas"/>
                          <a:sym typeface="Consolas"/>
                        </a:rPr>
                        <a:t>htmls</a:t>
                      </a:r>
                      <a:r>
                        <a:rPr lang="en-US" sz="1050" u="none" strike="noStrike" cap="none" dirty="0">
                          <a:solidFill>
                            <a:srgbClr val="CE9178"/>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4FC1FF"/>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get</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'product'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request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response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569CD6"/>
                          </a:solidFill>
                          <a:latin typeface="Consolas"/>
                          <a:ea typeface="Consolas"/>
                          <a:cs typeface="Consolas"/>
                          <a:sym typeface="Consolas"/>
                        </a:rPr>
                        <a:t>=&gt;</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response</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sendFile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"productsample.html"</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2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tc hMerge="1">
                  <a:txBody>
                    <a:bodyPr/>
                    <a:lstStyle/>
                    <a:p>
                      <a:endParaRPr lang="en-US"/>
                    </a:p>
                  </a:txBody>
                  <a:tcPr/>
                </a:tc>
                <a:extLst>
                  <a:ext uri="{0D108BD9-81ED-4DB2-BD59-A6C34878D82A}">
                    <a16:rowId xmlns:a16="http://schemas.microsoft.com/office/drawing/2014/main" val="10001"/>
                  </a:ext>
                </a:extLst>
              </a:tr>
              <a:tr h="350150">
                <a:tc gridSpan="2">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Here we have defined two static paths named images and htmls to represent two folders of the same name in our root directory. We have also defined multiple static assets directories by calling the express.static() middleware function multiple times.</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Our root directory structure looks like this:</a:t>
                      </a:r>
                      <a:endParaRPr sz="1050" u="none" strike="noStrike" cap="none">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2"/>
                  </a:ext>
                </a:extLst>
              </a:tr>
              <a:tr h="350150">
                <a:tc gridSpan="2">
                  <a:txBody>
                    <a:bodyPr/>
                    <a:lstStyle/>
                    <a:p>
                      <a:pPr marL="0" marR="0" lvl="0" indent="0" algn="l" rtl="0">
                        <a:lnSpc>
                          <a:spcPct val="100000"/>
                        </a:lnSpc>
                        <a:spcBef>
                          <a:spcPts val="0"/>
                        </a:spcBef>
                        <a:spcAft>
                          <a:spcPts val="0"/>
                        </a:spcAft>
                        <a:buClr>
                          <a:srgbClr val="000000"/>
                        </a:buClr>
                        <a:buSzPts val="1000"/>
                        <a:buFont typeface="Arial"/>
                        <a:buNone/>
                      </a:pPr>
                      <a:r>
                        <a:rPr lang="en-US" sz="1000" u="none" strike="noStrike" cap="none" dirty="0">
                          <a:solidFill>
                            <a:srgbClr val="F8F8F2"/>
                          </a:solidFill>
                          <a:latin typeface="Arial"/>
                          <a:ea typeface="Arial"/>
                          <a:cs typeface="Arial"/>
                          <a:sym typeface="Arial"/>
                        </a:rPr>
                        <a:t>.</a:t>
                      </a:r>
                      <a:endParaRPr sz="1000" u="none" strike="noStrike" cap="none" dirty="0">
                        <a:solidFill>
                          <a:srgbClr val="F8F8F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US" sz="1000" u="none" strike="noStrike" cap="none" dirty="0">
                          <a:solidFill>
                            <a:srgbClr val="F8F8F2"/>
                          </a:solidFill>
                          <a:latin typeface="Arial"/>
                          <a:ea typeface="Arial"/>
                          <a:cs typeface="Arial"/>
                          <a:sym typeface="Arial"/>
                        </a:rPr>
                        <a:t>├── </a:t>
                      </a:r>
                      <a:r>
                        <a:rPr lang="en-US" sz="1000" u="none" strike="noStrike" cap="none" dirty="0" err="1">
                          <a:solidFill>
                            <a:srgbClr val="F8F8F2"/>
                          </a:solidFill>
                          <a:latin typeface="Arial"/>
                          <a:ea typeface="Arial"/>
                          <a:cs typeface="Arial"/>
                          <a:sym typeface="Arial"/>
                        </a:rPr>
                        <a:t>htmls</a:t>
                      </a:r>
                      <a:endParaRPr sz="1000" u="none" strike="noStrike" cap="none" dirty="0">
                        <a:solidFill>
                          <a:srgbClr val="F8F8F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US" sz="1000" u="none" strike="noStrike" cap="none" dirty="0">
                          <a:solidFill>
                            <a:srgbClr val="F8F8F2"/>
                          </a:solidFill>
                          <a:latin typeface="Arial"/>
                          <a:ea typeface="Arial"/>
                          <a:cs typeface="Arial"/>
                          <a:sym typeface="Arial"/>
                        </a:rPr>
                        <a:t>│   └── productsample.html</a:t>
                      </a:r>
                      <a:endParaRPr sz="1000" u="none" strike="noStrike" cap="none" dirty="0">
                        <a:solidFill>
                          <a:srgbClr val="F8F8F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US" sz="1000" u="none" strike="noStrike" cap="none" dirty="0">
                          <a:solidFill>
                            <a:srgbClr val="F8F8F2"/>
                          </a:solidFill>
                          <a:latin typeface="Arial"/>
                          <a:ea typeface="Arial"/>
                          <a:cs typeface="Arial"/>
                          <a:sym typeface="Arial"/>
                        </a:rPr>
                        <a:t>├── images</a:t>
                      </a:r>
                      <a:endParaRPr sz="1000" u="none" strike="noStrike" cap="none" dirty="0">
                        <a:solidFill>
                          <a:srgbClr val="F8F8F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US" sz="1000" u="none" strike="noStrike" cap="none" dirty="0">
                          <a:solidFill>
                            <a:srgbClr val="F8F8F2"/>
                          </a:solidFill>
                          <a:latin typeface="Arial"/>
                          <a:ea typeface="Arial"/>
                          <a:cs typeface="Arial"/>
                          <a:sym typeface="Arial"/>
                        </a:rPr>
                        <a:t>│   └── sample.jpg</a:t>
                      </a:r>
                      <a:endParaRPr sz="1000" u="none" strike="noStrike" cap="none" dirty="0">
                        <a:solidFill>
                          <a:srgbClr val="F8F8F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US" sz="1000" u="none" strike="noStrike" cap="none" dirty="0">
                          <a:solidFill>
                            <a:srgbClr val="F8F8F2"/>
                          </a:solidFill>
                          <a:latin typeface="Arial"/>
                          <a:ea typeface="Arial"/>
                          <a:cs typeface="Arial"/>
                          <a:sym typeface="Arial"/>
                        </a:rPr>
                        <a:t>├── index.js</a:t>
                      </a:r>
                      <a:endParaRPr sz="1000" u="none" strike="noStrike" cap="none" dirty="0">
                        <a:solidFill>
                          <a:srgbClr val="F8F8F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rPr lang="en-US" sz="1000" u="none" strike="noStrike" cap="none" dirty="0">
                          <a:solidFill>
                            <a:srgbClr val="F8F8F2"/>
                          </a:solidFill>
                          <a:latin typeface="Arial"/>
                          <a:ea typeface="Arial"/>
                          <a:cs typeface="Arial"/>
                          <a:sym typeface="Arial"/>
                        </a:rPr>
                        <a:t>├── </a:t>
                      </a:r>
                      <a:r>
                        <a:rPr lang="en-US" sz="1000" u="none" strike="noStrike" cap="none" dirty="0" err="1">
                          <a:solidFill>
                            <a:srgbClr val="F8F8F2"/>
                          </a:solidFill>
                          <a:latin typeface="Arial"/>
                          <a:ea typeface="Arial"/>
                          <a:cs typeface="Arial"/>
                          <a:sym typeface="Arial"/>
                        </a:rPr>
                        <a:t>node_modules</a:t>
                      </a:r>
                      <a:endParaRPr sz="12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tc hMerge="1">
                  <a:txBody>
                    <a:bodyPr/>
                    <a:lstStyle/>
                    <a:p>
                      <a:endParaRPr lang="en-US"/>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52"/>
          <p:cNvSpPr txBox="1">
            <a:spLocks noGrp="1"/>
          </p:cNvSpPr>
          <p:nvPr>
            <p:ph type="title"/>
          </p:nvPr>
        </p:nvSpPr>
        <p:spPr>
          <a:xfrm>
            <a:off x="1066788" y="46915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403" name="Google Shape;403;p52"/>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404" name="Google Shape;404;p52"/>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26</a:t>
            </a:fld>
            <a:endParaRPr/>
          </a:p>
        </p:txBody>
      </p:sp>
      <p:graphicFrame>
        <p:nvGraphicFramePr>
          <p:cNvPr id="405" name="Google Shape;405;p52"/>
          <p:cNvGraphicFramePr/>
          <p:nvPr>
            <p:extLst>
              <p:ext uri="{D42A27DB-BD31-4B8C-83A1-F6EECF244321}">
                <p14:modId xmlns:p14="http://schemas.microsoft.com/office/powerpoint/2010/main" val="4223579152"/>
              </p:ext>
            </p:extLst>
          </p:nvPr>
        </p:nvGraphicFramePr>
        <p:xfrm>
          <a:off x="1066788" y="2128087"/>
          <a:ext cx="10816818" cy="4777620"/>
        </p:xfrm>
        <a:graphic>
          <a:graphicData uri="http://schemas.openxmlformats.org/drawingml/2006/table">
            <a:tbl>
              <a:tblPr>
                <a:noFill/>
                <a:tableStyleId>{99CD84AF-14CF-470D-B69C-EB98024C896D}</a:tableStyleId>
              </a:tblPr>
              <a:tblGrid>
                <a:gridCol w="5408409">
                  <a:extLst>
                    <a:ext uri="{9D8B030D-6E8A-4147-A177-3AD203B41FA5}">
                      <a16:colId xmlns:a16="http://schemas.microsoft.com/office/drawing/2014/main" val="20000"/>
                    </a:ext>
                  </a:extLst>
                </a:gridCol>
                <a:gridCol w="5408409">
                  <a:extLst>
                    <a:ext uri="{9D8B030D-6E8A-4147-A177-3AD203B41FA5}">
                      <a16:colId xmlns:a16="http://schemas.microsoft.com/office/drawing/2014/main" val="20001"/>
                    </a:ext>
                  </a:extLst>
                </a:gridCol>
              </a:tblGrid>
              <a:tr h="350150">
                <a:tc gridSpan="2">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050" u="none" strike="noStrike" cap="none">
                          <a:latin typeface="Times New Roman"/>
                          <a:ea typeface="Times New Roman"/>
                          <a:cs typeface="Times New Roman"/>
                          <a:sym typeface="Times New Roman"/>
                        </a:rPr>
                        <a:t>Express looks for the files in the order in which we set the static directories with the express.static middleware function.</a:t>
                      </a:r>
                      <a:endParaRPr sz="105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050" u="none" strike="noStrike" cap="none">
                          <a:latin typeface="Times New Roman"/>
                          <a:ea typeface="Times New Roman"/>
                          <a:cs typeface="Times New Roman"/>
                          <a:sym typeface="Times New Roman"/>
                        </a:rPr>
                        <a:t>In our example, we have defined the images directory before htmls. So Express will look for the file: productsample.html in the images directory first. If the file is not found in the images directory, Express looks for the file in the htmls directory.</a:t>
                      </a:r>
                      <a:endParaRPr sz="105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050" u="none" strike="noStrike" cap="none">
                          <a:latin typeface="Times New Roman"/>
                          <a:ea typeface="Times New Roman"/>
                          <a:cs typeface="Times New Roman"/>
                          <a:sym typeface="Times New Roman"/>
                        </a:rPr>
                        <a:t>Next we have defined a route with url product to serve the static HTML file productsample.html. The HTML file contains an image referred only with the image name sample.jpg:</a:t>
                      </a:r>
                      <a:endParaRPr sz="105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0"/>
                  </a:ext>
                </a:extLst>
              </a:tr>
              <a:tr h="350150">
                <a:tc gridSpan="2">
                  <a:txBody>
                    <a:bodyPr/>
                    <a:lstStyle/>
                    <a:p>
                      <a:pPr marL="0" marR="0" lvl="0" indent="0" algn="l" rtl="0">
                        <a:lnSpc>
                          <a:spcPct val="100000"/>
                        </a:lnSpc>
                        <a:spcBef>
                          <a:spcPts val="0"/>
                        </a:spcBef>
                        <a:spcAft>
                          <a:spcPts val="0"/>
                        </a:spcAft>
                        <a:buClr>
                          <a:srgbClr val="000000"/>
                        </a:buClr>
                        <a:buSzPts val="1050"/>
                        <a:buFont typeface="Arial"/>
                        <a:buNone/>
                      </a:pPr>
                      <a:r>
                        <a:rPr lang="en-US" sz="900" u="none" strike="noStrike" cap="none" dirty="0">
                          <a:solidFill>
                            <a:srgbClr val="808080"/>
                          </a:solidFill>
                          <a:latin typeface="Consolas"/>
                          <a:ea typeface="Consolas"/>
                          <a:cs typeface="Consolas"/>
                          <a:sym typeface="Consolas"/>
                        </a:rPr>
                        <a:t>&lt;</a:t>
                      </a:r>
                      <a:r>
                        <a:rPr lang="en-US" sz="900" u="none" strike="noStrike" cap="none" dirty="0">
                          <a:solidFill>
                            <a:srgbClr val="569CD6"/>
                          </a:solidFill>
                          <a:latin typeface="Consolas"/>
                          <a:ea typeface="Consolas"/>
                          <a:cs typeface="Consolas"/>
                          <a:sym typeface="Consolas"/>
                        </a:rPr>
                        <a:t>html</a:t>
                      </a:r>
                      <a:r>
                        <a:rPr lang="en-US" sz="900" u="none" strike="noStrike" cap="none" dirty="0">
                          <a:solidFill>
                            <a:srgbClr val="808080"/>
                          </a:solidFill>
                          <a:latin typeface="Consolas"/>
                          <a:ea typeface="Consolas"/>
                          <a:cs typeface="Consolas"/>
                          <a:sym typeface="Consolas"/>
                        </a:rPr>
                        <a:t>&gt;</a:t>
                      </a:r>
                      <a:endParaRPr sz="9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900" u="none" strike="noStrike" cap="none" dirty="0">
                          <a:solidFill>
                            <a:srgbClr val="808080"/>
                          </a:solidFill>
                          <a:latin typeface="Consolas"/>
                          <a:ea typeface="Consolas"/>
                          <a:cs typeface="Consolas"/>
                          <a:sym typeface="Consolas"/>
                        </a:rPr>
                        <a:t>&lt;</a:t>
                      </a:r>
                      <a:r>
                        <a:rPr lang="en-US" sz="900" u="none" strike="noStrike" cap="none" dirty="0">
                          <a:solidFill>
                            <a:srgbClr val="569CD6"/>
                          </a:solidFill>
                          <a:latin typeface="Consolas"/>
                          <a:ea typeface="Consolas"/>
                          <a:cs typeface="Consolas"/>
                          <a:sym typeface="Consolas"/>
                        </a:rPr>
                        <a:t>body</a:t>
                      </a:r>
                      <a:r>
                        <a:rPr lang="en-US" sz="900" u="none" strike="noStrike" cap="none" dirty="0">
                          <a:solidFill>
                            <a:srgbClr val="808080"/>
                          </a:solidFill>
                          <a:latin typeface="Consolas"/>
                          <a:ea typeface="Consolas"/>
                          <a:cs typeface="Consolas"/>
                          <a:sym typeface="Consolas"/>
                        </a:rPr>
                        <a:t>&gt;</a:t>
                      </a:r>
                      <a:endParaRPr sz="9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900" u="none" strike="noStrike" cap="none" dirty="0">
                          <a:solidFill>
                            <a:srgbClr val="D4D4D4"/>
                          </a:solidFill>
                          <a:latin typeface="Consolas"/>
                          <a:ea typeface="Consolas"/>
                          <a:cs typeface="Consolas"/>
                          <a:sym typeface="Consolas"/>
                        </a:rPr>
                        <a:t>    </a:t>
                      </a:r>
                      <a:r>
                        <a:rPr lang="en-US" sz="900" u="none" strike="noStrike" cap="none" dirty="0">
                          <a:solidFill>
                            <a:srgbClr val="808080"/>
                          </a:solidFill>
                          <a:latin typeface="Consolas"/>
                          <a:ea typeface="Consolas"/>
                          <a:cs typeface="Consolas"/>
                          <a:sym typeface="Consolas"/>
                        </a:rPr>
                        <a:t>&lt;</a:t>
                      </a:r>
                      <a:r>
                        <a:rPr lang="en-US" sz="900" u="none" strike="noStrike" cap="none" dirty="0">
                          <a:solidFill>
                            <a:srgbClr val="569CD6"/>
                          </a:solidFill>
                          <a:latin typeface="Consolas"/>
                          <a:ea typeface="Consolas"/>
                          <a:cs typeface="Consolas"/>
                          <a:sym typeface="Consolas"/>
                        </a:rPr>
                        <a:t>h2</a:t>
                      </a:r>
                      <a:r>
                        <a:rPr lang="en-US" sz="900" u="none" strike="noStrike" cap="none" dirty="0">
                          <a:solidFill>
                            <a:srgbClr val="808080"/>
                          </a:solidFill>
                          <a:latin typeface="Consolas"/>
                          <a:ea typeface="Consolas"/>
                          <a:cs typeface="Consolas"/>
                          <a:sym typeface="Consolas"/>
                        </a:rPr>
                        <a:t>&gt;</a:t>
                      </a:r>
                      <a:r>
                        <a:rPr lang="en-US" sz="900" u="none" strike="noStrike" cap="none" dirty="0">
                          <a:solidFill>
                            <a:srgbClr val="D4D4D4"/>
                          </a:solidFill>
                          <a:latin typeface="Consolas"/>
                          <a:ea typeface="Consolas"/>
                          <a:cs typeface="Consolas"/>
                          <a:sym typeface="Consolas"/>
                        </a:rPr>
                        <a:t>My sample product page</a:t>
                      </a:r>
                      <a:r>
                        <a:rPr lang="en-US" sz="900" u="none" strike="noStrike" cap="none" dirty="0">
                          <a:solidFill>
                            <a:srgbClr val="808080"/>
                          </a:solidFill>
                          <a:latin typeface="Consolas"/>
                          <a:ea typeface="Consolas"/>
                          <a:cs typeface="Consolas"/>
                          <a:sym typeface="Consolas"/>
                        </a:rPr>
                        <a:t>&lt;/</a:t>
                      </a:r>
                      <a:r>
                        <a:rPr lang="en-US" sz="900" u="none" strike="noStrike" cap="none" dirty="0">
                          <a:solidFill>
                            <a:srgbClr val="569CD6"/>
                          </a:solidFill>
                          <a:latin typeface="Consolas"/>
                          <a:ea typeface="Consolas"/>
                          <a:cs typeface="Consolas"/>
                          <a:sym typeface="Consolas"/>
                        </a:rPr>
                        <a:t>h2</a:t>
                      </a:r>
                      <a:r>
                        <a:rPr lang="en-US" sz="900" u="none" strike="noStrike" cap="none" dirty="0">
                          <a:solidFill>
                            <a:srgbClr val="808080"/>
                          </a:solidFill>
                          <a:latin typeface="Consolas"/>
                          <a:ea typeface="Consolas"/>
                          <a:cs typeface="Consolas"/>
                          <a:sym typeface="Consolas"/>
                        </a:rPr>
                        <a:t>&gt;</a:t>
                      </a:r>
                      <a:endParaRPr sz="9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900" u="none" strike="noStrike" cap="none" dirty="0">
                          <a:solidFill>
                            <a:srgbClr val="D4D4D4"/>
                          </a:solidFill>
                          <a:latin typeface="Consolas"/>
                          <a:ea typeface="Consolas"/>
                          <a:cs typeface="Consolas"/>
                          <a:sym typeface="Consolas"/>
                        </a:rPr>
                        <a:t>    </a:t>
                      </a:r>
                      <a:r>
                        <a:rPr lang="en-US" sz="900" u="none" strike="noStrike" cap="none" dirty="0">
                          <a:solidFill>
                            <a:srgbClr val="808080"/>
                          </a:solidFill>
                          <a:latin typeface="Consolas"/>
                          <a:ea typeface="Consolas"/>
                          <a:cs typeface="Consolas"/>
                          <a:sym typeface="Consolas"/>
                        </a:rPr>
                        <a:t>&lt;</a:t>
                      </a:r>
                      <a:r>
                        <a:rPr lang="en-US" sz="900" u="none" strike="noStrike" cap="none" dirty="0" err="1">
                          <a:solidFill>
                            <a:srgbClr val="569CD6"/>
                          </a:solidFill>
                          <a:latin typeface="Consolas"/>
                          <a:ea typeface="Consolas"/>
                          <a:cs typeface="Consolas"/>
                          <a:sym typeface="Consolas"/>
                        </a:rPr>
                        <a:t>img</a:t>
                      </a:r>
                      <a:r>
                        <a:rPr lang="en-US" sz="900" u="none" strike="noStrike" cap="none" dirty="0">
                          <a:solidFill>
                            <a:srgbClr val="D4D4D4"/>
                          </a:solidFill>
                          <a:latin typeface="Consolas"/>
                          <a:ea typeface="Consolas"/>
                          <a:cs typeface="Consolas"/>
                          <a:sym typeface="Consolas"/>
                        </a:rPr>
                        <a:t> </a:t>
                      </a:r>
                      <a:r>
                        <a:rPr lang="en-US" sz="900" u="none" strike="noStrike" cap="none" dirty="0" err="1">
                          <a:solidFill>
                            <a:srgbClr val="9CDCFE"/>
                          </a:solidFill>
                          <a:latin typeface="Consolas"/>
                          <a:ea typeface="Consolas"/>
                          <a:cs typeface="Consolas"/>
                          <a:sym typeface="Consolas"/>
                        </a:rPr>
                        <a:t>src</a:t>
                      </a:r>
                      <a:r>
                        <a:rPr lang="en-US" sz="900" u="none" strike="noStrike" cap="none" dirty="0">
                          <a:solidFill>
                            <a:srgbClr val="D4D4D4"/>
                          </a:solidFill>
                          <a:latin typeface="Consolas"/>
                          <a:ea typeface="Consolas"/>
                          <a:cs typeface="Consolas"/>
                          <a:sym typeface="Consolas"/>
                        </a:rPr>
                        <a:t>=</a:t>
                      </a:r>
                      <a:r>
                        <a:rPr lang="en-US" sz="900" u="none" strike="noStrike" cap="none" dirty="0">
                          <a:solidFill>
                            <a:srgbClr val="CE9178"/>
                          </a:solidFill>
                          <a:latin typeface="Consolas"/>
                          <a:ea typeface="Consolas"/>
                          <a:cs typeface="Consolas"/>
                          <a:sym typeface="Consolas"/>
                        </a:rPr>
                        <a:t>"sample.jpg"</a:t>
                      </a:r>
                      <a:r>
                        <a:rPr lang="en-US" sz="900" u="none" strike="noStrike" cap="none" dirty="0">
                          <a:solidFill>
                            <a:srgbClr val="D4D4D4"/>
                          </a:solidFill>
                          <a:latin typeface="Consolas"/>
                          <a:ea typeface="Consolas"/>
                          <a:cs typeface="Consolas"/>
                          <a:sym typeface="Consolas"/>
                        </a:rPr>
                        <a:t> </a:t>
                      </a:r>
                      <a:r>
                        <a:rPr lang="en-US" sz="900" u="none" strike="noStrike" cap="none" dirty="0">
                          <a:solidFill>
                            <a:srgbClr val="9CDCFE"/>
                          </a:solidFill>
                          <a:latin typeface="Consolas"/>
                          <a:ea typeface="Consolas"/>
                          <a:cs typeface="Consolas"/>
                          <a:sym typeface="Consolas"/>
                        </a:rPr>
                        <a:t>alt</a:t>
                      </a:r>
                      <a:r>
                        <a:rPr lang="en-US" sz="900" u="none" strike="noStrike" cap="none" dirty="0">
                          <a:solidFill>
                            <a:srgbClr val="D4D4D4"/>
                          </a:solidFill>
                          <a:latin typeface="Consolas"/>
                          <a:ea typeface="Consolas"/>
                          <a:cs typeface="Consolas"/>
                          <a:sym typeface="Consolas"/>
                        </a:rPr>
                        <a:t>=</a:t>
                      </a:r>
                      <a:r>
                        <a:rPr lang="en-US" sz="900" u="none" strike="noStrike" cap="none" dirty="0">
                          <a:solidFill>
                            <a:srgbClr val="CE9178"/>
                          </a:solidFill>
                          <a:latin typeface="Consolas"/>
                          <a:ea typeface="Consolas"/>
                          <a:cs typeface="Consolas"/>
                          <a:sym typeface="Consolas"/>
                        </a:rPr>
                        <a:t>"sample"</a:t>
                      </a:r>
                      <a:r>
                        <a:rPr lang="en-US" sz="900" u="none" strike="noStrike" cap="none" dirty="0">
                          <a:solidFill>
                            <a:srgbClr val="808080"/>
                          </a:solidFill>
                          <a:latin typeface="Consolas"/>
                          <a:ea typeface="Consolas"/>
                          <a:cs typeface="Consolas"/>
                          <a:sym typeface="Consolas"/>
                        </a:rPr>
                        <a:t>&gt;&lt;/</a:t>
                      </a:r>
                      <a:r>
                        <a:rPr lang="en-US" sz="900" u="none" strike="noStrike" cap="none" dirty="0" err="1">
                          <a:solidFill>
                            <a:srgbClr val="569CD6"/>
                          </a:solidFill>
                          <a:latin typeface="Consolas"/>
                          <a:ea typeface="Consolas"/>
                          <a:cs typeface="Consolas"/>
                          <a:sym typeface="Consolas"/>
                        </a:rPr>
                        <a:t>img</a:t>
                      </a:r>
                      <a:r>
                        <a:rPr lang="en-US" sz="900" u="none" strike="noStrike" cap="none" dirty="0">
                          <a:solidFill>
                            <a:srgbClr val="808080"/>
                          </a:solidFill>
                          <a:latin typeface="Consolas"/>
                          <a:ea typeface="Consolas"/>
                          <a:cs typeface="Consolas"/>
                          <a:sym typeface="Consolas"/>
                        </a:rPr>
                        <a:t>&gt;</a:t>
                      </a:r>
                      <a:endParaRPr sz="9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900" u="none" strike="noStrike" cap="none" dirty="0">
                          <a:solidFill>
                            <a:srgbClr val="808080"/>
                          </a:solidFill>
                          <a:latin typeface="Consolas"/>
                          <a:ea typeface="Consolas"/>
                          <a:cs typeface="Consolas"/>
                          <a:sym typeface="Consolas"/>
                        </a:rPr>
                        <a:t>&lt;/</a:t>
                      </a:r>
                      <a:r>
                        <a:rPr lang="en-US" sz="900" u="none" strike="noStrike" cap="none" dirty="0">
                          <a:solidFill>
                            <a:srgbClr val="569CD6"/>
                          </a:solidFill>
                          <a:latin typeface="Consolas"/>
                          <a:ea typeface="Consolas"/>
                          <a:cs typeface="Consolas"/>
                          <a:sym typeface="Consolas"/>
                        </a:rPr>
                        <a:t>body</a:t>
                      </a:r>
                      <a:r>
                        <a:rPr lang="en-US" sz="900" u="none" strike="noStrike" cap="none" dirty="0">
                          <a:solidFill>
                            <a:srgbClr val="808080"/>
                          </a:solidFill>
                          <a:latin typeface="Consolas"/>
                          <a:ea typeface="Consolas"/>
                          <a:cs typeface="Consolas"/>
                          <a:sym typeface="Consolas"/>
                        </a:rPr>
                        <a:t>&gt;</a:t>
                      </a:r>
                      <a:endParaRPr sz="9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900" u="none" strike="noStrike" cap="none" dirty="0">
                          <a:solidFill>
                            <a:srgbClr val="808080"/>
                          </a:solidFill>
                          <a:latin typeface="Consolas"/>
                          <a:ea typeface="Consolas"/>
                          <a:cs typeface="Consolas"/>
                          <a:sym typeface="Consolas"/>
                        </a:rPr>
                        <a:t>&lt;/</a:t>
                      </a:r>
                      <a:r>
                        <a:rPr lang="en-US" sz="900" u="none" strike="noStrike" cap="none" dirty="0">
                          <a:solidFill>
                            <a:srgbClr val="569CD6"/>
                          </a:solidFill>
                          <a:latin typeface="Consolas"/>
                          <a:ea typeface="Consolas"/>
                          <a:cs typeface="Consolas"/>
                          <a:sym typeface="Consolas"/>
                        </a:rPr>
                        <a:t>html</a:t>
                      </a:r>
                      <a:r>
                        <a:rPr lang="en-US" sz="900" u="none" strike="noStrike" cap="none" dirty="0">
                          <a:solidFill>
                            <a:srgbClr val="808080"/>
                          </a:solidFill>
                          <a:latin typeface="Consolas"/>
                          <a:ea typeface="Consolas"/>
                          <a:cs typeface="Consolas"/>
                          <a:sym typeface="Consolas"/>
                        </a:rPr>
                        <a:t>&gt;</a:t>
                      </a:r>
                      <a:endParaRPr sz="900" u="none" strike="noStrike" cap="none" dirty="0">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tc hMerge="1">
                  <a:txBody>
                    <a:bodyPr/>
                    <a:lstStyle/>
                    <a:p>
                      <a:endParaRPr lang="en-US"/>
                    </a:p>
                  </a:txBody>
                  <a:tcPr/>
                </a:tc>
                <a:extLst>
                  <a:ext uri="{0D108BD9-81ED-4DB2-BD59-A6C34878D82A}">
                    <a16:rowId xmlns:a16="http://schemas.microsoft.com/office/drawing/2014/main" val="10001"/>
                  </a:ext>
                </a:extLst>
              </a:tr>
              <a:tr h="350150">
                <a:tc gridSpan="2">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050" u="none" strike="noStrike" cap="none" dirty="0">
                          <a:latin typeface="Times New Roman"/>
                          <a:ea typeface="Times New Roman"/>
                          <a:cs typeface="Times New Roman"/>
                          <a:sym typeface="Times New Roman"/>
                        </a:rPr>
                        <a:t>Express looks up the files relative to the static directory, so the name of the static directory is not part of the URL.</a:t>
                      </a:r>
                      <a:endParaRPr sz="105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050" b="1" u="none" strike="noStrike" cap="none" dirty="0">
                          <a:latin typeface="Times New Roman"/>
                          <a:ea typeface="Times New Roman"/>
                          <a:cs typeface="Times New Roman"/>
                          <a:sym typeface="Times New Roman"/>
                        </a:rPr>
                        <a:t>Using </a:t>
                      </a:r>
                      <a:r>
                        <a:rPr lang="en-US" sz="1050" b="1" u="none" strike="noStrike" cap="none" dirty="0" err="1">
                          <a:latin typeface="Times New Roman"/>
                          <a:ea typeface="Times New Roman"/>
                          <a:cs typeface="Times New Roman"/>
                          <a:sym typeface="Times New Roman"/>
                        </a:rPr>
                        <a:t>express.json</a:t>
                      </a:r>
                      <a:r>
                        <a:rPr lang="en-US" sz="1050" b="1" u="none" strike="noStrike" cap="none" dirty="0">
                          <a:latin typeface="Times New Roman"/>
                          <a:ea typeface="Times New Roman"/>
                          <a:cs typeface="Times New Roman"/>
                          <a:sym typeface="Times New Roman"/>
                        </a:rPr>
                        <a:t> for Parsing JSON Payloads</a:t>
                      </a:r>
                      <a:endParaRPr sz="1050" b="1"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050" u="none" strike="noStrike" cap="none" dirty="0">
                          <a:latin typeface="Times New Roman"/>
                          <a:ea typeface="Times New Roman"/>
                          <a:cs typeface="Times New Roman"/>
                          <a:sym typeface="Times New Roman"/>
                        </a:rPr>
                        <a:t>We use the </a:t>
                      </a:r>
                      <a:r>
                        <a:rPr lang="en-US" sz="1050" u="none" strike="noStrike" cap="none" dirty="0" err="1">
                          <a:latin typeface="Times New Roman"/>
                          <a:ea typeface="Times New Roman"/>
                          <a:cs typeface="Times New Roman"/>
                          <a:sym typeface="Times New Roman"/>
                        </a:rPr>
                        <a:t>express.json</a:t>
                      </a:r>
                      <a:r>
                        <a:rPr lang="en-US" sz="1050" u="none" strike="noStrike" cap="none" dirty="0">
                          <a:latin typeface="Times New Roman"/>
                          <a:ea typeface="Times New Roman"/>
                          <a:cs typeface="Times New Roman"/>
                          <a:sym typeface="Times New Roman"/>
                        </a:rPr>
                        <a:t> built-in middleware function to JSON content received from the incoming requests.</a:t>
                      </a:r>
                      <a:endParaRPr sz="105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050" u="none" strike="noStrike" cap="none" dirty="0">
                          <a:latin typeface="Times New Roman"/>
                          <a:ea typeface="Times New Roman"/>
                          <a:cs typeface="Times New Roman"/>
                          <a:sym typeface="Times New Roman"/>
                        </a:rPr>
                        <a:t>Let us suppose the route with URL /products in our Express application accepts product data from the request object in JSON format. So we will use Express' built-in middleware </a:t>
                      </a:r>
                      <a:r>
                        <a:rPr lang="en-US" sz="1050" u="none" strike="noStrike" cap="none" dirty="0" err="1">
                          <a:latin typeface="Times New Roman"/>
                          <a:ea typeface="Times New Roman"/>
                          <a:cs typeface="Times New Roman"/>
                          <a:sym typeface="Times New Roman"/>
                        </a:rPr>
                        <a:t>express.json</a:t>
                      </a:r>
                      <a:r>
                        <a:rPr lang="en-US" sz="1050" u="none" strike="noStrike" cap="none" dirty="0">
                          <a:latin typeface="Times New Roman"/>
                          <a:ea typeface="Times New Roman"/>
                          <a:cs typeface="Times New Roman"/>
                          <a:sym typeface="Times New Roman"/>
                        </a:rPr>
                        <a:t> for parsing the incoming JSON payload and attach it to our router object as shown in this code snippet:</a:t>
                      </a:r>
                      <a:endParaRPr sz="105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2"/>
                  </a:ext>
                </a:extLst>
              </a:tr>
              <a:tr h="350150">
                <a:tc gridSpan="2">
                  <a:txBody>
                    <a:bodyPr/>
                    <a:lstStyle/>
                    <a:p>
                      <a:pPr marL="0" marR="0" lvl="0" indent="0" algn="l" rtl="0">
                        <a:lnSpc>
                          <a:spcPct val="100000"/>
                        </a:lnSpc>
                        <a:spcBef>
                          <a:spcPts val="0"/>
                        </a:spcBef>
                        <a:spcAft>
                          <a:spcPts val="0"/>
                        </a:spcAft>
                        <a:buClr>
                          <a:srgbClr val="000000"/>
                        </a:buClr>
                        <a:buSzPts val="1000"/>
                        <a:buFont typeface="Arial"/>
                        <a:buNone/>
                      </a:pPr>
                      <a:r>
                        <a:rPr lang="en-US" sz="800" u="none" strike="noStrike" cap="none" dirty="0">
                          <a:solidFill>
                            <a:srgbClr val="F8F8F2"/>
                          </a:solidFill>
                          <a:latin typeface="Arial"/>
                          <a:ea typeface="Arial"/>
                          <a:cs typeface="Arial"/>
                          <a:sym typeface="Arial"/>
                        </a:rPr>
                        <a:t>.</a:t>
                      </a:r>
                      <a:r>
                        <a:rPr lang="en-US" sz="900" u="none" strike="noStrike" cap="none" dirty="0">
                          <a:solidFill>
                            <a:srgbClr val="569CD6"/>
                          </a:solidFill>
                          <a:latin typeface="Consolas"/>
                          <a:ea typeface="Consolas"/>
                          <a:cs typeface="Consolas"/>
                          <a:sym typeface="Consolas"/>
                        </a:rPr>
                        <a:t>const</a:t>
                      </a:r>
                      <a:r>
                        <a:rPr lang="en-US" sz="900" u="none" strike="noStrike" cap="none" dirty="0">
                          <a:solidFill>
                            <a:srgbClr val="D4D4D4"/>
                          </a:solidFill>
                          <a:latin typeface="Consolas"/>
                          <a:ea typeface="Consolas"/>
                          <a:cs typeface="Consolas"/>
                          <a:sym typeface="Consolas"/>
                        </a:rPr>
                        <a:t> </a:t>
                      </a:r>
                      <a:r>
                        <a:rPr lang="en-US" sz="900" u="none" strike="noStrike" cap="none" dirty="0">
                          <a:solidFill>
                            <a:srgbClr val="DCDCAA"/>
                          </a:solidFill>
                          <a:latin typeface="Consolas"/>
                          <a:ea typeface="Consolas"/>
                          <a:cs typeface="Consolas"/>
                          <a:sym typeface="Consolas"/>
                        </a:rPr>
                        <a:t>express</a:t>
                      </a:r>
                      <a:r>
                        <a:rPr lang="en-US" sz="900" u="none" strike="noStrike" cap="none" dirty="0">
                          <a:solidFill>
                            <a:srgbClr val="D4D4D4"/>
                          </a:solidFill>
                          <a:latin typeface="Consolas"/>
                          <a:ea typeface="Consolas"/>
                          <a:cs typeface="Consolas"/>
                          <a:sym typeface="Consolas"/>
                        </a:rPr>
                        <a:t> = </a:t>
                      </a:r>
                      <a:r>
                        <a:rPr lang="en-US" sz="900" u="none" strike="noStrike" cap="none" dirty="0">
                          <a:solidFill>
                            <a:srgbClr val="DCDCAA"/>
                          </a:solidFill>
                          <a:latin typeface="Consolas"/>
                          <a:ea typeface="Consolas"/>
                          <a:cs typeface="Consolas"/>
                          <a:sym typeface="Consolas"/>
                        </a:rPr>
                        <a:t>require</a:t>
                      </a:r>
                      <a:r>
                        <a:rPr lang="en-US" sz="900" u="none" strike="noStrike" cap="none" dirty="0">
                          <a:solidFill>
                            <a:srgbClr val="D4D4D4"/>
                          </a:solidFill>
                          <a:latin typeface="Consolas"/>
                          <a:ea typeface="Consolas"/>
                          <a:cs typeface="Consolas"/>
                          <a:sym typeface="Consolas"/>
                        </a:rPr>
                        <a:t>(</a:t>
                      </a:r>
                      <a:r>
                        <a:rPr lang="en-US" sz="900" u="none" strike="noStrike" cap="none" dirty="0">
                          <a:solidFill>
                            <a:srgbClr val="CE9178"/>
                          </a:solidFill>
                          <a:latin typeface="Consolas"/>
                          <a:ea typeface="Consolas"/>
                          <a:cs typeface="Consolas"/>
                          <a:sym typeface="Consolas"/>
                        </a:rPr>
                        <a:t>'express'</a:t>
                      </a:r>
                      <a:r>
                        <a:rPr lang="en-US" sz="900" u="none" strike="noStrike" cap="none" dirty="0">
                          <a:solidFill>
                            <a:srgbClr val="D4D4D4"/>
                          </a:solidFill>
                          <a:latin typeface="Consolas"/>
                          <a:ea typeface="Consolas"/>
                          <a:cs typeface="Consolas"/>
                          <a:sym typeface="Consolas"/>
                        </a:rPr>
                        <a:t>);</a:t>
                      </a:r>
                      <a:endParaRPr sz="9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9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900" u="none" strike="noStrike" cap="none" dirty="0">
                          <a:solidFill>
                            <a:srgbClr val="569CD6"/>
                          </a:solidFill>
                          <a:latin typeface="Consolas"/>
                          <a:ea typeface="Consolas"/>
                          <a:cs typeface="Consolas"/>
                          <a:sym typeface="Consolas"/>
                        </a:rPr>
                        <a:t>const</a:t>
                      </a:r>
                      <a:r>
                        <a:rPr lang="en-US" sz="900" u="none" strike="noStrike" cap="none" dirty="0">
                          <a:solidFill>
                            <a:srgbClr val="D4D4D4"/>
                          </a:solidFill>
                          <a:latin typeface="Consolas"/>
                          <a:ea typeface="Consolas"/>
                          <a:cs typeface="Consolas"/>
                          <a:sym typeface="Consolas"/>
                        </a:rPr>
                        <a:t> </a:t>
                      </a:r>
                      <a:r>
                        <a:rPr lang="en-US" sz="900" u="none" strike="noStrike" cap="none" dirty="0">
                          <a:solidFill>
                            <a:srgbClr val="4FC1FF"/>
                          </a:solidFill>
                          <a:latin typeface="Consolas"/>
                          <a:ea typeface="Consolas"/>
                          <a:cs typeface="Consolas"/>
                          <a:sym typeface="Consolas"/>
                        </a:rPr>
                        <a:t>app</a:t>
                      </a:r>
                      <a:r>
                        <a:rPr lang="en-US" sz="900" u="none" strike="noStrike" cap="none" dirty="0">
                          <a:solidFill>
                            <a:srgbClr val="D4D4D4"/>
                          </a:solidFill>
                          <a:latin typeface="Consolas"/>
                          <a:ea typeface="Consolas"/>
                          <a:cs typeface="Consolas"/>
                          <a:sym typeface="Consolas"/>
                        </a:rPr>
                        <a:t> = </a:t>
                      </a:r>
                      <a:r>
                        <a:rPr lang="en-US" sz="900" u="none" strike="noStrike" cap="none" dirty="0">
                          <a:solidFill>
                            <a:srgbClr val="DCDCAA"/>
                          </a:solidFill>
                          <a:latin typeface="Consolas"/>
                          <a:ea typeface="Consolas"/>
                          <a:cs typeface="Consolas"/>
                          <a:sym typeface="Consolas"/>
                        </a:rPr>
                        <a:t>express</a:t>
                      </a:r>
                      <a:r>
                        <a:rPr lang="en-US" sz="900" u="none" strike="noStrike" cap="none" dirty="0">
                          <a:solidFill>
                            <a:srgbClr val="D4D4D4"/>
                          </a:solidFill>
                          <a:latin typeface="Consolas"/>
                          <a:ea typeface="Consolas"/>
                          <a:cs typeface="Consolas"/>
                          <a:sym typeface="Consolas"/>
                        </a:rPr>
                        <a:t>();</a:t>
                      </a:r>
                      <a:endParaRPr sz="9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9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900" u="none" strike="noStrike" cap="none" dirty="0">
                          <a:solidFill>
                            <a:srgbClr val="6A9955"/>
                          </a:solidFill>
                          <a:latin typeface="Consolas"/>
                          <a:ea typeface="Consolas"/>
                          <a:cs typeface="Consolas"/>
                          <a:sym typeface="Consolas"/>
                        </a:rPr>
                        <a:t>// Attach the </a:t>
                      </a:r>
                      <a:r>
                        <a:rPr lang="en-US" sz="900" u="none" strike="noStrike" cap="none" dirty="0" err="1">
                          <a:solidFill>
                            <a:srgbClr val="6A9955"/>
                          </a:solidFill>
                          <a:latin typeface="Consolas"/>
                          <a:ea typeface="Consolas"/>
                          <a:cs typeface="Consolas"/>
                          <a:sym typeface="Consolas"/>
                        </a:rPr>
                        <a:t>express.json</a:t>
                      </a:r>
                      <a:r>
                        <a:rPr lang="en-US" sz="900" u="none" strike="noStrike" cap="none" dirty="0">
                          <a:solidFill>
                            <a:srgbClr val="6A9955"/>
                          </a:solidFill>
                          <a:latin typeface="Consolas"/>
                          <a:ea typeface="Consolas"/>
                          <a:cs typeface="Consolas"/>
                          <a:sym typeface="Consolas"/>
                        </a:rPr>
                        <a:t> middleware to route "/products"</a:t>
                      </a:r>
                      <a:endParaRPr sz="9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900" u="none" strike="noStrike" cap="none" dirty="0" err="1">
                          <a:solidFill>
                            <a:srgbClr val="4FC1FF"/>
                          </a:solidFill>
                          <a:latin typeface="Consolas"/>
                          <a:ea typeface="Consolas"/>
                          <a:cs typeface="Consolas"/>
                          <a:sym typeface="Consolas"/>
                        </a:rPr>
                        <a:t>app</a:t>
                      </a:r>
                      <a:r>
                        <a:rPr lang="en-US" sz="900" u="none" strike="noStrike" cap="none" dirty="0" err="1">
                          <a:solidFill>
                            <a:srgbClr val="D4D4D4"/>
                          </a:solidFill>
                          <a:latin typeface="Consolas"/>
                          <a:ea typeface="Consolas"/>
                          <a:cs typeface="Consolas"/>
                          <a:sym typeface="Consolas"/>
                        </a:rPr>
                        <a:t>.</a:t>
                      </a:r>
                      <a:r>
                        <a:rPr lang="en-US" sz="900" u="none" strike="noStrike" cap="none" dirty="0" err="1">
                          <a:solidFill>
                            <a:srgbClr val="DCDCAA"/>
                          </a:solidFill>
                          <a:latin typeface="Consolas"/>
                          <a:ea typeface="Consolas"/>
                          <a:cs typeface="Consolas"/>
                          <a:sym typeface="Consolas"/>
                        </a:rPr>
                        <a:t>use</a:t>
                      </a:r>
                      <a:r>
                        <a:rPr lang="en-US" sz="900" u="none" strike="noStrike" cap="none" dirty="0">
                          <a:solidFill>
                            <a:srgbClr val="D4D4D4"/>
                          </a:solidFill>
                          <a:latin typeface="Consolas"/>
                          <a:ea typeface="Consolas"/>
                          <a:cs typeface="Consolas"/>
                          <a:sym typeface="Consolas"/>
                        </a:rPr>
                        <a:t>(</a:t>
                      </a:r>
                      <a:r>
                        <a:rPr lang="en-US" sz="900" u="none" strike="noStrike" cap="none" dirty="0">
                          <a:solidFill>
                            <a:srgbClr val="CE9178"/>
                          </a:solidFill>
                          <a:latin typeface="Consolas"/>
                          <a:ea typeface="Consolas"/>
                          <a:cs typeface="Consolas"/>
                          <a:sym typeface="Consolas"/>
                        </a:rPr>
                        <a:t>'/products'</a:t>
                      </a:r>
                      <a:r>
                        <a:rPr lang="en-US" sz="900" u="none" strike="noStrike" cap="none" dirty="0">
                          <a:solidFill>
                            <a:srgbClr val="D4D4D4"/>
                          </a:solidFill>
                          <a:latin typeface="Consolas"/>
                          <a:ea typeface="Consolas"/>
                          <a:cs typeface="Consolas"/>
                          <a:sym typeface="Consolas"/>
                        </a:rPr>
                        <a:t>, </a:t>
                      </a:r>
                      <a:r>
                        <a:rPr lang="en-US" sz="900" u="none" strike="noStrike" cap="none" dirty="0" err="1">
                          <a:solidFill>
                            <a:srgbClr val="DCDCAA"/>
                          </a:solidFill>
                          <a:latin typeface="Consolas"/>
                          <a:ea typeface="Consolas"/>
                          <a:cs typeface="Consolas"/>
                          <a:sym typeface="Consolas"/>
                        </a:rPr>
                        <a:t>express</a:t>
                      </a:r>
                      <a:r>
                        <a:rPr lang="en-US" sz="900" u="none" strike="noStrike" cap="none" dirty="0" err="1">
                          <a:solidFill>
                            <a:srgbClr val="D4D4D4"/>
                          </a:solidFill>
                          <a:latin typeface="Consolas"/>
                          <a:ea typeface="Consolas"/>
                          <a:cs typeface="Consolas"/>
                          <a:sym typeface="Consolas"/>
                        </a:rPr>
                        <a:t>.</a:t>
                      </a:r>
                      <a:r>
                        <a:rPr lang="en-US" sz="900" u="none" strike="noStrike" cap="none" dirty="0" err="1">
                          <a:solidFill>
                            <a:srgbClr val="DCDCAA"/>
                          </a:solidFill>
                          <a:latin typeface="Consolas"/>
                          <a:ea typeface="Consolas"/>
                          <a:cs typeface="Consolas"/>
                          <a:sym typeface="Consolas"/>
                        </a:rPr>
                        <a:t>json</a:t>
                      </a:r>
                      <a:r>
                        <a:rPr lang="en-US" sz="900" u="none" strike="noStrike" cap="none" dirty="0">
                          <a:solidFill>
                            <a:srgbClr val="D4D4D4"/>
                          </a:solidFill>
                          <a:latin typeface="Consolas"/>
                          <a:ea typeface="Consolas"/>
                          <a:cs typeface="Consolas"/>
                          <a:sym typeface="Consolas"/>
                        </a:rPr>
                        <a:t>({ </a:t>
                      </a:r>
                      <a:r>
                        <a:rPr lang="en-US" sz="900" u="none" strike="noStrike" cap="none" dirty="0">
                          <a:solidFill>
                            <a:srgbClr val="9CDCFE"/>
                          </a:solidFill>
                          <a:latin typeface="Consolas"/>
                          <a:ea typeface="Consolas"/>
                          <a:cs typeface="Consolas"/>
                          <a:sym typeface="Consolas"/>
                        </a:rPr>
                        <a:t>limit:</a:t>
                      </a:r>
                      <a:r>
                        <a:rPr lang="en-US" sz="900" u="none" strike="noStrike" cap="none" dirty="0">
                          <a:solidFill>
                            <a:srgbClr val="D4D4D4"/>
                          </a:solidFill>
                          <a:latin typeface="Consolas"/>
                          <a:ea typeface="Consolas"/>
                          <a:cs typeface="Consolas"/>
                          <a:sym typeface="Consolas"/>
                        </a:rPr>
                        <a:t> </a:t>
                      </a:r>
                      <a:r>
                        <a:rPr lang="en-US" sz="900" u="none" strike="noStrike" cap="none" dirty="0">
                          <a:solidFill>
                            <a:srgbClr val="B5CEA8"/>
                          </a:solidFill>
                          <a:latin typeface="Consolas"/>
                          <a:ea typeface="Consolas"/>
                          <a:cs typeface="Consolas"/>
                          <a:sym typeface="Consolas"/>
                        </a:rPr>
                        <a:t>100</a:t>
                      </a:r>
                      <a:r>
                        <a:rPr lang="en-US" sz="900" u="none" strike="noStrike" cap="none" dirty="0">
                          <a:solidFill>
                            <a:srgbClr val="D4D4D4"/>
                          </a:solidFill>
                          <a:latin typeface="Consolas"/>
                          <a:ea typeface="Consolas"/>
                          <a:cs typeface="Consolas"/>
                          <a:sym typeface="Consolas"/>
                        </a:rPr>
                        <a:t> }))</a:t>
                      </a:r>
                      <a:endParaRPr sz="9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9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900" u="none" strike="noStrike" cap="none" dirty="0">
                          <a:solidFill>
                            <a:srgbClr val="6A9955"/>
                          </a:solidFill>
                          <a:latin typeface="Consolas"/>
                          <a:ea typeface="Consolas"/>
                          <a:cs typeface="Consolas"/>
                          <a:sym typeface="Consolas"/>
                        </a:rPr>
                        <a:t>// handle post request for path /products</a:t>
                      </a:r>
                      <a:endParaRPr sz="9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900" u="none" strike="noStrike" cap="none" dirty="0" err="1">
                          <a:solidFill>
                            <a:srgbClr val="4FC1FF"/>
                          </a:solidFill>
                          <a:latin typeface="Consolas"/>
                          <a:ea typeface="Consolas"/>
                          <a:cs typeface="Consolas"/>
                          <a:sym typeface="Consolas"/>
                        </a:rPr>
                        <a:t>app</a:t>
                      </a:r>
                      <a:r>
                        <a:rPr lang="en-US" sz="900" u="none" strike="noStrike" cap="none" dirty="0" err="1">
                          <a:solidFill>
                            <a:srgbClr val="D4D4D4"/>
                          </a:solidFill>
                          <a:latin typeface="Consolas"/>
                          <a:ea typeface="Consolas"/>
                          <a:cs typeface="Consolas"/>
                          <a:sym typeface="Consolas"/>
                        </a:rPr>
                        <a:t>.</a:t>
                      </a:r>
                      <a:r>
                        <a:rPr lang="en-US" sz="900" u="none" strike="noStrike" cap="none" dirty="0" err="1">
                          <a:solidFill>
                            <a:srgbClr val="DCDCAA"/>
                          </a:solidFill>
                          <a:latin typeface="Consolas"/>
                          <a:ea typeface="Consolas"/>
                          <a:cs typeface="Consolas"/>
                          <a:sym typeface="Consolas"/>
                        </a:rPr>
                        <a:t>post</a:t>
                      </a:r>
                      <a:r>
                        <a:rPr lang="en-US" sz="900" u="none" strike="noStrike" cap="none" dirty="0">
                          <a:solidFill>
                            <a:srgbClr val="D4D4D4"/>
                          </a:solidFill>
                          <a:latin typeface="Consolas"/>
                          <a:ea typeface="Consolas"/>
                          <a:cs typeface="Consolas"/>
                          <a:sym typeface="Consolas"/>
                        </a:rPr>
                        <a:t>(</a:t>
                      </a:r>
                      <a:r>
                        <a:rPr lang="en-US" sz="900" u="none" strike="noStrike" cap="none" dirty="0">
                          <a:solidFill>
                            <a:srgbClr val="CE9178"/>
                          </a:solidFill>
                          <a:latin typeface="Consolas"/>
                          <a:ea typeface="Consolas"/>
                          <a:cs typeface="Consolas"/>
                          <a:sym typeface="Consolas"/>
                        </a:rPr>
                        <a:t>'/products'</a:t>
                      </a:r>
                      <a:r>
                        <a:rPr lang="en-US" sz="900" u="none" strike="noStrike" cap="none" dirty="0">
                          <a:solidFill>
                            <a:srgbClr val="D4D4D4"/>
                          </a:solidFill>
                          <a:latin typeface="Consolas"/>
                          <a:ea typeface="Consolas"/>
                          <a:cs typeface="Consolas"/>
                          <a:sym typeface="Consolas"/>
                        </a:rPr>
                        <a:t>, (</a:t>
                      </a:r>
                      <a:r>
                        <a:rPr lang="en-US" sz="900" u="none" strike="noStrike" cap="none" dirty="0">
                          <a:solidFill>
                            <a:srgbClr val="9CDCFE"/>
                          </a:solidFill>
                          <a:latin typeface="Consolas"/>
                          <a:ea typeface="Consolas"/>
                          <a:cs typeface="Consolas"/>
                          <a:sym typeface="Consolas"/>
                        </a:rPr>
                        <a:t>request</a:t>
                      </a:r>
                      <a:r>
                        <a:rPr lang="en-US" sz="900" u="none" strike="noStrike" cap="none" dirty="0">
                          <a:solidFill>
                            <a:srgbClr val="D4D4D4"/>
                          </a:solidFill>
                          <a:latin typeface="Consolas"/>
                          <a:ea typeface="Consolas"/>
                          <a:cs typeface="Consolas"/>
                          <a:sym typeface="Consolas"/>
                        </a:rPr>
                        <a:t>, </a:t>
                      </a:r>
                      <a:r>
                        <a:rPr lang="en-US" sz="900" u="none" strike="noStrike" cap="none" dirty="0">
                          <a:solidFill>
                            <a:srgbClr val="9CDCFE"/>
                          </a:solidFill>
                          <a:latin typeface="Consolas"/>
                          <a:ea typeface="Consolas"/>
                          <a:cs typeface="Consolas"/>
                          <a:sym typeface="Consolas"/>
                        </a:rPr>
                        <a:t>response</a:t>
                      </a:r>
                      <a:r>
                        <a:rPr lang="en-US" sz="900" u="none" strike="noStrike" cap="none" dirty="0">
                          <a:solidFill>
                            <a:srgbClr val="D4D4D4"/>
                          </a:solidFill>
                          <a:latin typeface="Consolas"/>
                          <a:ea typeface="Consolas"/>
                          <a:cs typeface="Consolas"/>
                          <a:sym typeface="Consolas"/>
                        </a:rPr>
                        <a:t>) </a:t>
                      </a:r>
                      <a:r>
                        <a:rPr lang="en-US" sz="900" u="none" strike="noStrike" cap="none" dirty="0">
                          <a:solidFill>
                            <a:srgbClr val="569CD6"/>
                          </a:solidFill>
                          <a:latin typeface="Consolas"/>
                          <a:ea typeface="Consolas"/>
                          <a:cs typeface="Consolas"/>
                          <a:sym typeface="Consolas"/>
                        </a:rPr>
                        <a:t>=&gt;</a:t>
                      </a:r>
                      <a:r>
                        <a:rPr lang="en-US" sz="900" u="none" strike="noStrike" cap="none" dirty="0">
                          <a:solidFill>
                            <a:srgbClr val="D4D4D4"/>
                          </a:solidFill>
                          <a:latin typeface="Consolas"/>
                          <a:ea typeface="Consolas"/>
                          <a:cs typeface="Consolas"/>
                          <a:sym typeface="Consolas"/>
                        </a:rPr>
                        <a:t> {</a:t>
                      </a:r>
                      <a:endParaRPr sz="9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900" u="none" strike="noStrike" cap="none" dirty="0">
                          <a:solidFill>
                            <a:srgbClr val="D4D4D4"/>
                          </a:solidFill>
                          <a:latin typeface="Consolas"/>
                          <a:ea typeface="Consolas"/>
                          <a:cs typeface="Consolas"/>
                          <a:sym typeface="Consolas"/>
                        </a:rPr>
                        <a:t>...</a:t>
                      </a:r>
                      <a:endParaRPr sz="9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900" u="none" strike="noStrike" cap="none" dirty="0">
                          <a:solidFill>
                            <a:srgbClr val="D4D4D4"/>
                          </a:solidFill>
                          <a:latin typeface="Consolas"/>
                          <a:ea typeface="Consolas"/>
                          <a:cs typeface="Consolas"/>
                          <a:sym typeface="Consolas"/>
                        </a:rPr>
                        <a:t>...</a:t>
                      </a:r>
                      <a:endParaRPr sz="9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900" u="none" strike="noStrike" cap="none" dirty="0">
                          <a:solidFill>
                            <a:srgbClr val="D4D4D4"/>
                          </a:solidFill>
                          <a:latin typeface="Consolas"/>
                          <a:ea typeface="Consolas"/>
                          <a:cs typeface="Consolas"/>
                          <a:sym typeface="Consolas"/>
                        </a:rPr>
                        <a:t>  </a:t>
                      </a:r>
                      <a:r>
                        <a:rPr lang="en-US" sz="900" u="none" strike="noStrike" cap="none" dirty="0" err="1">
                          <a:solidFill>
                            <a:srgbClr val="9CDCFE"/>
                          </a:solidFill>
                          <a:latin typeface="Consolas"/>
                          <a:ea typeface="Consolas"/>
                          <a:cs typeface="Consolas"/>
                          <a:sym typeface="Consolas"/>
                        </a:rPr>
                        <a:t>response</a:t>
                      </a:r>
                      <a:r>
                        <a:rPr lang="en-US" sz="900" u="none" strike="noStrike" cap="none" dirty="0" err="1">
                          <a:solidFill>
                            <a:srgbClr val="D4D4D4"/>
                          </a:solidFill>
                          <a:latin typeface="Consolas"/>
                          <a:ea typeface="Consolas"/>
                          <a:cs typeface="Consolas"/>
                          <a:sym typeface="Consolas"/>
                        </a:rPr>
                        <a:t>.</a:t>
                      </a:r>
                      <a:r>
                        <a:rPr lang="en-US" sz="900" u="none" strike="noStrike" cap="none" dirty="0" err="1">
                          <a:solidFill>
                            <a:srgbClr val="DCDCAA"/>
                          </a:solidFill>
                          <a:latin typeface="Consolas"/>
                          <a:ea typeface="Consolas"/>
                          <a:cs typeface="Consolas"/>
                          <a:sym typeface="Consolas"/>
                        </a:rPr>
                        <a:t>json</a:t>
                      </a:r>
                      <a:r>
                        <a:rPr lang="en-US" sz="900" u="none" strike="noStrike" cap="none" dirty="0">
                          <a:solidFill>
                            <a:srgbClr val="D4D4D4"/>
                          </a:solidFill>
                          <a:latin typeface="Consolas"/>
                          <a:ea typeface="Consolas"/>
                          <a:cs typeface="Consolas"/>
                          <a:sym typeface="Consolas"/>
                        </a:rPr>
                        <a:t>(...)</a:t>
                      </a:r>
                      <a:endParaRPr sz="9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900" u="none" strike="noStrike" cap="none" dirty="0">
                          <a:solidFill>
                            <a:srgbClr val="D4D4D4"/>
                          </a:solidFill>
                          <a:latin typeface="Consolas"/>
                          <a:ea typeface="Consolas"/>
                          <a:cs typeface="Consolas"/>
                          <a:sym typeface="Consolas"/>
                        </a:rPr>
                        <a:t>})</a:t>
                      </a:r>
                      <a:endParaRPr sz="800" u="none" strike="noStrike" cap="none" dirty="0">
                        <a:solidFill>
                          <a:srgbClr val="F8F8F2"/>
                        </a:solidFill>
                        <a:latin typeface="Arial"/>
                        <a:ea typeface="Arial"/>
                        <a:cs typeface="Arial"/>
                        <a:sym typeface="Aria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tc hMerge="1">
                  <a:txBody>
                    <a:bodyPr/>
                    <a:lstStyle/>
                    <a:p>
                      <a:endParaRPr lang="en-US"/>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53"/>
          <p:cNvSpPr txBox="1">
            <a:spLocks noGrp="1"/>
          </p:cNvSpPr>
          <p:nvPr>
            <p:ph type="title"/>
          </p:nvPr>
        </p:nvSpPr>
        <p:spPr>
          <a:xfrm>
            <a:off x="1066788" y="46915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411" name="Google Shape;411;p53"/>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412" name="Google Shape;412;p53"/>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27</a:t>
            </a:fld>
            <a:endParaRPr/>
          </a:p>
        </p:txBody>
      </p:sp>
      <p:graphicFrame>
        <p:nvGraphicFramePr>
          <p:cNvPr id="413" name="Google Shape;413;p53"/>
          <p:cNvGraphicFramePr/>
          <p:nvPr>
            <p:extLst>
              <p:ext uri="{D42A27DB-BD31-4B8C-83A1-F6EECF244321}">
                <p14:modId xmlns:p14="http://schemas.microsoft.com/office/powerpoint/2010/main" val="2339454801"/>
              </p:ext>
            </p:extLst>
          </p:nvPr>
        </p:nvGraphicFramePr>
        <p:xfrm>
          <a:off x="1094780" y="2035902"/>
          <a:ext cx="10788826" cy="4541460"/>
        </p:xfrm>
        <a:graphic>
          <a:graphicData uri="http://schemas.openxmlformats.org/drawingml/2006/table">
            <a:tbl>
              <a:tblPr>
                <a:noFill/>
                <a:tableStyleId>{99CD84AF-14CF-470D-B69C-EB98024C896D}</a:tableStyleId>
              </a:tblPr>
              <a:tblGrid>
                <a:gridCol w="3622512">
                  <a:extLst>
                    <a:ext uri="{9D8B030D-6E8A-4147-A177-3AD203B41FA5}">
                      <a16:colId xmlns:a16="http://schemas.microsoft.com/office/drawing/2014/main" val="20000"/>
                    </a:ext>
                  </a:extLst>
                </a:gridCol>
                <a:gridCol w="3583157">
                  <a:extLst>
                    <a:ext uri="{9D8B030D-6E8A-4147-A177-3AD203B41FA5}">
                      <a16:colId xmlns:a16="http://schemas.microsoft.com/office/drawing/2014/main" val="20001"/>
                    </a:ext>
                  </a:extLst>
                </a:gridCol>
                <a:gridCol w="3583157">
                  <a:extLst>
                    <a:ext uri="{9D8B030D-6E8A-4147-A177-3AD203B41FA5}">
                      <a16:colId xmlns:a16="http://schemas.microsoft.com/office/drawing/2014/main" val="20002"/>
                    </a:ext>
                  </a:extLst>
                </a:gridCol>
              </a:tblGrid>
              <a:tr h="350150">
                <a:tc gridSpan="3">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100" u="none" strike="noStrike" cap="none">
                          <a:latin typeface="Times New Roman"/>
                          <a:ea typeface="Times New Roman"/>
                          <a:cs typeface="Times New Roman"/>
                          <a:sym typeface="Times New Roman"/>
                        </a:rPr>
                        <a:t>Here we are attaching the express.json middleware by calling the use() function on the app object. We have also configured a maximum size of 100 bytes for the JSON request.</a:t>
                      </a:r>
                      <a:endParaRPr sz="11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100" u="none" strike="noStrike" cap="none">
                          <a:latin typeface="Times New Roman"/>
                          <a:ea typeface="Times New Roman"/>
                          <a:cs typeface="Times New Roman"/>
                          <a:sym typeface="Times New Roman"/>
                        </a:rPr>
                        <a:t>We have used a slightly different signature of the use() function than the signature of the function used before. The use() function invoked on the app object here takes the URL of the route: /products to which the middleware function will get attached, as the first parameter. Due to this, this middleware function will be called only for this route.</a:t>
                      </a:r>
                      <a:endParaRPr sz="11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100" u="none" strike="noStrike" cap="none">
                          <a:latin typeface="Times New Roman"/>
                          <a:ea typeface="Times New Roman"/>
                          <a:cs typeface="Times New Roman"/>
                          <a:sym typeface="Times New Roman"/>
                        </a:rPr>
                        <a:t>Now we can extract the fields from the JSON payload sent in the request body as shown in this route definition:</a:t>
                      </a:r>
                      <a:endParaRPr sz="11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50150">
                <a:tc gridSpan="2">
                  <a:txBody>
                    <a:bodyPr/>
                    <a:lstStyle/>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569CD6"/>
                          </a:solidFill>
                          <a:latin typeface="Consolas"/>
                          <a:ea typeface="Consolas"/>
                          <a:cs typeface="Consolas"/>
                          <a:sym typeface="Consolas"/>
                        </a:rPr>
                        <a:t>const</a:t>
                      </a: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DCDCAA"/>
                          </a:solidFill>
                          <a:latin typeface="Consolas"/>
                          <a:ea typeface="Consolas"/>
                          <a:cs typeface="Consolas"/>
                          <a:sym typeface="Consolas"/>
                        </a:rPr>
                        <a:t>express</a:t>
                      </a:r>
                      <a:r>
                        <a:rPr lang="en-US" sz="1000" u="none" strike="noStrike" cap="none" dirty="0">
                          <a:solidFill>
                            <a:srgbClr val="D4D4D4"/>
                          </a:solidFill>
                          <a:latin typeface="Consolas"/>
                          <a:ea typeface="Consolas"/>
                          <a:cs typeface="Consolas"/>
                          <a:sym typeface="Consolas"/>
                        </a:rPr>
                        <a:t> = </a:t>
                      </a:r>
                      <a:r>
                        <a:rPr lang="en-US" sz="1000" u="none" strike="noStrike" cap="none" dirty="0">
                          <a:solidFill>
                            <a:srgbClr val="DCDCAA"/>
                          </a:solidFill>
                          <a:latin typeface="Consolas"/>
                          <a:ea typeface="Consolas"/>
                          <a:cs typeface="Consolas"/>
                          <a:sym typeface="Consolas"/>
                        </a:rPr>
                        <a:t>require</a:t>
                      </a:r>
                      <a:r>
                        <a:rPr lang="en-US" sz="1000" u="none" strike="noStrike" cap="none" dirty="0">
                          <a:solidFill>
                            <a:srgbClr val="D4D4D4"/>
                          </a:solidFill>
                          <a:latin typeface="Consolas"/>
                          <a:ea typeface="Consolas"/>
                          <a:cs typeface="Consolas"/>
                          <a:sym typeface="Consolas"/>
                        </a:rPr>
                        <a:t>(</a:t>
                      </a:r>
                      <a:r>
                        <a:rPr lang="en-US" sz="1000" u="none" strike="noStrike" cap="none" dirty="0">
                          <a:solidFill>
                            <a:srgbClr val="CE9178"/>
                          </a:solidFill>
                          <a:latin typeface="Consolas"/>
                          <a:ea typeface="Consolas"/>
                          <a:cs typeface="Consolas"/>
                          <a:sym typeface="Consolas"/>
                        </a:rPr>
                        <a:t>'express'</a:t>
                      </a:r>
                      <a:r>
                        <a:rPr lang="en-US" sz="1000" u="none" strike="noStrike" cap="none" dirty="0">
                          <a:solidFill>
                            <a:srgbClr val="D4D4D4"/>
                          </a:solidFill>
                          <a:latin typeface="Consolas"/>
                          <a:ea typeface="Consolas"/>
                          <a:cs typeface="Consolas"/>
                          <a:sym typeface="Consolas"/>
                        </a:rPr>
                        <a:t>)</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569CD6"/>
                          </a:solidFill>
                          <a:latin typeface="Consolas"/>
                          <a:ea typeface="Consolas"/>
                          <a:cs typeface="Consolas"/>
                          <a:sym typeface="Consolas"/>
                        </a:rPr>
                        <a:t>const</a:t>
                      </a: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4FC1FF"/>
                          </a:solidFill>
                          <a:latin typeface="Consolas"/>
                          <a:ea typeface="Consolas"/>
                          <a:cs typeface="Consolas"/>
                          <a:sym typeface="Consolas"/>
                        </a:rPr>
                        <a:t>app</a:t>
                      </a:r>
                      <a:r>
                        <a:rPr lang="en-US" sz="1000" u="none" strike="noStrike" cap="none" dirty="0">
                          <a:solidFill>
                            <a:srgbClr val="D4D4D4"/>
                          </a:solidFill>
                          <a:latin typeface="Consolas"/>
                          <a:ea typeface="Consolas"/>
                          <a:cs typeface="Consolas"/>
                          <a:sym typeface="Consolas"/>
                        </a:rPr>
                        <a:t> = </a:t>
                      </a:r>
                      <a:r>
                        <a:rPr lang="en-US" sz="1000" u="none" strike="noStrike" cap="none" dirty="0">
                          <a:solidFill>
                            <a:srgbClr val="DCDCAA"/>
                          </a:solidFill>
                          <a:latin typeface="Consolas"/>
                          <a:ea typeface="Consolas"/>
                          <a:cs typeface="Consolas"/>
                          <a:sym typeface="Consolas"/>
                        </a:rPr>
                        <a:t>express</a:t>
                      </a:r>
                      <a:r>
                        <a:rPr lang="en-US" sz="1000" u="none" strike="noStrike" cap="none" dirty="0">
                          <a:solidFill>
                            <a:srgbClr val="D4D4D4"/>
                          </a:solidFill>
                          <a:latin typeface="Consolas"/>
                          <a:ea typeface="Consolas"/>
                          <a:cs typeface="Consolas"/>
                          <a:sym typeface="Consolas"/>
                        </a:rPr>
                        <a:t>()</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6A9955"/>
                          </a:solidFill>
                          <a:latin typeface="Consolas"/>
                          <a:ea typeface="Consolas"/>
                          <a:cs typeface="Consolas"/>
                          <a:sym typeface="Consolas"/>
                        </a:rPr>
                        <a:t>// Attach the </a:t>
                      </a:r>
                      <a:r>
                        <a:rPr lang="en-US" sz="1000" u="none" strike="noStrike" cap="none" dirty="0" err="1">
                          <a:solidFill>
                            <a:srgbClr val="6A9955"/>
                          </a:solidFill>
                          <a:latin typeface="Consolas"/>
                          <a:ea typeface="Consolas"/>
                          <a:cs typeface="Consolas"/>
                          <a:sym typeface="Consolas"/>
                        </a:rPr>
                        <a:t>express.json</a:t>
                      </a:r>
                      <a:r>
                        <a:rPr lang="en-US" sz="1000" u="none" strike="noStrike" cap="none" dirty="0">
                          <a:solidFill>
                            <a:srgbClr val="6A9955"/>
                          </a:solidFill>
                          <a:latin typeface="Consolas"/>
                          <a:ea typeface="Consolas"/>
                          <a:cs typeface="Consolas"/>
                          <a:sym typeface="Consolas"/>
                        </a:rPr>
                        <a:t> middleware to route "/products"</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err="1">
                          <a:solidFill>
                            <a:srgbClr val="4FC1FF"/>
                          </a:solidFill>
                          <a:latin typeface="Consolas"/>
                          <a:ea typeface="Consolas"/>
                          <a:cs typeface="Consolas"/>
                          <a:sym typeface="Consolas"/>
                        </a:rPr>
                        <a:t>app</a:t>
                      </a:r>
                      <a:r>
                        <a:rPr lang="en-US" sz="1000" u="none" strike="noStrike" cap="none" dirty="0" err="1">
                          <a:solidFill>
                            <a:srgbClr val="D4D4D4"/>
                          </a:solidFill>
                          <a:latin typeface="Consolas"/>
                          <a:ea typeface="Consolas"/>
                          <a:cs typeface="Consolas"/>
                          <a:sym typeface="Consolas"/>
                        </a:rPr>
                        <a:t>.</a:t>
                      </a:r>
                      <a:r>
                        <a:rPr lang="en-US" sz="1000" u="none" strike="noStrike" cap="none" dirty="0" err="1">
                          <a:solidFill>
                            <a:srgbClr val="DCDCAA"/>
                          </a:solidFill>
                          <a:latin typeface="Consolas"/>
                          <a:ea typeface="Consolas"/>
                          <a:cs typeface="Consolas"/>
                          <a:sym typeface="Consolas"/>
                        </a:rPr>
                        <a:t>use</a:t>
                      </a:r>
                      <a:r>
                        <a:rPr lang="en-US" sz="1000" u="none" strike="noStrike" cap="none" dirty="0">
                          <a:solidFill>
                            <a:srgbClr val="D4D4D4"/>
                          </a:solidFill>
                          <a:latin typeface="Consolas"/>
                          <a:ea typeface="Consolas"/>
                          <a:cs typeface="Consolas"/>
                          <a:sym typeface="Consolas"/>
                        </a:rPr>
                        <a:t>(</a:t>
                      </a:r>
                      <a:r>
                        <a:rPr lang="en-US" sz="1000" u="none" strike="noStrike" cap="none" dirty="0">
                          <a:solidFill>
                            <a:srgbClr val="CE9178"/>
                          </a:solidFill>
                          <a:latin typeface="Consolas"/>
                          <a:ea typeface="Consolas"/>
                          <a:cs typeface="Consolas"/>
                          <a:sym typeface="Consolas"/>
                        </a:rPr>
                        <a:t>'/products'</a:t>
                      </a:r>
                      <a:r>
                        <a:rPr lang="en-US" sz="1000" u="none" strike="noStrike" cap="none" dirty="0">
                          <a:solidFill>
                            <a:srgbClr val="D4D4D4"/>
                          </a:solidFill>
                          <a:latin typeface="Consolas"/>
                          <a:ea typeface="Consolas"/>
                          <a:cs typeface="Consolas"/>
                          <a:sym typeface="Consolas"/>
                        </a:rPr>
                        <a:t>, </a:t>
                      </a:r>
                      <a:r>
                        <a:rPr lang="en-US" sz="1000" u="none" strike="noStrike" cap="none" dirty="0" err="1">
                          <a:solidFill>
                            <a:srgbClr val="DCDCAA"/>
                          </a:solidFill>
                          <a:latin typeface="Consolas"/>
                          <a:ea typeface="Consolas"/>
                          <a:cs typeface="Consolas"/>
                          <a:sym typeface="Consolas"/>
                        </a:rPr>
                        <a:t>express</a:t>
                      </a:r>
                      <a:r>
                        <a:rPr lang="en-US" sz="1000" u="none" strike="noStrike" cap="none" dirty="0" err="1">
                          <a:solidFill>
                            <a:srgbClr val="D4D4D4"/>
                          </a:solidFill>
                          <a:latin typeface="Consolas"/>
                          <a:ea typeface="Consolas"/>
                          <a:cs typeface="Consolas"/>
                          <a:sym typeface="Consolas"/>
                        </a:rPr>
                        <a:t>.</a:t>
                      </a:r>
                      <a:r>
                        <a:rPr lang="en-US" sz="1000" u="none" strike="noStrike" cap="none" dirty="0" err="1">
                          <a:solidFill>
                            <a:srgbClr val="DCDCAA"/>
                          </a:solidFill>
                          <a:latin typeface="Consolas"/>
                          <a:ea typeface="Consolas"/>
                          <a:cs typeface="Consolas"/>
                          <a:sym typeface="Consolas"/>
                        </a:rPr>
                        <a:t>json</a:t>
                      </a: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9CDCFE"/>
                          </a:solidFill>
                          <a:latin typeface="Consolas"/>
                          <a:ea typeface="Consolas"/>
                          <a:cs typeface="Consolas"/>
                          <a:sym typeface="Consolas"/>
                        </a:rPr>
                        <a:t>limit:</a:t>
                      </a: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B5CEA8"/>
                          </a:solidFill>
                          <a:latin typeface="Consolas"/>
                          <a:ea typeface="Consolas"/>
                          <a:cs typeface="Consolas"/>
                          <a:sym typeface="Consolas"/>
                        </a:rPr>
                        <a:t>100</a:t>
                      </a:r>
                      <a:r>
                        <a:rPr lang="en-US" sz="1000" u="none" strike="noStrike" cap="none" dirty="0">
                          <a:solidFill>
                            <a:srgbClr val="D4D4D4"/>
                          </a:solidFill>
                          <a:latin typeface="Consolas"/>
                          <a:ea typeface="Consolas"/>
                          <a:cs typeface="Consolas"/>
                          <a:sym typeface="Consolas"/>
                        </a:rPr>
                        <a:t> }))</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6A9955"/>
                          </a:solidFill>
                          <a:latin typeface="Consolas"/>
                          <a:ea typeface="Consolas"/>
                          <a:cs typeface="Consolas"/>
                          <a:sym typeface="Consolas"/>
                        </a:rPr>
                        <a:t>// handle post request for path /products</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err="1">
                          <a:solidFill>
                            <a:srgbClr val="4FC1FF"/>
                          </a:solidFill>
                          <a:latin typeface="Consolas"/>
                          <a:ea typeface="Consolas"/>
                          <a:cs typeface="Consolas"/>
                          <a:sym typeface="Consolas"/>
                        </a:rPr>
                        <a:t>app</a:t>
                      </a:r>
                      <a:r>
                        <a:rPr lang="en-US" sz="1000" u="none" strike="noStrike" cap="none" dirty="0" err="1">
                          <a:solidFill>
                            <a:srgbClr val="D4D4D4"/>
                          </a:solidFill>
                          <a:latin typeface="Consolas"/>
                          <a:ea typeface="Consolas"/>
                          <a:cs typeface="Consolas"/>
                          <a:sym typeface="Consolas"/>
                        </a:rPr>
                        <a:t>.</a:t>
                      </a:r>
                      <a:r>
                        <a:rPr lang="en-US" sz="1000" u="none" strike="noStrike" cap="none" dirty="0" err="1">
                          <a:solidFill>
                            <a:srgbClr val="DCDCAA"/>
                          </a:solidFill>
                          <a:latin typeface="Consolas"/>
                          <a:ea typeface="Consolas"/>
                          <a:cs typeface="Consolas"/>
                          <a:sym typeface="Consolas"/>
                        </a:rPr>
                        <a:t>post</a:t>
                      </a:r>
                      <a:r>
                        <a:rPr lang="en-US" sz="1000" u="none" strike="noStrike" cap="none" dirty="0">
                          <a:solidFill>
                            <a:srgbClr val="D4D4D4"/>
                          </a:solidFill>
                          <a:latin typeface="Consolas"/>
                          <a:ea typeface="Consolas"/>
                          <a:cs typeface="Consolas"/>
                          <a:sym typeface="Consolas"/>
                        </a:rPr>
                        <a:t>(</a:t>
                      </a:r>
                      <a:r>
                        <a:rPr lang="en-US" sz="1000" u="none" strike="noStrike" cap="none" dirty="0">
                          <a:solidFill>
                            <a:srgbClr val="CE9178"/>
                          </a:solidFill>
                          <a:latin typeface="Consolas"/>
                          <a:ea typeface="Consolas"/>
                          <a:cs typeface="Consolas"/>
                          <a:sym typeface="Consolas"/>
                        </a:rPr>
                        <a:t>'/products'</a:t>
                      </a: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9CDCFE"/>
                          </a:solidFill>
                          <a:latin typeface="Consolas"/>
                          <a:ea typeface="Consolas"/>
                          <a:cs typeface="Consolas"/>
                          <a:sym typeface="Consolas"/>
                        </a:rPr>
                        <a:t>request</a:t>
                      </a: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9CDCFE"/>
                          </a:solidFill>
                          <a:latin typeface="Consolas"/>
                          <a:ea typeface="Consolas"/>
                          <a:cs typeface="Consolas"/>
                          <a:sym typeface="Consolas"/>
                        </a:rPr>
                        <a:t>response</a:t>
                      </a: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569CD6"/>
                          </a:solidFill>
                          <a:latin typeface="Consolas"/>
                          <a:ea typeface="Consolas"/>
                          <a:cs typeface="Consolas"/>
                          <a:sym typeface="Consolas"/>
                        </a:rPr>
                        <a:t>=&gt;</a:t>
                      </a:r>
                      <a:r>
                        <a:rPr lang="en-US" sz="1000" u="none" strike="noStrike" cap="none" dirty="0">
                          <a:solidFill>
                            <a:srgbClr val="D4D4D4"/>
                          </a:solidFill>
                          <a:latin typeface="Consolas"/>
                          <a:ea typeface="Consolas"/>
                          <a:cs typeface="Consolas"/>
                          <a:sym typeface="Consolas"/>
                        </a:rPr>
                        <a:t> {</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569CD6"/>
                          </a:solidFill>
                          <a:latin typeface="Consolas"/>
                          <a:ea typeface="Consolas"/>
                          <a:cs typeface="Consolas"/>
                          <a:sym typeface="Consolas"/>
                        </a:rPr>
                        <a:t>const</a:t>
                      </a: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4FC1FF"/>
                          </a:solidFill>
                          <a:latin typeface="Consolas"/>
                          <a:ea typeface="Consolas"/>
                          <a:cs typeface="Consolas"/>
                          <a:sym typeface="Consolas"/>
                        </a:rPr>
                        <a:t>products</a:t>
                      </a:r>
                      <a:r>
                        <a:rPr lang="en-US" sz="1000" u="none" strike="noStrike" cap="none" dirty="0">
                          <a:solidFill>
                            <a:srgbClr val="D4D4D4"/>
                          </a:solidFill>
                          <a:latin typeface="Consolas"/>
                          <a:ea typeface="Consolas"/>
                          <a:cs typeface="Consolas"/>
                          <a:sym typeface="Consolas"/>
                        </a:rPr>
                        <a:t> = []</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6A9955"/>
                          </a:solidFill>
                          <a:latin typeface="Consolas"/>
                          <a:ea typeface="Consolas"/>
                          <a:cs typeface="Consolas"/>
                          <a:sym typeface="Consolas"/>
                        </a:rPr>
                        <a:t>// sample JSON request</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6A9955"/>
                          </a:solidFill>
                          <a:latin typeface="Consolas"/>
                          <a:ea typeface="Consolas"/>
                          <a:cs typeface="Consolas"/>
                          <a:sym typeface="Consolas"/>
                        </a:rPr>
                        <a:t>// {"</a:t>
                      </a:r>
                      <a:r>
                        <a:rPr lang="en-US" sz="1000" u="none" strike="noStrike" cap="none" dirty="0" err="1">
                          <a:solidFill>
                            <a:srgbClr val="6A9955"/>
                          </a:solidFill>
                          <a:latin typeface="Consolas"/>
                          <a:ea typeface="Consolas"/>
                          <a:cs typeface="Consolas"/>
                          <a:sym typeface="Consolas"/>
                        </a:rPr>
                        <a:t>name":"furniture</a:t>
                      </a:r>
                      <a:r>
                        <a:rPr lang="en-US" sz="1000" u="none" strike="noStrike" cap="none" dirty="0">
                          <a:solidFill>
                            <a:srgbClr val="6A9955"/>
                          </a:solidFill>
                          <a:latin typeface="Consolas"/>
                          <a:ea typeface="Consolas"/>
                          <a:cs typeface="Consolas"/>
                          <a:sym typeface="Consolas"/>
                        </a:rPr>
                        <a:t>", "</a:t>
                      </a:r>
                      <a:r>
                        <a:rPr lang="en-US" sz="1000" u="none" strike="noStrike" cap="none" dirty="0" err="1">
                          <a:solidFill>
                            <a:srgbClr val="6A9955"/>
                          </a:solidFill>
                          <a:latin typeface="Consolas"/>
                          <a:ea typeface="Consolas"/>
                          <a:cs typeface="Consolas"/>
                          <a:sym typeface="Consolas"/>
                        </a:rPr>
                        <a:t>brand":"century</a:t>
                      </a:r>
                      <a:r>
                        <a:rPr lang="en-US" sz="1000" u="none" strike="noStrike" cap="none" dirty="0">
                          <a:solidFill>
                            <a:srgbClr val="6A9955"/>
                          </a:solidFill>
                          <a:latin typeface="Consolas"/>
                          <a:ea typeface="Consolas"/>
                          <a:cs typeface="Consolas"/>
                          <a:sym typeface="Consolas"/>
                        </a:rPr>
                        <a:t>", "price":1067.67}</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6A9955"/>
                          </a:solidFill>
                          <a:latin typeface="Consolas"/>
                          <a:ea typeface="Consolas"/>
                          <a:cs typeface="Consolas"/>
                          <a:sym typeface="Consolas"/>
                        </a:rPr>
                        <a:t>// JSON payload is parsed to extract the fields name, brand, and category</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6A9955"/>
                          </a:solidFill>
                          <a:latin typeface="Consolas"/>
                          <a:ea typeface="Consolas"/>
                          <a:cs typeface="Consolas"/>
                          <a:sym typeface="Consolas"/>
                        </a:rPr>
                        <a:t>// Extract name of product</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569CD6"/>
                          </a:solidFill>
                          <a:latin typeface="Consolas"/>
                          <a:ea typeface="Consolas"/>
                          <a:cs typeface="Consolas"/>
                          <a:sym typeface="Consolas"/>
                        </a:rPr>
                        <a:t>const</a:t>
                      </a: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4FC1FF"/>
                          </a:solidFill>
                          <a:latin typeface="Consolas"/>
                          <a:ea typeface="Consolas"/>
                          <a:cs typeface="Consolas"/>
                          <a:sym typeface="Consolas"/>
                        </a:rPr>
                        <a:t>name</a:t>
                      </a:r>
                      <a:r>
                        <a:rPr lang="en-US" sz="1000" u="none" strike="noStrike" cap="none" dirty="0">
                          <a:solidFill>
                            <a:srgbClr val="D4D4D4"/>
                          </a:solidFill>
                          <a:latin typeface="Consolas"/>
                          <a:ea typeface="Consolas"/>
                          <a:cs typeface="Consolas"/>
                          <a:sym typeface="Consolas"/>
                        </a:rPr>
                        <a:t> = </a:t>
                      </a:r>
                      <a:r>
                        <a:rPr lang="en-US" sz="1000" u="none" strike="noStrike" cap="none" dirty="0">
                          <a:solidFill>
                            <a:srgbClr val="9CDCFE"/>
                          </a:solidFill>
                          <a:latin typeface="Consolas"/>
                          <a:ea typeface="Consolas"/>
                          <a:cs typeface="Consolas"/>
                          <a:sym typeface="Consolas"/>
                        </a:rPr>
                        <a:t>request</a:t>
                      </a:r>
                      <a:r>
                        <a:rPr lang="en-US" sz="1000" u="none" strike="noStrike" cap="none" dirty="0">
                          <a:solidFill>
                            <a:srgbClr val="D4D4D4"/>
                          </a:solidFill>
                          <a:latin typeface="Consolas"/>
                          <a:ea typeface="Consolas"/>
                          <a:cs typeface="Consolas"/>
                          <a:sym typeface="Consolas"/>
                        </a:rPr>
                        <a:t>.</a:t>
                      </a:r>
                      <a:r>
                        <a:rPr lang="en-US" sz="1000" u="none" strike="noStrike" cap="none" dirty="0">
                          <a:solidFill>
                            <a:srgbClr val="9CDCFE"/>
                          </a:solidFill>
                          <a:latin typeface="Consolas"/>
                          <a:ea typeface="Consolas"/>
                          <a:cs typeface="Consolas"/>
                          <a:sym typeface="Consolas"/>
                        </a:rPr>
                        <a:t>body</a:t>
                      </a:r>
                      <a:r>
                        <a:rPr lang="en-US" sz="1000" u="none" strike="noStrike" cap="none" dirty="0">
                          <a:solidFill>
                            <a:srgbClr val="D4D4D4"/>
                          </a:solidFill>
                          <a:latin typeface="Consolas"/>
                          <a:ea typeface="Consolas"/>
                          <a:cs typeface="Consolas"/>
                          <a:sym typeface="Consolas"/>
                        </a:rPr>
                        <a:t>.</a:t>
                      </a:r>
                      <a:r>
                        <a:rPr lang="en-US" sz="1000" u="none" strike="noStrike" cap="none" dirty="0">
                          <a:solidFill>
                            <a:srgbClr val="9CDCFE"/>
                          </a:solidFill>
                          <a:latin typeface="Consolas"/>
                          <a:ea typeface="Consolas"/>
                          <a:cs typeface="Consolas"/>
                          <a:sym typeface="Consolas"/>
                        </a:rPr>
                        <a:t>name</a:t>
                      </a:r>
                      <a:r>
                        <a:rPr lang="en-US" sz="1000" u="none" strike="noStrike" cap="none" dirty="0">
                          <a:solidFill>
                            <a:srgbClr val="D4D4D4"/>
                          </a:solidFill>
                          <a:latin typeface="Consolas"/>
                          <a:ea typeface="Consolas"/>
                          <a:cs typeface="Consolas"/>
                          <a:sym typeface="Consolas"/>
                        </a:rPr>
                        <a:t>                </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6A9955"/>
                          </a:solidFill>
                          <a:latin typeface="Consolas"/>
                          <a:ea typeface="Consolas"/>
                          <a:cs typeface="Consolas"/>
                          <a:sym typeface="Consolas"/>
                        </a:rPr>
                        <a:t>// Extract brand of product</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569CD6"/>
                          </a:solidFill>
                          <a:latin typeface="Consolas"/>
                          <a:ea typeface="Consolas"/>
                          <a:cs typeface="Consolas"/>
                          <a:sym typeface="Consolas"/>
                        </a:rPr>
                        <a:t>const</a:t>
                      </a: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4FC1FF"/>
                          </a:solidFill>
                          <a:latin typeface="Consolas"/>
                          <a:ea typeface="Consolas"/>
                          <a:cs typeface="Consolas"/>
                          <a:sym typeface="Consolas"/>
                        </a:rPr>
                        <a:t>brand</a:t>
                      </a:r>
                      <a:r>
                        <a:rPr lang="en-US" sz="1000" u="none" strike="noStrike" cap="none" dirty="0">
                          <a:solidFill>
                            <a:srgbClr val="D4D4D4"/>
                          </a:solidFill>
                          <a:latin typeface="Consolas"/>
                          <a:ea typeface="Consolas"/>
                          <a:cs typeface="Consolas"/>
                          <a:sym typeface="Consolas"/>
                        </a:rPr>
                        <a:t> = </a:t>
                      </a:r>
                      <a:r>
                        <a:rPr lang="en-US" sz="1000" u="none" strike="noStrike" cap="none" dirty="0" err="1">
                          <a:solidFill>
                            <a:srgbClr val="9CDCFE"/>
                          </a:solidFill>
                          <a:latin typeface="Consolas"/>
                          <a:ea typeface="Consolas"/>
                          <a:cs typeface="Consolas"/>
                          <a:sym typeface="Consolas"/>
                        </a:rPr>
                        <a:t>request</a:t>
                      </a:r>
                      <a:r>
                        <a:rPr lang="en-US" sz="1000" u="none" strike="noStrike" cap="none" dirty="0" err="1">
                          <a:solidFill>
                            <a:srgbClr val="D4D4D4"/>
                          </a:solidFill>
                          <a:latin typeface="Consolas"/>
                          <a:ea typeface="Consolas"/>
                          <a:cs typeface="Consolas"/>
                          <a:sym typeface="Consolas"/>
                        </a:rPr>
                        <a:t>.</a:t>
                      </a:r>
                      <a:r>
                        <a:rPr lang="en-US" sz="1000" u="none" strike="noStrike" cap="none" dirty="0" err="1">
                          <a:solidFill>
                            <a:srgbClr val="9CDCFE"/>
                          </a:solidFill>
                          <a:latin typeface="Consolas"/>
                          <a:ea typeface="Consolas"/>
                          <a:cs typeface="Consolas"/>
                          <a:sym typeface="Consolas"/>
                        </a:rPr>
                        <a:t>body</a:t>
                      </a:r>
                      <a:r>
                        <a:rPr lang="en-US" sz="1000" u="none" strike="noStrike" cap="none" dirty="0" err="1">
                          <a:solidFill>
                            <a:srgbClr val="D4D4D4"/>
                          </a:solidFill>
                          <a:latin typeface="Consolas"/>
                          <a:ea typeface="Consolas"/>
                          <a:cs typeface="Consolas"/>
                          <a:sym typeface="Consolas"/>
                        </a:rPr>
                        <a:t>.</a:t>
                      </a:r>
                      <a:r>
                        <a:rPr lang="en-US" sz="1000" u="none" strike="noStrike" cap="none" dirty="0" err="1">
                          <a:solidFill>
                            <a:srgbClr val="9CDCFE"/>
                          </a:solidFill>
                          <a:latin typeface="Consolas"/>
                          <a:ea typeface="Consolas"/>
                          <a:cs typeface="Consolas"/>
                          <a:sym typeface="Consolas"/>
                        </a:rPr>
                        <a:t>brand</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D4D4D4"/>
                          </a:solidFill>
                          <a:latin typeface="Consolas"/>
                          <a:ea typeface="Consolas"/>
                          <a:cs typeface="Consolas"/>
                          <a:sym typeface="Consolas"/>
                        </a:rPr>
                        <a:t>  </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D4D4D4"/>
                          </a:solidFill>
                          <a:latin typeface="Consolas"/>
                          <a:ea typeface="Consolas"/>
                          <a:cs typeface="Consolas"/>
                          <a:sym typeface="Consolas"/>
                        </a:rPr>
                        <a:t> </a:t>
                      </a:r>
                      <a:endParaRPr sz="1000" u="none" strike="noStrike" cap="none" dirty="0">
                        <a:solidFill>
                          <a:srgbClr val="808080"/>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6A9955"/>
                          </a:solidFill>
                          <a:latin typeface="Consolas"/>
                          <a:ea typeface="Consolas"/>
                          <a:cs typeface="Consolas"/>
                          <a:sym typeface="Consolas"/>
                        </a:rPr>
                        <a:t>// Extract category of product</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569CD6"/>
                          </a:solidFill>
                          <a:latin typeface="Consolas"/>
                          <a:ea typeface="Consolas"/>
                          <a:cs typeface="Consolas"/>
                          <a:sym typeface="Consolas"/>
                        </a:rPr>
                        <a:t>const</a:t>
                      </a: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4FC1FF"/>
                          </a:solidFill>
                          <a:latin typeface="Consolas"/>
                          <a:ea typeface="Consolas"/>
                          <a:cs typeface="Consolas"/>
                          <a:sym typeface="Consolas"/>
                        </a:rPr>
                        <a:t>category</a:t>
                      </a:r>
                      <a:r>
                        <a:rPr lang="en-US" sz="1000" u="none" strike="noStrike" cap="none" dirty="0">
                          <a:solidFill>
                            <a:srgbClr val="D4D4D4"/>
                          </a:solidFill>
                          <a:latin typeface="Consolas"/>
                          <a:ea typeface="Consolas"/>
                          <a:cs typeface="Consolas"/>
                          <a:sym typeface="Consolas"/>
                        </a:rPr>
                        <a:t> = </a:t>
                      </a:r>
                      <a:r>
                        <a:rPr lang="en-US" sz="1000" u="none" strike="noStrike" cap="none" dirty="0" err="1">
                          <a:solidFill>
                            <a:srgbClr val="9CDCFE"/>
                          </a:solidFill>
                          <a:latin typeface="Consolas"/>
                          <a:ea typeface="Consolas"/>
                          <a:cs typeface="Consolas"/>
                          <a:sym typeface="Consolas"/>
                        </a:rPr>
                        <a:t>request</a:t>
                      </a:r>
                      <a:r>
                        <a:rPr lang="en-US" sz="1000" u="none" strike="noStrike" cap="none" dirty="0" err="1">
                          <a:solidFill>
                            <a:srgbClr val="D4D4D4"/>
                          </a:solidFill>
                          <a:latin typeface="Consolas"/>
                          <a:ea typeface="Consolas"/>
                          <a:cs typeface="Consolas"/>
                          <a:sym typeface="Consolas"/>
                        </a:rPr>
                        <a:t>.</a:t>
                      </a:r>
                      <a:r>
                        <a:rPr lang="en-US" sz="1000" u="none" strike="noStrike" cap="none" dirty="0" err="1">
                          <a:solidFill>
                            <a:srgbClr val="9CDCFE"/>
                          </a:solidFill>
                          <a:latin typeface="Consolas"/>
                          <a:ea typeface="Consolas"/>
                          <a:cs typeface="Consolas"/>
                          <a:sym typeface="Consolas"/>
                        </a:rPr>
                        <a:t>body</a:t>
                      </a:r>
                      <a:r>
                        <a:rPr lang="en-US" sz="1000" u="none" strike="noStrike" cap="none" dirty="0" err="1">
                          <a:solidFill>
                            <a:srgbClr val="D4D4D4"/>
                          </a:solidFill>
                          <a:latin typeface="Consolas"/>
                          <a:ea typeface="Consolas"/>
                          <a:cs typeface="Consolas"/>
                          <a:sym typeface="Consolas"/>
                        </a:rPr>
                        <a:t>.</a:t>
                      </a:r>
                      <a:r>
                        <a:rPr lang="en-US" sz="1000" u="none" strike="noStrike" cap="none" dirty="0" err="1">
                          <a:solidFill>
                            <a:srgbClr val="9CDCFE"/>
                          </a:solidFill>
                          <a:latin typeface="Consolas"/>
                          <a:ea typeface="Consolas"/>
                          <a:cs typeface="Consolas"/>
                          <a:sym typeface="Consolas"/>
                        </a:rPr>
                        <a:t>category</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D4D4D4"/>
                          </a:solidFill>
                          <a:latin typeface="Consolas"/>
                          <a:ea typeface="Consolas"/>
                          <a:cs typeface="Consolas"/>
                          <a:sym typeface="Consolas"/>
                        </a:rPr>
                        <a:t>  </a:t>
                      </a:r>
                      <a:r>
                        <a:rPr lang="en-US" sz="1000" u="none" strike="noStrike" cap="none" dirty="0">
                          <a:solidFill>
                            <a:srgbClr val="9CDCFE"/>
                          </a:solidFill>
                          <a:latin typeface="Consolas"/>
                          <a:ea typeface="Consolas"/>
                          <a:cs typeface="Consolas"/>
                          <a:sym typeface="Consolas"/>
                        </a:rPr>
                        <a:t>console</a:t>
                      </a:r>
                      <a:r>
                        <a:rPr lang="en-US" sz="1000" u="none" strike="noStrike" cap="none" dirty="0">
                          <a:solidFill>
                            <a:srgbClr val="D4D4D4"/>
                          </a:solidFill>
                          <a:latin typeface="Consolas"/>
                          <a:ea typeface="Consolas"/>
                          <a:cs typeface="Consolas"/>
                          <a:sym typeface="Consolas"/>
                        </a:rPr>
                        <a:t>.</a:t>
                      </a:r>
                      <a:r>
                        <a:rPr lang="en-US" sz="1000" u="none" strike="noStrike" cap="none" dirty="0">
                          <a:solidFill>
                            <a:srgbClr val="DCDCAA"/>
                          </a:solidFill>
                          <a:latin typeface="Consolas"/>
                          <a:ea typeface="Consolas"/>
                          <a:cs typeface="Consolas"/>
                          <a:sym typeface="Consolas"/>
                        </a:rPr>
                        <a:t>log</a:t>
                      </a:r>
                      <a:r>
                        <a:rPr lang="en-US" sz="1000" u="none" strike="noStrike" cap="none" dirty="0">
                          <a:solidFill>
                            <a:srgbClr val="D4D4D4"/>
                          </a:solidFill>
                          <a:latin typeface="Consolas"/>
                          <a:ea typeface="Consolas"/>
                          <a:cs typeface="Consolas"/>
                          <a:sym typeface="Consolas"/>
                        </a:rPr>
                        <a:t>(</a:t>
                      </a:r>
                      <a:r>
                        <a:rPr lang="en-US" sz="1000" u="none" strike="noStrike" cap="none" dirty="0">
                          <a:solidFill>
                            <a:srgbClr val="4FC1FF"/>
                          </a:solidFill>
                          <a:latin typeface="Consolas"/>
                          <a:ea typeface="Consolas"/>
                          <a:cs typeface="Consolas"/>
                          <a:sym typeface="Consolas"/>
                        </a:rPr>
                        <a:t>name</a:t>
                      </a:r>
                      <a:r>
                        <a:rPr lang="en-US" sz="1000" u="none" strike="noStrike" cap="none" dirty="0">
                          <a:solidFill>
                            <a:srgbClr val="D4D4D4"/>
                          </a:solidFill>
                          <a:latin typeface="Consolas"/>
                          <a:ea typeface="Consolas"/>
                          <a:cs typeface="Consolas"/>
                          <a:sym typeface="Consolas"/>
                        </a:rPr>
                        <a:t> + </a:t>
                      </a:r>
                      <a:r>
                        <a:rPr lang="en-US" sz="1000" u="none" strike="noStrike" cap="none" dirty="0">
                          <a:solidFill>
                            <a:srgbClr val="CE9178"/>
                          </a:solidFill>
                          <a:latin typeface="Consolas"/>
                          <a:ea typeface="Consolas"/>
                          <a:cs typeface="Consolas"/>
                          <a:sym typeface="Consolas"/>
                        </a:rPr>
                        <a:t>" "</a:t>
                      </a:r>
                      <a:r>
                        <a:rPr lang="en-US" sz="1000" u="none" strike="noStrike" cap="none" dirty="0">
                          <a:solidFill>
                            <a:srgbClr val="D4D4D4"/>
                          </a:solidFill>
                          <a:latin typeface="Consolas"/>
                          <a:ea typeface="Consolas"/>
                          <a:cs typeface="Consolas"/>
                          <a:sym typeface="Consolas"/>
                        </a:rPr>
                        <a:t> + </a:t>
                      </a:r>
                      <a:r>
                        <a:rPr lang="en-US" sz="1000" u="none" strike="noStrike" cap="none" dirty="0">
                          <a:solidFill>
                            <a:srgbClr val="4FC1FF"/>
                          </a:solidFill>
                          <a:latin typeface="Consolas"/>
                          <a:ea typeface="Consolas"/>
                          <a:cs typeface="Consolas"/>
                          <a:sym typeface="Consolas"/>
                        </a:rPr>
                        <a:t>brand</a:t>
                      </a:r>
                      <a:r>
                        <a:rPr lang="en-US" sz="1000" u="none" strike="noStrike" cap="none" dirty="0">
                          <a:solidFill>
                            <a:srgbClr val="D4D4D4"/>
                          </a:solidFill>
                          <a:latin typeface="Consolas"/>
                          <a:ea typeface="Consolas"/>
                          <a:cs typeface="Consolas"/>
                          <a:sym typeface="Consolas"/>
                        </a:rPr>
                        <a:t> + </a:t>
                      </a:r>
                      <a:r>
                        <a:rPr lang="en-US" sz="1000" u="none" strike="noStrike" cap="none" dirty="0">
                          <a:solidFill>
                            <a:srgbClr val="CE9178"/>
                          </a:solidFill>
                          <a:latin typeface="Consolas"/>
                          <a:ea typeface="Consolas"/>
                          <a:cs typeface="Consolas"/>
                          <a:sym typeface="Consolas"/>
                        </a:rPr>
                        <a:t>" "</a:t>
                      </a:r>
                      <a:r>
                        <a:rPr lang="en-US" sz="1000" u="none" strike="noStrike" cap="none" dirty="0">
                          <a:solidFill>
                            <a:srgbClr val="D4D4D4"/>
                          </a:solidFill>
                          <a:latin typeface="Consolas"/>
                          <a:ea typeface="Consolas"/>
                          <a:cs typeface="Consolas"/>
                          <a:sym typeface="Consolas"/>
                        </a:rPr>
                        <a:t> + </a:t>
                      </a:r>
                      <a:r>
                        <a:rPr lang="en-US" sz="1000" u="none" strike="noStrike" cap="none" dirty="0">
                          <a:solidFill>
                            <a:srgbClr val="4FC1FF"/>
                          </a:solidFill>
                          <a:latin typeface="Consolas"/>
                          <a:ea typeface="Consolas"/>
                          <a:cs typeface="Consolas"/>
                          <a:sym typeface="Consolas"/>
                        </a:rPr>
                        <a:t>category</a:t>
                      </a:r>
                      <a:r>
                        <a:rPr lang="en-US" sz="1000" u="none" strike="noStrike" cap="none" dirty="0">
                          <a:solidFill>
                            <a:srgbClr val="D4D4D4"/>
                          </a:solidFill>
                          <a:latin typeface="Consolas"/>
                          <a:ea typeface="Consolas"/>
                          <a:cs typeface="Consolas"/>
                          <a:sym typeface="Consolas"/>
                        </a:rPr>
                        <a:t>)</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D4D4D4"/>
                          </a:solidFill>
                          <a:latin typeface="Consolas"/>
                          <a:ea typeface="Consolas"/>
                          <a:cs typeface="Consolas"/>
                          <a:sym typeface="Consolas"/>
                        </a:rPr>
                        <a:t>  </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D4D4D4"/>
                          </a:solidFill>
                          <a:latin typeface="Consolas"/>
                          <a:ea typeface="Consolas"/>
                          <a:cs typeface="Consolas"/>
                          <a:sym typeface="Consolas"/>
                        </a:rPr>
                        <a:t>...</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D4D4D4"/>
                          </a:solidFill>
                          <a:latin typeface="Consolas"/>
                          <a:ea typeface="Consolas"/>
                          <a:cs typeface="Consolas"/>
                          <a:sym typeface="Consolas"/>
                        </a:rPr>
                        <a:t>...</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D4D4D4"/>
                          </a:solidFill>
                          <a:latin typeface="Consolas"/>
                          <a:ea typeface="Consolas"/>
                          <a:cs typeface="Consolas"/>
                          <a:sym typeface="Consolas"/>
                        </a:rPr>
                        <a:t>  </a:t>
                      </a:r>
                      <a:r>
                        <a:rPr lang="en-US" sz="1000" u="none" strike="noStrike" cap="none" dirty="0" err="1">
                          <a:solidFill>
                            <a:srgbClr val="9CDCFE"/>
                          </a:solidFill>
                          <a:latin typeface="Consolas"/>
                          <a:ea typeface="Consolas"/>
                          <a:cs typeface="Consolas"/>
                          <a:sym typeface="Consolas"/>
                        </a:rPr>
                        <a:t>response</a:t>
                      </a:r>
                      <a:r>
                        <a:rPr lang="en-US" sz="1000" u="none" strike="noStrike" cap="none" dirty="0" err="1">
                          <a:solidFill>
                            <a:srgbClr val="D4D4D4"/>
                          </a:solidFill>
                          <a:latin typeface="Consolas"/>
                          <a:ea typeface="Consolas"/>
                          <a:cs typeface="Consolas"/>
                          <a:sym typeface="Consolas"/>
                        </a:rPr>
                        <a:t>.</a:t>
                      </a:r>
                      <a:r>
                        <a:rPr lang="en-US" sz="1000" u="none" strike="noStrike" cap="none" dirty="0" err="1">
                          <a:solidFill>
                            <a:srgbClr val="DCDCAA"/>
                          </a:solidFill>
                          <a:latin typeface="Consolas"/>
                          <a:ea typeface="Consolas"/>
                          <a:cs typeface="Consolas"/>
                          <a:sym typeface="Consolas"/>
                        </a:rPr>
                        <a:t>json</a:t>
                      </a:r>
                      <a:r>
                        <a:rPr lang="en-US" sz="1000" u="none" strike="noStrike" cap="none" dirty="0">
                          <a:solidFill>
                            <a:srgbClr val="D4D4D4"/>
                          </a:solidFill>
                          <a:latin typeface="Consolas"/>
                          <a:ea typeface="Consolas"/>
                          <a:cs typeface="Consolas"/>
                          <a:sym typeface="Consolas"/>
                        </a:rPr>
                        <a:t>(...)</a:t>
                      </a:r>
                      <a:endParaRPr sz="10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00" u="none" strike="noStrike" cap="none" dirty="0">
                          <a:solidFill>
                            <a:srgbClr val="D4D4D4"/>
                          </a:solidFill>
                          <a:latin typeface="Consolas"/>
                          <a:ea typeface="Consolas"/>
                          <a:cs typeface="Consolas"/>
                          <a:sym typeface="Consolas"/>
                        </a:rPr>
                        <a:t>})</a:t>
                      </a:r>
                      <a:endParaRPr sz="1000" u="none" strike="noStrike" cap="none" dirty="0">
                        <a:solidFill>
                          <a:srgbClr val="808080"/>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00" u="none" strike="noStrike" cap="none" dirty="0">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54"/>
          <p:cNvSpPr txBox="1">
            <a:spLocks noGrp="1"/>
          </p:cNvSpPr>
          <p:nvPr>
            <p:ph type="title"/>
          </p:nvPr>
        </p:nvSpPr>
        <p:spPr>
          <a:xfrm>
            <a:off x="1066788" y="46915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419" name="Google Shape;419;p54"/>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420" name="Google Shape;420;p54"/>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28</a:t>
            </a:fld>
            <a:endParaRPr/>
          </a:p>
        </p:txBody>
      </p:sp>
      <p:graphicFrame>
        <p:nvGraphicFramePr>
          <p:cNvPr id="421" name="Google Shape;421;p54"/>
          <p:cNvGraphicFramePr/>
          <p:nvPr>
            <p:extLst>
              <p:ext uri="{D42A27DB-BD31-4B8C-83A1-F6EECF244321}">
                <p14:modId xmlns:p14="http://schemas.microsoft.com/office/powerpoint/2010/main" val="1128927676"/>
              </p:ext>
            </p:extLst>
          </p:nvPr>
        </p:nvGraphicFramePr>
        <p:xfrm>
          <a:off x="1066788" y="2103909"/>
          <a:ext cx="10816818" cy="4769230"/>
        </p:xfrm>
        <a:graphic>
          <a:graphicData uri="http://schemas.openxmlformats.org/drawingml/2006/table">
            <a:tbl>
              <a:tblPr>
                <a:noFill/>
                <a:tableStyleId>{99CD84AF-14CF-470D-B69C-EB98024C896D}</a:tableStyleId>
              </a:tblPr>
              <a:tblGrid>
                <a:gridCol w="5408409">
                  <a:extLst>
                    <a:ext uri="{9D8B030D-6E8A-4147-A177-3AD203B41FA5}">
                      <a16:colId xmlns:a16="http://schemas.microsoft.com/office/drawing/2014/main" val="20000"/>
                    </a:ext>
                  </a:extLst>
                </a:gridCol>
                <a:gridCol w="5408409">
                  <a:extLst>
                    <a:ext uri="{9D8B030D-6E8A-4147-A177-3AD203B41FA5}">
                      <a16:colId xmlns:a16="http://schemas.microsoft.com/office/drawing/2014/main" val="20001"/>
                    </a:ext>
                  </a:extLst>
                </a:gridCol>
              </a:tblGrid>
              <a:tr h="350150">
                <a:tc gridSpan="2">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Here we are extracting the contents of the JSON request by calling request.body.FIELD_NAME before using those fields for adding a new product.</a:t>
                      </a:r>
                      <a:endParaRPr sz="120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Similarly we can use express' built-in middleware express.urlencoded() to process URL encoded fields submitted through a HTTP form object:</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0"/>
                  </a:ext>
                </a:extLst>
              </a:tr>
              <a:tr h="350150">
                <a:tc gridSpan="2">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9CDCFE"/>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use</a:t>
                      </a:r>
                      <a:r>
                        <a:rPr lang="en-US" sz="1050" u="none" strike="noStrike" cap="none" dirty="0">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express</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urlencoded</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extended:</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false</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808080"/>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tc hMerge="1">
                  <a:txBody>
                    <a:bodyPr/>
                    <a:lstStyle/>
                    <a:p>
                      <a:endParaRPr lang="en-US"/>
                    </a:p>
                  </a:txBody>
                  <a:tcPr/>
                </a:tc>
                <a:extLst>
                  <a:ext uri="{0D108BD9-81ED-4DB2-BD59-A6C34878D82A}">
                    <a16:rowId xmlns:a16="http://schemas.microsoft.com/office/drawing/2014/main" val="10001"/>
                  </a:ext>
                </a:extLst>
              </a:tr>
              <a:tr h="350150">
                <a:tc gridSpan="2">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Then we can use the same code for extracting the fields as we had used before for extracting the fields from a JSON payload.</a:t>
                      </a:r>
                      <a:endParaRPr sz="12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endParaRPr sz="120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r>
                        <a:rPr lang="en-US" sz="1200" b="1" u="sng" strike="noStrike" cap="none" dirty="0">
                          <a:latin typeface="Times New Roman"/>
                          <a:ea typeface="Times New Roman"/>
                          <a:cs typeface="Times New Roman"/>
                          <a:sym typeface="Times New Roman"/>
                        </a:rPr>
                        <a:t>Third-party middleware</a:t>
                      </a:r>
                      <a:endParaRPr sz="1200" b="1" u="sng"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We can also use third-party middleware to add functionality built by the community to our Express applications. These are usually available as </a:t>
                      </a:r>
                      <a:r>
                        <a:rPr lang="en-US" sz="1200" u="none" strike="noStrike" cap="none" dirty="0" err="1">
                          <a:latin typeface="Times New Roman"/>
                          <a:ea typeface="Times New Roman"/>
                          <a:cs typeface="Times New Roman"/>
                          <a:sym typeface="Times New Roman"/>
                        </a:rPr>
                        <a:t>npm</a:t>
                      </a:r>
                      <a:r>
                        <a:rPr lang="en-US" sz="1200" u="none" strike="noStrike" cap="none" dirty="0">
                          <a:latin typeface="Times New Roman"/>
                          <a:ea typeface="Times New Roman"/>
                          <a:cs typeface="Times New Roman"/>
                          <a:sym typeface="Times New Roman"/>
                        </a:rPr>
                        <a:t> modules which we install by running the </a:t>
                      </a:r>
                      <a:r>
                        <a:rPr lang="en-US" sz="1200" u="none" strike="noStrike" cap="none" dirty="0" err="1">
                          <a:latin typeface="Times New Roman"/>
                          <a:ea typeface="Times New Roman"/>
                          <a:cs typeface="Times New Roman"/>
                          <a:sym typeface="Times New Roman"/>
                        </a:rPr>
                        <a:t>npm</a:t>
                      </a:r>
                      <a:r>
                        <a:rPr lang="en-US" sz="1200" u="none" strike="noStrike" cap="none" dirty="0">
                          <a:latin typeface="Times New Roman"/>
                          <a:ea typeface="Times New Roman"/>
                          <a:cs typeface="Times New Roman"/>
                          <a:sym typeface="Times New Roman"/>
                        </a:rPr>
                        <a:t> install command in our terminal window. </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The following example illustrates installing and loading a third-party middleware named Morgan which is an HTTP request logging middleware for Node.js.</a:t>
                      </a:r>
                      <a:endParaRPr sz="12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2"/>
                  </a:ext>
                </a:extLst>
              </a:tr>
              <a:tr h="350150">
                <a:tc gridSpan="2">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a:solidFill>
                            <a:srgbClr val="9CDCFE"/>
                          </a:solidFill>
                          <a:latin typeface="Consolas"/>
                          <a:ea typeface="Consolas"/>
                          <a:cs typeface="Consolas"/>
                          <a:sym typeface="Consolas"/>
                        </a:rPr>
                        <a:t>npm</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install</a:t>
                      </a:r>
                      <a:r>
                        <a:rPr lang="en-US" sz="1050" u="none" strike="noStrike" cap="none">
                          <a:solidFill>
                            <a:srgbClr val="D4D4D4"/>
                          </a:solidFill>
                          <a:latin typeface="Consolas"/>
                          <a:ea typeface="Consolas"/>
                          <a:cs typeface="Consolas"/>
                          <a:sym typeface="Consolas"/>
                        </a:rPr>
                        <a:t> </a:t>
                      </a:r>
                      <a:r>
                        <a:rPr lang="en-US" sz="1050" u="none" strike="noStrike" cap="none">
                          <a:solidFill>
                            <a:srgbClr val="9CDCFE"/>
                          </a:solidFill>
                          <a:latin typeface="Consolas"/>
                          <a:ea typeface="Consolas"/>
                          <a:cs typeface="Consolas"/>
                          <a:sym typeface="Consolas"/>
                        </a:rPr>
                        <a:t>morgan</a:t>
                      </a:r>
                      <a:endParaRPr sz="1000" u="none" strike="noStrike" cap="none">
                        <a:solidFill>
                          <a:srgbClr val="F8F8F2"/>
                        </a:solidFill>
                        <a:latin typeface="Arial"/>
                        <a:ea typeface="Arial"/>
                        <a:cs typeface="Arial"/>
                        <a:sym typeface="Aria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tc hMerge="1">
                  <a:txBody>
                    <a:bodyPr/>
                    <a:lstStyle/>
                    <a:p>
                      <a:endParaRPr lang="en-US"/>
                    </a:p>
                  </a:txBody>
                  <a:tcPr/>
                </a:tc>
                <a:extLst>
                  <a:ext uri="{0D108BD9-81ED-4DB2-BD59-A6C34878D82A}">
                    <a16:rowId xmlns:a16="http://schemas.microsoft.com/office/drawing/2014/main" val="10003"/>
                  </a:ext>
                </a:extLst>
              </a:tr>
              <a:tr h="350150">
                <a:tc gridSpan="2">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After installing the module containing the third-party middleware, we need to load the middleware function in our Express application as shown below:</a:t>
                      </a:r>
                      <a:endParaRPr sz="1050" u="none" strike="noStrike" cap="none">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4"/>
                  </a:ext>
                </a:extLst>
              </a:tr>
              <a:tr h="350150">
                <a:tc gridSpan="2">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569CD6"/>
                          </a:solidFill>
                          <a:latin typeface="Consolas"/>
                          <a:ea typeface="Consolas"/>
                          <a:cs typeface="Consolas"/>
                          <a:sym typeface="Consolas"/>
                        </a:rPr>
                        <a:t>const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DCDCAA"/>
                          </a:solidFill>
                          <a:latin typeface="Consolas"/>
                          <a:ea typeface="Consolas"/>
                          <a:cs typeface="Consolas"/>
                          <a:sym typeface="Consolas"/>
                        </a:rPr>
                        <a:t>express</a:t>
                      </a:r>
                      <a:r>
                        <a:rPr lang="en-US" sz="1050" u="none" strike="noStrike" cap="none" dirty="0">
                          <a:solidFill>
                            <a:srgbClr val="D4D4D4"/>
                          </a:solidFill>
                          <a:latin typeface="Consolas"/>
                          <a:ea typeface="Consolas"/>
                          <a:cs typeface="Consolas"/>
                          <a:sym typeface="Consolas"/>
                        </a:rPr>
                        <a:t> = </a:t>
                      </a:r>
                      <a:r>
                        <a:rPr lang="en-US" sz="1050" u="none" strike="noStrike" cap="none" dirty="0">
                          <a:solidFill>
                            <a:srgbClr val="DCDCAA"/>
                          </a:solidFill>
                          <a:latin typeface="Consolas"/>
                          <a:ea typeface="Consolas"/>
                          <a:cs typeface="Consolas"/>
                          <a:sym typeface="Consolas"/>
                        </a:rPr>
                        <a:t>require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'express'</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569CD6"/>
                          </a:solidFill>
                          <a:latin typeface="Consolas"/>
                          <a:ea typeface="Consolas"/>
                          <a:cs typeface="Consolas"/>
                          <a:sym typeface="Consolas"/>
                        </a:rPr>
                        <a:t>const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4FC1FF"/>
                          </a:solidFill>
                          <a:latin typeface="Consolas"/>
                          <a:ea typeface="Consolas"/>
                          <a:cs typeface="Consolas"/>
                          <a:sym typeface="Consolas"/>
                        </a:rPr>
                        <a:t>morgan</a:t>
                      </a:r>
                      <a:r>
                        <a:rPr lang="en-US" sz="1050" u="none" strike="noStrike" cap="none" dirty="0">
                          <a:solidFill>
                            <a:srgbClr val="D4D4D4"/>
                          </a:solidFill>
                          <a:latin typeface="Consolas"/>
                          <a:ea typeface="Consolas"/>
                          <a:cs typeface="Consolas"/>
                          <a:sym typeface="Consolas"/>
                        </a:rPr>
                        <a:t> = </a:t>
                      </a:r>
                      <a:r>
                        <a:rPr lang="en-US" sz="1050" u="none" strike="noStrike" cap="none" dirty="0">
                          <a:solidFill>
                            <a:srgbClr val="DCDCAA"/>
                          </a:solidFill>
                          <a:latin typeface="Consolas"/>
                          <a:ea typeface="Consolas"/>
                          <a:cs typeface="Consolas"/>
                          <a:sym typeface="Consolas"/>
                        </a:rPr>
                        <a:t>require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'morgan'</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569CD6"/>
                          </a:solidFill>
                          <a:latin typeface="Consolas"/>
                          <a:ea typeface="Consolas"/>
                          <a:cs typeface="Consolas"/>
                          <a:sym typeface="Consolas"/>
                        </a:rPr>
                        <a:t>const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4FC1FF"/>
                          </a:solidFill>
                          <a:latin typeface="Consolas"/>
                          <a:ea typeface="Consolas"/>
                          <a:cs typeface="Consolas"/>
                          <a:sym typeface="Consolas"/>
                        </a:rPr>
                        <a:t>app</a:t>
                      </a:r>
                      <a:r>
                        <a:rPr lang="en-US" sz="1050" u="none" strike="noStrike" cap="none" dirty="0">
                          <a:solidFill>
                            <a:srgbClr val="D4D4D4"/>
                          </a:solidFill>
                          <a:latin typeface="Consolas"/>
                          <a:ea typeface="Consolas"/>
                          <a:cs typeface="Consolas"/>
                          <a:sym typeface="Consolas"/>
                        </a:rPr>
                        <a:t> = </a:t>
                      </a:r>
                      <a:r>
                        <a:rPr lang="en-US" sz="1050" u="none" strike="noStrike" cap="none" dirty="0">
                          <a:solidFill>
                            <a:srgbClr val="DCDCAA"/>
                          </a:solidFill>
                          <a:latin typeface="Consolas"/>
                          <a:ea typeface="Consolas"/>
                          <a:cs typeface="Consolas"/>
                          <a:sym typeface="Consolas"/>
                        </a:rPr>
                        <a:t>express</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4FC1FF"/>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use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CDCAA"/>
                          </a:solidFill>
                          <a:latin typeface="Consolas"/>
                          <a:ea typeface="Consolas"/>
                          <a:cs typeface="Consolas"/>
                          <a:sym typeface="Consolas"/>
                        </a:rPr>
                        <a:t>morgan</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'tiny'</a:t>
                      </a:r>
                      <a:r>
                        <a:rPr lang="en-US" sz="1050" u="none" strike="noStrike" cap="none" dirty="0">
                          <a:solidFill>
                            <a:srgbClr val="D4D4D4"/>
                          </a:solidFill>
                          <a:latin typeface="Consolas"/>
                          <a:ea typeface="Consolas"/>
                          <a:cs typeface="Consolas"/>
                          <a:sym typeface="Consolas"/>
                        </a:rPr>
                        <a:t>))</a:t>
                      </a:r>
                      <a:endParaRPr sz="12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tc hMerge="1">
                  <a:txBody>
                    <a:bodyPr/>
                    <a:lstStyle/>
                    <a:p>
                      <a:endParaRPr lang="en-US"/>
                    </a:p>
                  </a:txBody>
                  <a:tcPr/>
                </a:tc>
                <a:extLst>
                  <a:ext uri="{0D108BD9-81ED-4DB2-BD59-A6C34878D82A}">
                    <a16:rowId xmlns:a16="http://schemas.microsoft.com/office/drawing/2014/main" val="10005"/>
                  </a:ext>
                </a:extLst>
              </a:tr>
              <a:tr h="350150">
                <a:tc gridSpan="2">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Here we are loading the middleware function morgan by calling require() and then attaching the function to our routes with the use() method of the app instance.</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Let us see another example of third-party middleware.</a:t>
                      </a:r>
                      <a:endParaRPr sz="12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dirty="0">
                          <a:latin typeface="Times New Roman"/>
                          <a:ea typeface="Times New Roman"/>
                          <a:cs typeface="Times New Roman"/>
                          <a:sym typeface="Times New Roman"/>
                        </a:rPr>
                        <a:t>The following example illustrates installing and loading the cookie-parsing middleware function cookie-parser.</a:t>
                      </a:r>
                      <a:endParaRPr sz="1050" u="none" strike="noStrike" cap="none" dirty="0">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55"/>
          <p:cNvSpPr txBox="1">
            <a:spLocks noGrp="1"/>
          </p:cNvSpPr>
          <p:nvPr>
            <p:ph type="title"/>
          </p:nvPr>
        </p:nvSpPr>
        <p:spPr>
          <a:xfrm>
            <a:off x="1066788" y="46915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427" name="Google Shape;427;p55"/>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428" name="Google Shape;428;p55"/>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29</a:t>
            </a:fld>
            <a:endParaRPr/>
          </a:p>
        </p:txBody>
      </p:sp>
      <p:graphicFrame>
        <p:nvGraphicFramePr>
          <p:cNvPr id="429" name="Google Shape;429;p55"/>
          <p:cNvGraphicFramePr/>
          <p:nvPr>
            <p:extLst>
              <p:ext uri="{D42A27DB-BD31-4B8C-83A1-F6EECF244321}">
                <p14:modId xmlns:p14="http://schemas.microsoft.com/office/powerpoint/2010/main" val="2481300645"/>
              </p:ext>
            </p:extLst>
          </p:nvPr>
        </p:nvGraphicFramePr>
        <p:xfrm>
          <a:off x="1066788" y="2128087"/>
          <a:ext cx="10816818" cy="4869030"/>
        </p:xfrm>
        <a:graphic>
          <a:graphicData uri="http://schemas.openxmlformats.org/drawingml/2006/table">
            <a:tbl>
              <a:tblPr>
                <a:noFill/>
                <a:tableStyleId>{99CD84AF-14CF-470D-B69C-EB98024C896D}</a:tableStyleId>
              </a:tblPr>
              <a:tblGrid>
                <a:gridCol w="5408409">
                  <a:extLst>
                    <a:ext uri="{9D8B030D-6E8A-4147-A177-3AD203B41FA5}">
                      <a16:colId xmlns:a16="http://schemas.microsoft.com/office/drawing/2014/main" val="20000"/>
                    </a:ext>
                  </a:extLst>
                </a:gridCol>
                <a:gridCol w="5408409">
                  <a:extLst>
                    <a:ext uri="{9D8B030D-6E8A-4147-A177-3AD203B41FA5}">
                      <a16:colId xmlns:a16="http://schemas.microsoft.com/office/drawing/2014/main" val="20001"/>
                    </a:ext>
                  </a:extLst>
                </a:gridCol>
              </a:tblGrid>
              <a:tr h="350150">
                <a:tc gridSpan="2">
                  <a:txBody>
                    <a:bodyPr/>
                    <a:lstStyle/>
                    <a:p>
                      <a:pPr marL="0" marR="0" lvl="0" indent="0" algn="l" rtl="0">
                        <a:lnSpc>
                          <a:spcPct val="100000"/>
                        </a:lnSpc>
                        <a:spcBef>
                          <a:spcPts val="0"/>
                        </a:spcBef>
                        <a:spcAft>
                          <a:spcPts val="0"/>
                        </a:spcAft>
                        <a:buClr>
                          <a:srgbClr val="000000"/>
                        </a:buClr>
                        <a:buSzPts val="1050"/>
                        <a:buFont typeface="Arial"/>
                        <a:buNone/>
                      </a:pPr>
                      <a:r>
                        <a:rPr lang="en-US" sz="900" u="none" strike="noStrike" cap="none">
                          <a:solidFill>
                            <a:srgbClr val="9CDCFE"/>
                          </a:solidFill>
                          <a:latin typeface="Consolas"/>
                          <a:ea typeface="Consolas"/>
                          <a:cs typeface="Consolas"/>
                          <a:sym typeface="Consolas"/>
                        </a:rPr>
                        <a:t>npm</a:t>
                      </a:r>
                      <a:r>
                        <a:rPr lang="en-US" sz="900" u="none" strike="noStrike" cap="none">
                          <a:solidFill>
                            <a:srgbClr val="D4D4D4"/>
                          </a:solidFill>
                          <a:latin typeface="Consolas"/>
                          <a:ea typeface="Consolas"/>
                          <a:cs typeface="Consolas"/>
                          <a:sym typeface="Consolas"/>
                        </a:rPr>
                        <a:t> </a:t>
                      </a:r>
                      <a:r>
                        <a:rPr lang="en-US" sz="900" u="none" strike="noStrike" cap="none">
                          <a:solidFill>
                            <a:srgbClr val="9CDCFE"/>
                          </a:solidFill>
                          <a:latin typeface="Consolas"/>
                          <a:ea typeface="Consolas"/>
                          <a:cs typeface="Consolas"/>
                          <a:sym typeface="Consolas"/>
                        </a:rPr>
                        <a:t>install</a:t>
                      </a:r>
                      <a:r>
                        <a:rPr lang="en-US" sz="900" u="none" strike="noStrike" cap="none">
                          <a:solidFill>
                            <a:srgbClr val="D4D4D4"/>
                          </a:solidFill>
                          <a:latin typeface="Consolas"/>
                          <a:ea typeface="Consolas"/>
                          <a:cs typeface="Consolas"/>
                          <a:sym typeface="Consolas"/>
                        </a:rPr>
                        <a:t> </a:t>
                      </a:r>
                      <a:r>
                        <a:rPr lang="en-US" sz="900" u="none" strike="noStrike" cap="none">
                          <a:solidFill>
                            <a:srgbClr val="9CDCFE"/>
                          </a:solidFill>
                          <a:latin typeface="Consolas"/>
                          <a:ea typeface="Consolas"/>
                          <a:cs typeface="Consolas"/>
                          <a:sym typeface="Consolas"/>
                        </a:rPr>
                        <a:t>cookie</a:t>
                      </a:r>
                      <a:r>
                        <a:rPr lang="en-US" sz="900" u="none" strike="noStrike" cap="none">
                          <a:solidFill>
                            <a:srgbClr val="D4D4D4"/>
                          </a:solidFill>
                          <a:latin typeface="Consolas"/>
                          <a:ea typeface="Consolas"/>
                          <a:cs typeface="Consolas"/>
                          <a:sym typeface="Consolas"/>
                        </a:rPr>
                        <a:t>-</a:t>
                      </a:r>
                      <a:r>
                        <a:rPr lang="en-US" sz="900" u="none" strike="noStrike" cap="none">
                          <a:solidFill>
                            <a:srgbClr val="9CDCFE"/>
                          </a:solidFill>
                          <a:latin typeface="Consolas"/>
                          <a:ea typeface="Consolas"/>
                          <a:cs typeface="Consolas"/>
                          <a:sym typeface="Consolas"/>
                        </a:rPr>
                        <a:t>parser</a:t>
                      </a:r>
                      <a:endParaRPr sz="900" u="none" strike="noStrike" cap="none">
                        <a:solidFill>
                          <a:srgbClr val="9CDCFE"/>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900" u="none" strike="noStrike" cap="none">
                        <a:solidFill>
                          <a:srgbClr val="9CDCFE"/>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900" u="none" strike="noStrike" cap="none">
                          <a:solidFill>
                            <a:srgbClr val="569CD6"/>
                          </a:solidFill>
                          <a:latin typeface="Consolas"/>
                          <a:ea typeface="Consolas"/>
                          <a:cs typeface="Consolas"/>
                          <a:sym typeface="Consolas"/>
                        </a:rPr>
                        <a:t>const</a:t>
                      </a:r>
                      <a:r>
                        <a:rPr lang="en-US" sz="900" u="none" strike="noStrike" cap="none">
                          <a:solidFill>
                            <a:srgbClr val="D4D4D4"/>
                          </a:solidFill>
                          <a:latin typeface="Consolas"/>
                          <a:ea typeface="Consolas"/>
                          <a:cs typeface="Consolas"/>
                          <a:sym typeface="Consolas"/>
                        </a:rPr>
                        <a:t> </a:t>
                      </a:r>
                      <a:r>
                        <a:rPr lang="en-US" sz="900" u="none" strike="noStrike" cap="none">
                          <a:solidFill>
                            <a:srgbClr val="DCDCAA"/>
                          </a:solidFill>
                          <a:latin typeface="Consolas"/>
                          <a:ea typeface="Consolas"/>
                          <a:cs typeface="Consolas"/>
                          <a:sym typeface="Consolas"/>
                        </a:rPr>
                        <a:t>express</a:t>
                      </a:r>
                      <a:r>
                        <a:rPr lang="en-US" sz="900" u="none" strike="noStrike" cap="none">
                          <a:solidFill>
                            <a:srgbClr val="D4D4D4"/>
                          </a:solidFill>
                          <a:latin typeface="Consolas"/>
                          <a:ea typeface="Consolas"/>
                          <a:cs typeface="Consolas"/>
                          <a:sym typeface="Consolas"/>
                        </a:rPr>
                        <a:t> = </a:t>
                      </a:r>
                      <a:r>
                        <a:rPr lang="en-US" sz="900" u="none" strike="noStrike" cap="none">
                          <a:solidFill>
                            <a:srgbClr val="DCDCAA"/>
                          </a:solidFill>
                          <a:latin typeface="Consolas"/>
                          <a:ea typeface="Consolas"/>
                          <a:cs typeface="Consolas"/>
                          <a:sym typeface="Consolas"/>
                        </a:rPr>
                        <a:t>require</a:t>
                      </a:r>
                      <a:r>
                        <a:rPr lang="en-US" sz="900" u="none" strike="noStrike" cap="none">
                          <a:solidFill>
                            <a:srgbClr val="D4D4D4"/>
                          </a:solidFill>
                          <a:latin typeface="Consolas"/>
                          <a:ea typeface="Consolas"/>
                          <a:cs typeface="Consolas"/>
                          <a:sym typeface="Consolas"/>
                        </a:rPr>
                        <a:t>(</a:t>
                      </a:r>
                      <a:r>
                        <a:rPr lang="en-US" sz="900" u="none" strike="noStrike" cap="none">
                          <a:solidFill>
                            <a:srgbClr val="CE9178"/>
                          </a:solidFill>
                          <a:latin typeface="Consolas"/>
                          <a:ea typeface="Consolas"/>
                          <a:cs typeface="Consolas"/>
                          <a:sym typeface="Consolas"/>
                        </a:rPr>
                        <a:t>'express'</a:t>
                      </a:r>
                      <a:r>
                        <a:rPr lang="en-US" sz="900" u="none" strike="noStrike" cap="none">
                          <a:solidFill>
                            <a:srgbClr val="D4D4D4"/>
                          </a:solidFill>
                          <a:latin typeface="Consolas"/>
                          <a:ea typeface="Consolas"/>
                          <a:cs typeface="Consolas"/>
                          <a:sym typeface="Consolas"/>
                        </a:rPr>
                        <a:t>)</a:t>
                      </a:r>
                      <a:endParaRPr sz="90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900" u="none" strike="noStrike" cap="none">
                          <a:solidFill>
                            <a:srgbClr val="569CD6"/>
                          </a:solidFill>
                          <a:latin typeface="Consolas"/>
                          <a:ea typeface="Consolas"/>
                          <a:cs typeface="Consolas"/>
                          <a:sym typeface="Consolas"/>
                        </a:rPr>
                        <a:t>const</a:t>
                      </a:r>
                      <a:r>
                        <a:rPr lang="en-US" sz="900" u="none" strike="noStrike" cap="none">
                          <a:solidFill>
                            <a:srgbClr val="D4D4D4"/>
                          </a:solidFill>
                          <a:latin typeface="Consolas"/>
                          <a:ea typeface="Consolas"/>
                          <a:cs typeface="Consolas"/>
                          <a:sym typeface="Consolas"/>
                        </a:rPr>
                        <a:t> </a:t>
                      </a:r>
                      <a:r>
                        <a:rPr lang="en-US" sz="900" u="none" strike="noStrike" cap="none">
                          <a:solidFill>
                            <a:srgbClr val="4FC1FF"/>
                          </a:solidFill>
                          <a:latin typeface="Consolas"/>
                          <a:ea typeface="Consolas"/>
                          <a:cs typeface="Consolas"/>
                          <a:sym typeface="Consolas"/>
                        </a:rPr>
                        <a:t>app</a:t>
                      </a:r>
                      <a:r>
                        <a:rPr lang="en-US" sz="900" u="none" strike="noStrike" cap="none">
                          <a:solidFill>
                            <a:srgbClr val="D4D4D4"/>
                          </a:solidFill>
                          <a:latin typeface="Consolas"/>
                          <a:ea typeface="Consolas"/>
                          <a:cs typeface="Consolas"/>
                          <a:sym typeface="Consolas"/>
                        </a:rPr>
                        <a:t> = </a:t>
                      </a:r>
                      <a:r>
                        <a:rPr lang="en-US" sz="900" u="none" strike="noStrike" cap="none">
                          <a:solidFill>
                            <a:srgbClr val="DCDCAA"/>
                          </a:solidFill>
                          <a:latin typeface="Consolas"/>
                          <a:ea typeface="Consolas"/>
                          <a:cs typeface="Consolas"/>
                          <a:sym typeface="Consolas"/>
                        </a:rPr>
                        <a:t>express</a:t>
                      </a:r>
                      <a:r>
                        <a:rPr lang="en-US" sz="900" u="none" strike="noStrike" cap="none">
                          <a:solidFill>
                            <a:srgbClr val="D4D4D4"/>
                          </a:solidFill>
                          <a:latin typeface="Consolas"/>
                          <a:ea typeface="Consolas"/>
                          <a:cs typeface="Consolas"/>
                          <a:sym typeface="Consolas"/>
                        </a:rPr>
                        <a:t>()</a:t>
                      </a:r>
                      <a:endParaRPr sz="90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900" u="none" strike="noStrike" cap="none">
                          <a:solidFill>
                            <a:srgbClr val="569CD6"/>
                          </a:solidFill>
                          <a:latin typeface="Consolas"/>
                          <a:ea typeface="Consolas"/>
                          <a:cs typeface="Consolas"/>
                          <a:sym typeface="Consolas"/>
                        </a:rPr>
                        <a:t>const</a:t>
                      </a:r>
                      <a:r>
                        <a:rPr lang="en-US" sz="900" u="none" strike="noStrike" cap="none">
                          <a:solidFill>
                            <a:srgbClr val="D4D4D4"/>
                          </a:solidFill>
                          <a:latin typeface="Consolas"/>
                          <a:ea typeface="Consolas"/>
                          <a:cs typeface="Consolas"/>
                          <a:sym typeface="Consolas"/>
                        </a:rPr>
                        <a:t> </a:t>
                      </a:r>
                      <a:r>
                        <a:rPr lang="en-US" sz="900" u="none" strike="noStrike" cap="none">
                          <a:solidFill>
                            <a:srgbClr val="4FC1FF"/>
                          </a:solidFill>
                          <a:latin typeface="Consolas"/>
                          <a:ea typeface="Consolas"/>
                          <a:cs typeface="Consolas"/>
                          <a:sym typeface="Consolas"/>
                        </a:rPr>
                        <a:t>cookieParser</a:t>
                      </a:r>
                      <a:r>
                        <a:rPr lang="en-US" sz="900" u="none" strike="noStrike" cap="none">
                          <a:solidFill>
                            <a:srgbClr val="D4D4D4"/>
                          </a:solidFill>
                          <a:latin typeface="Consolas"/>
                          <a:ea typeface="Consolas"/>
                          <a:cs typeface="Consolas"/>
                          <a:sym typeface="Consolas"/>
                        </a:rPr>
                        <a:t> = </a:t>
                      </a:r>
                      <a:r>
                        <a:rPr lang="en-US" sz="900" u="none" strike="noStrike" cap="none">
                          <a:solidFill>
                            <a:srgbClr val="DCDCAA"/>
                          </a:solidFill>
                          <a:latin typeface="Consolas"/>
                          <a:ea typeface="Consolas"/>
                          <a:cs typeface="Consolas"/>
                          <a:sym typeface="Consolas"/>
                        </a:rPr>
                        <a:t>require</a:t>
                      </a:r>
                      <a:r>
                        <a:rPr lang="en-US" sz="900" u="none" strike="noStrike" cap="none">
                          <a:solidFill>
                            <a:srgbClr val="D4D4D4"/>
                          </a:solidFill>
                          <a:latin typeface="Consolas"/>
                          <a:ea typeface="Consolas"/>
                          <a:cs typeface="Consolas"/>
                          <a:sym typeface="Consolas"/>
                        </a:rPr>
                        <a:t>(</a:t>
                      </a:r>
                      <a:r>
                        <a:rPr lang="en-US" sz="900" u="none" strike="noStrike" cap="none">
                          <a:solidFill>
                            <a:srgbClr val="CE9178"/>
                          </a:solidFill>
                          <a:latin typeface="Consolas"/>
                          <a:ea typeface="Consolas"/>
                          <a:cs typeface="Consolas"/>
                          <a:sym typeface="Consolas"/>
                        </a:rPr>
                        <a:t>'cookie-parser'</a:t>
                      </a:r>
                      <a:r>
                        <a:rPr lang="en-US" sz="900" u="none" strike="noStrike" cap="none">
                          <a:solidFill>
                            <a:srgbClr val="D4D4D4"/>
                          </a:solidFill>
                          <a:latin typeface="Consolas"/>
                          <a:ea typeface="Consolas"/>
                          <a:cs typeface="Consolas"/>
                          <a:sym typeface="Consolas"/>
                        </a:rPr>
                        <a:t>)</a:t>
                      </a:r>
                      <a:endParaRPr sz="90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90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900" u="none" strike="noStrike" cap="none">
                          <a:solidFill>
                            <a:srgbClr val="6A9955"/>
                          </a:solidFill>
                          <a:latin typeface="Consolas"/>
                          <a:ea typeface="Consolas"/>
                          <a:cs typeface="Consolas"/>
                          <a:sym typeface="Consolas"/>
                        </a:rPr>
                        <a:t>// load the cookie-parsing middleware</a:t>
                      </a:r>
                      <a:endParaRPr sz="90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900" u="none" strike="noStrike" cap="none">
                          <a:solidFill>
                            <a:srgbClr val="4FC1FF"/>
                          </a:solidFill>
                          <a:latin typeface="Consolas"/>
                          <a:ea typeface="Consolas"/>
                          <a:cs typeface="Consolas"/>
                          <a:sym typeface="Consolas"/>
                        </a:rPr>
                        <a:t>app</a:t>
                      </a:r>
                      <a:r>
                        <a:rPr lang="en-US" sz="900" u="none" strike="noStrike" cap="none">
                          <a:solidFill>
                            <a:srgbClr val="D4D4D4"/>
                          </a:solidFill>
                          <a:latin typeface="Consolas"/>
                          <a:ea typeface="Consolas"/>
                          <a:cs typeface="Consolas"/>
                          <a:sym typeface="Consolas"/>
                        </a:rPr>
                        <a:t>.</a:t>
                      </a:r>
                      <a:r>
                        <a:rPr lang="en-US" sz="900" u="none" strike="noStrike" cap="none">
                          <a:solidFill>
                            <a:srgbClr val="DCDCAA"/>
                          </a:solidFill>
                          <a:latin typeface="Consolas"/>
                          <a:ea typeface="Consolas"/>
                          <a:cs typeface="Consolas"/>
                          <a:sym typeface="Consolas"/>
                        </a:rPr>
                        <a:t>use</a:t>
                      </a:r>
                      <a:r>
                        <a:rPr lang="en-US" sz="900" u="none" strike="noStrike" cap="none">
                          <a:solidFill>
                            <a:srgbClr val="D4D4D4"/>
                          </a:solidFill>
                          <a:latin typeface="Consolas"/>
                          <a:ea typeface="Consolas"/>
                          <a:cs typeface="Consolas"/>
                          <a:sym typeface="Consolas"/>
                        </a:rPr>
                        <a:t>(</a:t>
                      </a:r>
                      <a:r>
                        <a:rPr lang="en-US" sz="900" u="none" strike="noStrike" cap="none">
                          <a:solidFill>
                            <a:srgbClr val="DCDCAA"/>
                          </a:solidFill>
                          <a:latin typeface="Consolas"/>
                          <a:ea typeface="Consolas"/>
                          <a:cs typeface="Consolas"/>
                          <a:sym typeface="Consolas"/>
                        </a:rPr>
                        <a:t>cookieParser</a:t>
                      </a:r>
                      <a:r>
                        <a:rPr lang="en-US" sz="900" u="none" strike="noStrike" cap="none">
                          <a:solidFill>
                            <a:srgbClr val="D4D4D4"/>
                          </a:solidFill>
                          <a:latin typeface="Consolas"/>
                          <a:ea typeface="Consolas"/>
                          <a:cs typeface="Consolas"/>
                          <a:sym typeface="Consolas"/>
                        </a:rPr>
                        <a:t>())</a:t>
                      </a:r>
                      <a:endParaRPr sz="900" u="none" strike="noStrike" cap="none">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tc hMerge="1">
                  <a:txBody>
                    <a:bodyPr/>
                    <a:lstStyle/>
                    <a:p>
                      <a:endParaRPr lang="en-US"/>
                    </a:p>
                  </a:txBody>
                  <a:tcPr/>
                </a:tc>
                <a:extLst>
                  <a:ext uri="{0D108BD9-81ED-4DB2-BD59-A6C34878D82A}">
                    <a16:rowId xmlns:a16="http://schemas.microsoft.com/office/drawing/2014/main" val="10000"/>
                  </a:ext>
                </a:extLst>
              </a:tr>
              <a:tr h="350150">
                <a:tc gridSpan="2">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050" u="none" strike="noStrike" cap="none" dirty="0">
                          <a:latin typeface="Times New Roman"/>
                          <a:ea typeface="Times New Roman"/>
                          <a:cs typeface="Times New Roman"/>
                          <a:sym typeface="Times New Roman"/>
                        </a:rPr>
                        <a:t>For a partial list of third-party middleware functions that are commonly used with Express, see: </a:t>
                      </a:r>
                      <a:r>
                        <a:rPr lang="en-US" sz="1050" u="sng" strike="noStrike" cap="none" dirty="0">
                          <a:solidFill>
                            <a:schemeClr val="hlink"/>
                          </a:solidFill>
                          <a:latin typeface="Times New Roman"/>
                          <a:ea typeface="Times New Roman"/>
                          <a:cs typeface="Times New Roman"/>
                          <a:sym typeface="Times New Roman"/>
                          <a:hlinkClick r:id="rId3"/>
                        </a:rPr>
                        <a:t>Third-party middleware</a:t>
                      </a:r>
                      <a:r>
                        <a:rPr lang="en-US" sz="1050" u="none" strike="noStrike" cap="none" dirty="0">
                          <a:latin typeface="Times New Roman"/>
                          <a:ea typeface="Times New Roman"/>
                          <a:cs typeface="Times New Roman"/>
                          <a:sym typeface="Times New Roman"/>
                        </a:rPr>
                        <a:t>.</a:t>
                      </a:r>
                      <a:endParaRPr sz="105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endParaRPr sz="1050" u="none" strike="noStrike" cap="none" dirty="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200"/>
                        <a:buFont typeface="Arial"/>
                        <a:buNone/>
                      </a:pPr>
                      <a:r>
                        <a:rPr lang="en-US" sz="1050" b="1" u="sng" strike="noStrike" cap="none" dirty="0">
                          <a:latin typeface="Times New Roman"/>
                          <a:ea typeface="Times New Roman"/>
                          <a:cs typeface="Times New Roman"/>
                          <a:sym typeface="Times New Roman"/>
                        </a:rPr>
                        <a:t>Error handling middleware</a:t>
                      </a:r>
                      <a:endParaRPr sz="1050" b="1" u="sng"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050" u="none" strike="noStrike" cap="none" dirty="0">
                          <a:latin typeface="Times New Roman"/>
                          <a:ea typeface="Times New Roman"/>
                          <a:cs typeface="Times New Roman"/>
                          <a:sym typeface="Times New Roman"/>
                        </a:rPr>
                        <a:t>Express comes with a default error handler that takes care of any errors that might be encountered in the application. The default error handler is added as a middleware function at the end of the middleware function stack.</a:t>
                      </a:r>
                      <a:endParaRPr sz="105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050" u="none" strike="noStrike" cap="none" dirty="0">
                          <a:latin typeface="Times New Roman"/>
                          <a:ea typeface="Times New Roman"/>
                          <a:cs typeface="Times New Roman"/>
                          <a:sym typeface="Times New Roman"/>
                        </a:rPr>
                        <a:t>We can change this default error handling behavior by adding a custom error handler which is a middleware function that takes an error parameter in addition to the parameters: request, response, and the next() function. The error handling middleware functions are attached after the route definitions.</a:t>
                      </a:r>
                      <a:endParaRPr sz="105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050" u="none" strike="noStrike" cap="none" dirty="0">
                          <a:latin typeface="Times New Roman"/>
                          <a:ea typeface="Times New Roman"/>
                          <a:cs typeface="Times New Roman"/>
                          <a:sym typeface="Times New Roman"/>
                        </a:rPr>
                        <a:t>The basic signature of an error-handling middleware function in Express looks like this:</a:t>
                      </a:r>
                      <a:endParaRPr sz="1050" b="1" u="sng"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1"/>
                  </a:ext>
                </a:extLst>
              </a:tr>
              <a:tr h="350150">
                <a:tc gridSpan="2">
                  <a:txBody>
                    <a:bodyPr/>
                    <a:lstStyle/>
                    <a:p>
                      <a:pPr marL="0" marR="0" lvl="0" indent="0" algn="l" rtl="0">
                        <a:lnSpc>
                          <a:spcPct val="100000"/>
                        </a:lnSpc>
                        <a:spcBef>
                          <a:spcPts val="0"/>
                        </a:spcBef>
                        <a:spcAft>
                          <a:spcPts val="0"/>
                        </a:spcAft>
                        <a:buClr>
                          <a:srgbClr val="000000"/>
                        </a:buClr>
                        <a:buSzPts val="1050"/>
                        <a:buFont typeface="Arial"/>
                        <a:buNone/>
                      </a:pPr>
                      <a:r>
                        <a:rPr lang="en-US" sz="900" u="none" strike="noStrike" cap="none">
                          <a:solidFill>
                            <a:srgbClr val="569CD6"/>
                          </a:solidFill>
                          <a:latin typeface="Consolas"/>
                          <a:ea typeface="Consolas"/>
                          <a:cs typeface="Consolas"/>
                          <a:sym typeface="Consolas"/>
                        </a:rPr>
                        <a:t>function</a:t>
                      </a:r>
                      <a:r>
                        <a:rPr lang="en-US" sz="900" u="none" strike="noStrike" cap="none">
                          <a:solidFill>
                            <a:srgbClr val="D4D4D4"/>
                          </a:solidFill>
                          <a:latin typeface="Consolas"/>
                          <a:ea typeface="Consolas"/>
                          <a:cs typeface="Consolas"/>
                          <a:sym typeface="Consolas"/>
                        </a:rPr>
                        <a:t> </a:t>
                      </a:r>
                      <a:r>
                        <a:rPr lang="en-US" sz="900" u="none" strike="noStrike" cap="none">
                          <a:solidFill>
                            <a:srgbClr val="DCDCAA"/>
                          </a:solidFill>
                          <a:latin typeface="Consolas"/>
                          <a:ea typeface="Consolas"/>
                          <a:cs typeface="Consolas"/>
                          <a:sym typeface="Consolas"/>
                        </a:rPr>
                        <a:t>customErrorHandler</a:t>
                      </a:r>
                      <a:r>
                        <a:rPr lang="en-US" sz="900" u="none" strike="noStrike" cap="none">
                          <a:solidFill>
                            <a:srgbClr val="D4D4D4"/>
                          </a:solidFill>
                          <a:latin typeface="Consolas"/>
                          <a:ea typeface="Consolas"/>
                          <a:cs typeface="Consolas"/>
                          <a:sym typeface="Consolas"/>
                        </a:rPr>
                        <a:t>(</a:t>
                      </a:r>
                      <a:r>
                        <a:rPr lang="en-US" sz="900" u="none" strike="noStrike" cap="none">
                          <a:solidFill>
                            <a:srgbClr val="9CDCFE"/>
                          </a:solidFill>
                          <a:latin typeface="Consolas"/>
                          <a:ea typeface="Consolas"/>
                          <a:cs typeface="Consolas"/>
                          <a:sym typeface="Consolas"/>
                        </a:rPr>
                        <a:t>error</a:t>
                      </a:r>
                      <a:r>
                        <a:rPr lang="en-US" sz="900" u="none" strike="noStrike" cap="none">
                          <a:solidFill>
                            <a:srgbClr val="D4D4D4"/>
                          </a:solidFill>
                          <a:latin typeface="Consolas"/>
                          <a:ea typeface="Consolas"/>
                          <a:cs typeface="Consolas"/>
                          <a:sym typeface="Consolas"/>
                        </a:rPr>
                        <a:t>, </a:t>
                      </a:r>
                      <a:r>
                        <a:rPr lang="en-US" sz="900" u="none" strike="noStrike" cap="none">
                          <a:solidFill>
                            <a:srgbClr val="9CDCFE"/>
                          </a:solidFill>
                          <a:latin typeface="Consolas"/>
                          <a:ea typeface="Consolas"/>
                          <a:cs typeface="Consolas"/>
                          <a:sym typeface="Consolas"/>
                        </a:rPr>
                        <a:t>request</a:t>
                      </a:r>
                      <a:r>
                        <a:rPr lang="en-US" sz="900" u="none" strike="noStrike" cap="none">
                          <a:solidFill>
                            <a:srgbClr val="D4D4D4"/>
                          </a:solidFill>
                          <a:latin typeface="Consolas"/>
                          <a:ea typeface="Consolas"/>
                          <a:cs typeface="Consolas"/>
                          <a:sym typeface="Consolas"/>
                        </a:rPr>
                        <a:t>, </a:t>
                      </a:r>
                      <a:r>
                        <a:rPr lang="en-US" sz="900" u="none" strike="noStrike" cap="none">
                          <a:solidFill>
                            <a:srgbClr val="9CDCFE"/>
                          </a:solidFill>
                          <a:latin typeface="Consolas"/>
                          <a:ea typeface="Consolas"/>
                          <a:cs typeface="Consolas"/>
                          <a:sym typeface="Consolas"/>
                        </a:rPr>
                        <a:t>response</a:t>
                      </a:r>
                      <a:r>
                        <a:rPr lang="en-US" sz="900" u="none" strike="noStrike" cap="none">
                          <a:solidFill>
                            <a:srgbClr val="D4D4D4"/>
                          </a:solidFill>
                          <a:latin typeface="Consolas"/>
                          <a:ea typeface="Consolas"/>
                          <a:cs typeface="Consolas"/>
                          <a:sym typeface="Consolas"/>
                        </a:rPr>
                        <a:t>, </a:t>
                      </a:r>
                      <a:r>
                        <a:rPr lang="en-US" sz="900" u="none" strike="noStrike" cap="none">
                          <a:solidFill>
                            <a:srgbClr val="9CDCFE"/>
                          </a:solidFill>
                          <a:latin typeface="Consolas"/>
                          <a:ea typeface="Consolas"/>
                          <a:cs typeface="Consolas"/>
                          <a:sym typeface="Consolas"/>
                        </a:rPr>
                        <a:t>next</a:t>
                      </a:r>
                      <a:r>
                        <a:rPr lang="en-US" sz="900" u="none" strike="noStrike" cap="none">
                          <a:solidFill>
                            <a:srgbClr val="D4D4D4"/>
                          </a:solidFill>
                          <a:latin typeface="Consolas"/>
                          <a:ea typeface="Consolas"/>
                          <a:cs typeface="Consolas"/>
                          <a:sym typeface="Consolas"/>
                        </a:rPr>
                        <a:t>) {</a:t>
                      </a:r>
                      <a:endParaRPr sz="90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90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900" u="none" strike="noStrike" cap="none">
                          <a:solidFill>
                            <a:srgbClr val="D4D4D4"/>
                          </a:solidFill>
                          <a:latin typeface="Consolas"/>
                          <a:ea typeface="Consolas"/>
                          <a:cs typeface="Consolas"/>
                          <a:sym typeface="Consolas"/>
                        </a:rPr>
                        <a:t>  </a:t>
                      </a:r>
                      <a:r>
                        <a:rPr lang="en-US" sz="900" u="none" strike="noStrike" cap="none">
                          <a:solidFill>
                            <a:srgbClr val="6A9955"/>
                          </a:solidFill>
                          <a:latin typeface="Consolas"/>
                          <a:ea typeface="Consolas"/>
                          <a:cs typeface="Consolas"/>
                          <a:sym typeface="Consolas"/>
                        </a:rPr>
                        <a:t>// Error handling middleware functionality</a:t>
                      </a:r>
                      <a:endParaRPr sz="900" u="none" strike="noStrike" cap="none">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900" u="none" strike="noStrike" cap="none">
                          <a:solidFill>
                            <a:srgbClr val="D4D4D4"/>
                          </a:solidFill>
                          <a:latin typeface="Consolas"/>
                          <a:ea typeface="Consolas"/>
                          <a:cs typeface="Consolas"/>
                          <a:sym typeface="Consolas"/>
                        </a:rPr>
                        <a:t>}</a:t>
                      </a:r>
                      <a:endParaRPr sz="900" u="none" strike="noStrike" cap="none">
                        <a:solidFill>
                          <a:srgbClr val="9CDCFE"/>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tc hMerge="1">
                  <a:txBody>
                    <a:bodyPr/>
                    <a:lstStyle/>
                    <a:p>
                      <a:endParaRPr lang="en-US"/>
                    </a:p>
                  </a:txBody>
                  <a:tcPr/>
                </a:tc>
                <a:extLst>
                  <a:ext uri="{0D108BD9-81ED-4DB2-BD59-A6C34878D82A}">
                    <a16:rowId xmlns:a16="http://schemas.microsoft.com/office/drawing/2014/main" val="10002"/>
                  </a:ext>
                </a:extLst>
              </a:tr>
              <a:tr h="350150">
                <a:tc gridSpan="2">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050" u="none" strike="noStrike" cap="none">
                          <a:latin typeface="Times New Roman"/>
                          <a:ea typeface="Times New Roman"/>
                          <a:cs typeface="Times New Roman"/>
                          <a:sym typeface="Times New Roman"/>
                        </a:rPr>
                        <a:t>Error-handling middleware always takes four arguments. You must provide four arguments to identify it as an error-handling middleware function. Even if you don’t need to use the next object, you must specify it to maintain the signature. Otherwise, the next object will be interpreted as regular middleware and will fail to handle errors.</a:t>
                      </a:r>
                      <a:endParaRPr sz="1050" u="none" strike="noStrike" cap="none">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1050" u="none" strike="noStrike" cap="none">
                          <a:latin typeface="Times New Roman"/>
                          <a:ea typeface="Times New Roman"/>
                          <a:cs typeface="Times New Roman"/>
                          <a:sym typeface="Times New Roman"/>
                        </a:rPr>
                        <a:t>When we want to call an error-handling middleware, we pass on the error object by calling the next() function with the error argument like this</a:t>
                      </a:r>
                      <a:endParaRPr sz="105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3"/>
                  </a:ext>
                </a:extLst>
              </a:tr>
              <a:tr h="350150">
                <a:tc gridSpan="2">
                  <a:txBody>
                    <a:bodyPr/>
                    <a:lstStyle/>
                    <a:p>
                      <a:pPr marL="0" marR="0" lvl="0" indent="0" algn="l" rtl="0">
                        <a:lnSpc>
                          <a:spcPct val="100000"/>
                        </a:lnSpc>
                        <a:spcBef>
                          <a:spcPts val="0"/>
                        </a:spcBef>
                        <a:spcAft>
                          <a:spcPts val="0"/>
                        </a:spcAft>
                        <a:buClr>
                          <a:srgbClr val="000000"/>
                        </a:buClr>
                        <a:buSzPts val="1050"/>
                        <a:buFont typeface="Arial"/>
                        <a:buNone/>
                      </a:pPr>
                      <a:r>
                        <a:rPr lang="en-US" sz="900" u="none" strike="noStrike" cap="none" dirty="0">
                          <a:solidFill>
                            <a:srgbClr val="569CD6"/>
                          </a:solidFill>
                          <a:latin typeface="Consolas"/>
                          <a:ea typeface="Consolas"/>
                          <a:cs typeface="Consolas"/>
                          <a:sym typeface="Consolas"/>
                        </a:rPr>
                        <a:t>const</a:t>
                      </a:r>
                      <a:r>
                        <a:rPr lang="en-US" sz="900" u="none" strike="noStrike" cap="none" dirty="0">
                          <a:solidFill>
                            <a:srgbClr val="D4D4D4"/>
                          </a:solidFill>
                          <a:latin typeface="Consolas"/>
                          <a:ea typeface="Consolas"/>
                          <a:cs typeface="Consolas"/>
                          <a:sym typeface="Consolas"/>
                        </a:rPr>
                        <a:t> </a:t>
                      </a:r>
                      <a:r>
                        <a:rPr lang="en-US" sz="900" u="none" strike="noStrike" cap="none" dirty="0" err="1">
                          <a:solidFill>
                            <a:srgbClr val="DCDCAA"/>
                          </a:solidFill>
                          <a:latin typeface="Consolas"/>
                          <a:ea typeface="Consolas"/>
                          <a:cs typeface="Consolas"/>
                          <a:sym typeface="Consolas"/>
                        </a:rPr>
                        <a:t>errorLogger</a:t>
                      </a:r>
                      <a:r>
                        <a:rPr lang="en-US" sz="900" u="none" strike="noStrike" cap="none" dirty="0">
                          <a:solidFill>
                            <a:srgbClr val="D4D4D4"/>
                          </a:solidFill>
                          <a:latin typeface="Consolas"/>
                          <a:ea typeface="Consolas"/>
                          <a:cs typeface="Consolas"/>
                          <a:sym typeface="Consolas"/>
                        </a:rPr>
                        <a:t> = (</a:t>
                      </a:r>
                      <a:r>
                        <a:rPr lang="en-US" sz="900" u="none" strike="noStrike" cap="none" dirty="0">
                          <a:solidFill>
                            <a:srgbClr val="9CDCFE"/>
                          </a:solidFill>
                          <a:latin typeface="Consolas"/>
                          <a:ea typeface="Consolas"/>
                          <a:cs typeface="Consolas"/>
                          <a:sym typeface="Consolas"/>
                        </a:rPr>
                        <a:t>error</a:t>
                      </a:r>
                      <a:r>
                        <a:rPr lang="en-US" sz="900" u="none" strike="noStrike" cap="none" dirty="0">
                          <a:solidFill>
                            <a:srgbClr val="D4D4D4"/>
                          </a:solidFill>
                          <a:latin typeface="Consolas"/>
                          <a:ea typeface="Consolas"/>
                          <a:cs typeface="Consolas"/>
                          <a:sym typeface="Consolas"/>
                        </a:rPr>
                        <a:t>, </a:t>
                      </a:r>
                      <a:r>
                        <a:rPr lang="en-US" sz="900" u="none" strike="noStrike" cap="none" dirty="0">
                          <a:solidFill>
                            <a:srgbClr val="9CDCFE"/>
                          </a:solidFill>
                          <a:latin typeface="Consolas"/>
                          <a:ea typeface="Consolas"/>
                          <a:cs typeface="Consolas"/>
                          <a:sym typeface="Consolas"/>
                        </a:rPr>
                        <a:t>request</a:t>
                      </a:r>
                      <a:r>
                        <a:rPr lang="en-US" sz="900" u="none" strike="noStrike" cap="none" dirty="0">
                          <a:solidFill>
                            <a:srgbClr val="D4D4D4"/>
                          </a:solidFill>
                          <a:latin typeface="Consolas"/>
                          <a:ea typeface="Consolas"/>
                          <a:cs typeface="Consolas"/>
                          <a:sym typeface="Consolas"/>
                        </a:rPr>
                        <a:t>, </a:t>
                      </a:r>
                      <a:r>
                        <a:rPr lang="en-US" sz="900" u="none" strike="noStrike" cap="none" dirty="0">
                          <a:solidFill>
                            <a:srgbClr val="9CDCFE"/>
                          </a:solidFill>
                          <a:latin typeface="Consolas"/>
                          <a:ea typeface="Consolas"/>
                          <a:cs typeface="Consolas"/>
                          <a:sym typeface="Consolas"/>
                        </a:rPr>
                        <a:t>response</a:t>
                      </a:r>
                      <a:r>
                        <a:rPr lang="en-US" sz="900" u="none" strike="noStrike" cap="none" dirty="0">
                          <a:solidFill>
                            <a:srgbClr val="D4D4D4"/>
                          </a:solidFill>
                          <a:latin typeface="Consolas"/>
                          <a:ea typeface="Consolas"/>
                          <a:cs typeface="Consolas"/>
                          <a:sym typeface="Consolas"/>
                        </a:rPr>
                        <a:t>, </a:t>
                      </a:r>
                      <a:r>
                        <a:rPr lang="en-US" sz="900" u="none" strike="noStrike" cap="none" dirty="0">
                          <a:solidFill>
                            <a:srgbClr val="9CDCFE"/>
                          </a:solidFill>
                          <a:latin typeface="Consolas"/>
                          <a:ea typeface="Consolas"/>
                          <a:cs typeface="Consolas"/>
                          <a:sym typeface="Consolas"/>
                        </a:rPr>
                        <a:t>next</a:t>
                      </a:r>
                      <a:r>
                        <a:rPr lang="en-US" sz="900" u="none" strike="noStrike" cap="none" dirty="0">
                          <a:solidFill>
                            <a:srgbClr val="D4D4D4"/>
                          </a:solidFill>
                          <a:latin typeface="Consolas"/>
                          <a:ea typeface="Consolas"/>
                          <a:cs typeface="Consolas"/>
                          <a:sym typeface="Consolas"/>
                        </a:rPr>
                        <a:t>) </a:t>
                      </a:r>
                      <a:r>
                        <a:rPr lang="en-US" sz="900" u="none" strike="noStrike" cap="none" dirty="0">
                          <a:solidFill>
                            <a:srgbClr val="569CD6"/>
                          </a:solidFill>
                          <a:latin typeface="Consolas"/>
                          <a:ea typeface="Consolas"/>
                          <a:cs typeface="Consolas"/>
                          <a:sym typeface="Consolas"/>
                        </a:rPr>
                        <a:t>=&gt;</a:t>
                      </a:r>
                      <a:r>
                        <a:rPr lang="en-US" sz="900" u="none" strike="noStrike" cap="none" dirty="0">
                          <a:solidFill>
                            <a:srgbClr val="D4D4D4"/>
                          </a:solidFill>
                          <a:latin typeface="Consolas"/>
                          <a:ea typeface="Consolas"/>
                          <a:cs typeface="Consolas"/>
                          <a:sym typeface="Consolas"/>
                        </a:rPr>
                        <a:t> {</a:t>
                      </a:r>
                      <a:endParaRPr sz="9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900" u="none" strike="noStrike" cap="none" dirty="0">
                          <a:solidFill>
                            <a:srgbClr val="D4D4D4"/>
                          </a:solidFill>
                          <a:latin typeface="Consolas"/>
                          <a:ea typeface="Consolas"/>
                          <a:cs typeface="Consolas"/>
                          <a:sym typeface="Consolas"/>
                        </a:rPr>
                        <a:t>  </a:t>
                      </a:r>
                      <a:r>
                        <a:rPr lang="en-US" sz="900" u="none" strike="noStrike" cap="none" dirty="0">
                          <a:solidFill>
                            <a:srgbClr val="9CDCFE"/>
                          </a:solidFill>
                          <a:latin typeface="Consolas"/>
                          <a:ea typeface="Consolas"/>
                          <a:cs typeface="Consolas"/>
                          <a:sym typeface="Consolas"/>
                        </a:rPr>
                        <a:t>console</a:t>
                      </a:r>
                      <a:r>
                        <a:rPr lang="en-US" sz="900" u="none" strike="noStrike" cap="none" dirty="0">
                          <a:solidFill>
                            <a:srgbClr val="D4D4D4"/>
                          </a:solidFill>
                          <a:latin typeface="Consolas"/>
                          <a:ea typeface="Consolas"/>
                          <a:cs typeface="Consolas"/>
                          <a:sym typeface="Consolas"/>
                        </a:rPr>
                        <a:t>.</a:t>
                      </a:r>
                      <a:r>
                        <a:rPr lang="en-US" sz="900" u="none" strike="noStrike" cap="none" dirty="0">
                          <a:solidFill>
                            <a:srgbClr val="DCDCAA"/>
                          </a:solidFill>
                          <a:latin typeface="Consolas"/>
                          <a:ea typeface="Consolas"/>
                          <a:cs typeface="Consolas"/>
                          <a:sym typeface="Consolas"/>
                        </a:rPr>
                        <a:t>log</a:t>
                      </a:r>
                      <a:r>
                        <a:rPr lang="en-US" sz="900" u="none" strike="noStrike" cap="none" dirty="0">
                          <a:solidFill>
                            <a:srgbClr val="D4D4D4"/>
                          </a:solidFill>
                          <a:latin typeface="Consolas"/>
                          <a:ea typeface="Consolas"/>
                          <a:cs typeface="Consolas"/>
                          <a:sym typeface="Consolas"/>
                        </a:rPr>
                        <a:t>( </a:t>
                      </a:r>
                      <a:r>
                        <a:rPr lang="en-US" sz="900" u="none" strike="noStrike" cap="none" dirty="0">
                          <a:solidFill>
                            <a:srgbClr val="CE9178"/>
                          </a:solidFill>
                          <a:latin typeface="Consolas"/>
                          <a:ea typeface="Consolas"/>
                          <a:cs typeface="Consolas"/>
                          <a:sym typeface="Consolas"/>
                        </a:rPr>
                        <a:t>`error </a:t>
                      </a:r>
                      <a:r>
                        <a:rPr lang="en-US" sz="900" u="none" strike="noStrike" cap="none" dirty="0">
                          <a:solidFill>
                            <a:srgbClr val="569CD6"/>
                          </a:solidFill>
                          <a:latin typeface="Consolas"/>
                          <a:ea typeface="Consolas"/>
                          <a:cs typeface="Consolas"/>
                          <a:sym typeface="Consolas"/>
                        </a:rPr>
                        <a:t>${</a:t>
                      </a:r>
                      <a:r>
                        <a:rPr lang="en-US" sz="900" u="none" strike="noStrike" cap="none" dirty="0" err="1">
                          <a:solidFill>
                            <a:srgbClr val="9CDCFE"/>
                          </a:solidFill>
                          <a:latin typeface="Consolas"/>
                          <a:ea typeface="Consolas"/>
                          <a:cs typeface="Consolas"/>
                          <a:sym typeface="Consolas"/>
                        </a:rPr>
                        <a:t>err</a:t>
                      </a:r>
                      <a:r>
                        <a:rPr lang="en-US" sz="900" u="none" strike="noStrike" cap="none" dirty="0" err="1">
                          <a:solidFill>
                            <a:srgbClr val="D4D4D4"/>
                          </a:solidFill>
                          <a:latin typeface="Consolas"/>
                          <a:ea typeface="Consolas"/>
                          <a:cs typeface="Consolas"/>
                          <a:sym typeface="Consolas"/>
                        </a:rPr>
                        <a:t>.</a:t>
                      </a:r>
                      <a:r>
                        <a:rPr lang="en-US" sz="900" u="none" strike="noStrike" cap="none" dirty="0" err="1">
                          <a:solidFill>
                            <a:srgbClr val="9CDCFE"/>
                          </a:solidFill>
                          <a:latin typeface="Consolas"/>
                          <a:ea typeface="Consolas"/>
                          <a:cs typeface="Consolas"/>
                          <a:sym typeface="Consolas"/>
                        </a:rPr>
                        <a:t>message</a:t>
                      </a:r>
                      <a:r>
                        <a:rPr lang="en-US" sz="900" u="none" strike="noStrike" cap="none" dirty="0">
                          <a:solidFill>
                            <a:srgbClr val="569CD6"/>
                          </a:solidFill>
                          <a:latin typeface="Consolas"/>
                          <a:ea typeface="Consolas"/>
                          <a:cs typeface="Consolas"/>
                          <a:sym typeface="Consolas"/>
                        </a:rPr>
                        <a:t>}</a:t>
                      </a:r>
                      <a:r>
                        <a:rPr lang="en-US" sz="900" u="none" strike="noStrike" cap="none" dirty="0">
                          <a:solidFill>
                            <a:srgbClr val="CE9178"/>
                          </a:solidFill>
                          <a:latin typeface="Consolas"/>
                          <a:ea typeface="Consolas"/>
                          <a:cs typeface="Consolas"/>
                          <a:sym typeface="Consolas"/>
                        </a:rPr>
                        <a:t>`</a:t>
                      </a:r>
                      <a:r>
                        <a:rPr lang="en-US" sz="900" u="none" strike="noStrike" cap="none" dirty="0">
                          <a:solidFill>
                            <a:srgbClr val="D4D4D4"/>
                          </a:solidFill>
                          <a:latin typeface="Consolas"/>
                          <a:ea typeface="Consolas"/>
                          <a:cs typeface="Consolas"/>
                          <a:sym typeface="Consolas"/>
                        </a:rPr>
                        <a:t>) </a:t>
                      </a:r>
                      <a:endParaRPr sz="9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900" u="none" strike="noStrike" cap="none" dirty="0">
                          <a:solidFill>
                            <a:srgbClr val="D4D4D4"/>
                          </a:solidFill>
                          <a:latin typeface="Consolas"/>
                          <a:ea typeface="Consolas"/>
                          <a:cs typeface="Consolas"/>
                          <a:sym typeface="Consolas"/>
                        </a:rPr>
                        <a:t>  </a:t>
                      </a:r>
                      <a:r>
                        <a:rPr lang="en-US" sz="900" u="none" strike="noStrike" cap="none" dirty="0">
                          <a:solidFill>
                            <a:srgbClr val="DCDCAA"/>
                          </a:solidFill>
                          <a:latin typeface="Consolas"/>
                          <a:ea typeface="Consolas"/>
                          <a:cs typeface="Consolas"/>
                          <a:sym typeface="Consolas"/>
                        </a:rPr>
                        <a:t>next</a:t>
                      </a:r>
                      <a:r>
                        <a:rPr lang="en-US" sz="900" u="none" strike="noStrike" cap="none" dirty="0">
                          <a:solidFill>
                            <a:srgbClr val="D4D4D4"/>
                          </a:solidFill>
                          <a:latin typeface="Consolas"/>
                          <a:ea typeface="Consolas"/>
                          <a:cs typeface="Consolas"/>
                          <a:sym typeface="Consolas"/>
                        </a:rPr>
                        <a:t>(</a:t>
                      </a:r>
                      <a:r>
                        <a:rPr lang="en-US" sz="900" u="none" strike="noStrike" cap="none" dirty="0">
                          <a:solidFill>
                            <a:srgbClr val="9CDCFE"/>
                          </a:solidFill>
                          <a:latin typeface="Consolas"/>
                          <a:ea typeface="Consolas"/>
                          <a:cs typeface="Consolas"/>
                          <a:sym typeface="Consolas"/>
                        </a:rPr>
                        <a:t>error</a:t>
                      </a:r>
                      <a:r>
                        <a:rPr lang="en-US" sz="900" u="none" strike="noStrike" cap="none" dirty="0">
                          <a:solidFill>
                            <a:srgbClr val="D4D4D4"/>
                          </a:solidFill>
                          <a:latin typeface="Consolas"/>
                          <a:ea typeface="Consolas"/>
                          <a:cs typeface="Consolas"/>
                          <a:sym typeface="Consolas"/>
                        </a:rPr>
                        <a:t>) </a:t>
                      </a:r>
                      <a:r>
                        <a:rPr lang="en-US" sz="900" u="none" strike="noStrike" cap="none" dirty="0">
                          <a:solidFill>
                            <a:srgbClr val="6A9955"/>
                          </a:solidFill>
                          <a:latin typeface="Consolas"/>
                          <a:ea typeface="Consolas"/>
                          <a:cs typeface="Consolas"/>
                          <a:sym typeface="Consolas"/>
                        </a:rPr>
                        <a:t>// calling next middleware</a:t>
                      </a:r>
                      <a:endParaRPr sz="90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900" u="none" strike="noStrike" cap="none" dirty="0">
                          <a:solidFill>
                            <a:srgbClr val="D4D4D4"/>
                          </a:solidFill>
                          <a:latin typeface="Consolas"/>
                          <a:ea typeface="Consolas"/>
                          <a:cs typeface="Consolas"/>
                          <a:sym typeface="Consolas"/>
                        </a:rPr>
                        <a:t>}</a:t>
                      </a:r>
                      <a:endParaRPr sz="105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tc hMerge="1">
                  <a:txBody>
                    <a:bodyPr/>
                    <a:lstStyle/>
                    <a:p>
                      <a:endParaRPr lang="en-US"/>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56"/>
          <p:cNvSpPr txBox="1">
            <a:spLocks noGrp="1"/>
          </p:cNvSpPr>
          <p:nvPr>
            <p:ph type="title"/>
          </p:nvPr>
        </p:nvSpPr>
        <p:spPr>
          <a:xfrm>
            <a:off x="1066788" y="417131"/>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435" name="Google Shape;435;p56"/>
          <p:cNvSpPr txBox="1">
            <a:spLocks noGrp="1"/>
          </p:cNvSpPr>
          <p:nvPr>
            <p:ph type="ftr" sz="quarter" idx="11"/>
          </p:nvPr>
        </p:nvSpPr>
        <p:spPr>
          <a:xfrm>
            <a:off x="4277900" y="-10"/>
            <a:ext cx="4114800" cy="365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436" name="Google Shape;436;p56"/>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30</a:t>
            </a:fld>
            <a:endParaRPr/>
          </a:p>
        </p:txBody>
      </p:sp>
      <p:graphicFrame>
        <p:nvGraphicFramePr>
          <p:cNvPr id="437" name="Google Shape;437;p56"/>
          <p:cNvGraphicFramePr/>
          <p:nvPr>
            <p:extLst>
              <p:ext uri="{D42A27DB-BD31-4B8C-83A1-F6EECF244321}">
                <p14:modId xmlns:p14="http://schemas.microsoft.com/office/powerpoint/2010/main" val="898070148"/>
              </p:ext>
            </p:extLst>
          </p:nvPr>
        </p:nvGraphicFramePr>
        <p:xfrm>
          <a:off x="1066788" y="2054278"/>
          <a:ext cx="10816818" cy="4709100"/>
        </p:xfrm>
        <a:graphic>
          <a:graphicData uri="http://schemas.openxmlformats.org/drawingml/2006/table">
            <a:tbl>
              <a:tblPr>
                <a:noFill/>
                <a:tableStyleId>{99CD84AF-14CF-470D-B69C-EB98024C896D}</a:tableStyleId>
              </a:tblPr>
              <a:tblGrid>
                <a:gridCol w="3605606">
                  <a:extLst>
                    <a:ext uri="{9D8B030D-6E8A-4147-A177-3AD203B41FA5}">
                      <a16:colId xmlns:a16="http://schemas.microsoft.com/office/drawing/2014/main" val="20000"/>
                    </a:ext>
                  </a:extLst>
                </a:gridCol>
                <a:gridCol w="3605606">
                  <a:extLst>
                    <a:ext uri="{9D8B030D-6E8A-4147-A177-3AD203B41FA5}">
                      <a16:colId xmlns:a16="http://schemas.microsoft.com/office/drawing/2014/main" val="20001"/>
                    </a:ext>
                  </a:extLst>
                </a:gridCol>
                <a:gridCol w="3605606">
                  <a:extLst>
                    <a:ext uri="{9D8B030D-6E8A-4147-A177-3AD203B41FA5}">
                      <a16:colId xmlns:a16="http://schemas.microsoft.com/office/drawing/2014/main" val="20002"/>
                    </a:ext>
                  </a:extLst>
                </a:gridCol>
              </a:tblGrid>
              <a:tr h="350150">
                <a:tc gridSpan="3">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1200" u="none" strike="noStrike" cap="none">
                          <a:latin typeface="Times New Roman"/>
                          <a:ea typeface="Times New Roman"/>
                          <a:cs typeface="Times New Roman"/>
                          <a:sym typeface="Times New Roman"/>
                        </a:rPr>
                        <a:t>Let us define three middleware error handling functions and add them to our routes. We have also added a new route that will throw an error as shown below:</a:t>
                      </a:r>
                      <a:endParaRPr sz="1200" u="none" strike="noStrike" cap="none">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50150">
                <a:tc gridSpan="2">
                  <a:txBody>
                    <a:bodyPr/>
                    <a:lstStyle/>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6A9955"/>
                          </a:solidFill>
                          <a:latin typeface="Consolas"/>
                          <a:ea typeface="Consolas"/>
                          <a:cs typeface="Consolas"/>
                          <a:sym typeface="Consolas"/>
                        </a:rPr>
                        <a:t>// Error handling Middleware functions</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569CD6"/>
                          </a:solidFill>
                          <a:latin typeface="Consolas"/>
                          <a:ea typeface="Consolas"/>
                          <a:cs typeface="Consolas"/>
                          <a:sym typeface="Consolas"/>
                        </a:rPr>
                        <a:t>const</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DCDCAA"/>
                          </a:solidFill>
                          <a:latin typeface="Consolas"/>
                          <a:ea typeface="Consolas"/>
                          <a:cs typeface="Consolas"/>
                          <a:sym typeface="Consolas"/>
                        </a:rPr>
                        <a:t>errorLogger</a:t>
                      </a:r>
                      <a:r>
                        <a:rPr lang="en-US" sz="1050" u="none" strike="noStrike" cap="none" dirty="0">
                          <a:solidFill>
                            <a:srgbClr val="D4D4D4"/>
                          </a:solidFill>
                          <a:latin typeface="Consolas"/>
                          <a:ea typeface="Consolas"/>
                          <a:cs typeface="Consolas"/>
                          <a:sym typeface="Consolas"/>
                        </a:rPr>
                        <a:t> = (</a:t>
                      </a:r>
                      <a:r>
                        <a:rPr lang="en-US" sz="1050" u="none" strike="noStrike" cap="none" dirty="0">
                          <a:solidFill>
                            <a:srgbClr val="9CDCFE"/>
                          </a:solidFill>
                          <a:latin typeface="Consolas"/>
                          <a:ea typeface="Consolas"/>
                          <a:cs typeface="Consolas"/>
                          <a:sym typeface="Consolas"/>
                        </a:rPr>
                        <a:t>error</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request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response</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next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=&gt;</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console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CDCAA"/>
                          </a:solidFill>
                          <a:latin typeface="Consolas"/>
                          <a:ea typeface="Consolas"/>
                          <a:cs typeface="Consolas"/>
                          <a:sym typeface="Consolas"/>
                        </a:rPr>
                        <a:t>log</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`error </a:t>
                      </a:r>
                      <a:r>
                        <a:rPr lang="en-US" sz="1050" u="none" strike="noStrike" cap="none" dirty="0">
                          <a:solidFill>
                            <a:srgbClr val="569CD6"/>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error</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message</a:t>
                      </a:r>
                      <a:r>
                        <a:rPr lang="en-US" sz="1050" u="none" strike="noStrike" cap="none" dirty="0">
                          <a:solidFill>
                            <a:srgbClr val="569CD6"/>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DCDCAA"/>
                          </a:solidFill>
                          <a:latin typeface="Consolas"/>
                          <a:ea typeface="Consolas"/>
                          <a:cs typeface="Consolas"/>
                          <a:sym typeface="Consolas"/>
                        </a:rPr>
                        <a:t>next</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error</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6A9955"/>
                          </a:solidFill>
                          <a:latin typeface="Consolas"/>
                          <a:ea typeface="Consolas"/>
                          <a:cs typeface="Consolas"/>
                          <a:sym typeface="Consolas"/>
                        </a:rPr>
                        <a:t>// calling next middleware</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569CD6"/>
                          </a:solidFill>
                          <a:latin typeface="Consolas"/>
                          <a:ea typeface="Consolas"/>
                          <a:cs typeface="Consolas"/>
                          <a:sym typeface="Consolas"/>
                        </a:rPr>
                        <a:t>const</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DCDCAA"/>
                          </a:solidFill>
                          <a:latin typeface="Consolas"/>
                          <a:ea typeface="Consolas"/>
                          <a:cs typeface="Consolas"/>
                          <a:sym typeface="Consolas"/>
                        </a:rPr>
                        <a:t>errorResponder</a:t>
                      </a:r>
                      <a:r>
                        <a:rPr lang="en-US" sz="1050" u="none" strike="noStrike" cap="none" dirty="0">
                          <a:solidFill>
                            <a:srgbClr val="D4D4D4"/>
                          </a:solidFill>
                          <a:latin typeface="Consolas"/>
                          <a:ea typeface="Consolas"/>
                          <a:cs typeface="Consolas"/>
                          <a:sym typeface="Consolas"/>
                        </a:rPr>
                        <a:t> = (</a:t>
                      </a:r>
                      <a:r>
                        <a:rPr lang="en-US" sz="1050" u="none" strike="noStrike" cap="none" dirty="0">
                          <a:solidFill>
                            <a:srgbClr val="9CDCFE"/>
                          </a:solidFill>
                          <a:latin typeface="Consolas"/>
                          <a:ea typeface="Consolas"/>
                          <a:cs typeface="Consolas"/>
                          <a:sym typeface="Consolas"/>
                        </a:rPr>
                        <a:t>error</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request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response</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next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=&gt;</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response</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header</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"Content-Type"</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E9178"/>
                          </a:solidFill>
                          <a:latin typeface="Consolas"/>
                          <a:ea typeface="Consolas"/>
                          <a:cs typeface="Consolas"/>
                          <a:sym typeface="Consolas"/>
                        </a:rPr>
                        <a:t>'application/</a:t>
                      </a:r>
                      <a:r>
                        <a:rPr lang="en-US" sz="1050" u="none" strike="noStrike" cap="none" dirty="0" err="1">
                          <a:solidFill>
                            <a:srgbClr val="CE9178"/>
                          </a:solidFill>
                          <a:latin typeface="Consolas"/>
                          <a:ea typeface="Consolas"/>
                          <a:cs typeface="Consolas"/>
                          <a:sym typeface="Consolas"/>
                        </a:rPr>
                        <a:t>json</a:t>
                      </a:r>
                      <a:r>
                        <a:rPr lang="en-US" sz="1050" u="none" strike="noStrike" cap="none" dirty="0">
                          <a:solidFill>
                            <a:srgbClr val="CE9178"/>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const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4FC1FF"/>
                          </a:solidFill>
                          <a:latin typeface="Consolas"/>
                          <a:ea typeface="Consolas"/>
                          <a:cs typeface="Consolas"/>
                          <a:sym typeface="Consolas"/>
                        </a:rPr>
                        <a:t>status</a:t>
                      </a:r>
                      <a:r>
                        <a:rPr lang="en-US" sz="1050" u="none" strike="noStrike" cap="none" dirty="0">
                          <a:solidFill>
                            <a:srgbClr val="D4D4D4"/>
                          </a:solidFill>
                          <a:latin typeface="Consolas"/>
                          <a:ea typeface="Consolas"/>
                          <a:cs typeface="Consolas"/>
                          <a:sym typeface="Consolas"/>
                        </a:rPr>
                        <a:t> = </a:t>
                      </a:r>
                      <a:r>
                        <a:rPr lang="en-US" sz="1050" u="none" strike="noStrike" cap="none" dirty="0" err="1">
                          <a:solidFill>
                            <a:srgbClr val="9CDCFE"/>
                          </a:solidFill>
                          <a:latin typeface="Consolas"/>
                          <a:ea typeface="Consolas"/>
                          <a:cs typeface="Consolas"/>
                          <a:sym typeface="Consolas"/>
                        </a:rPr>
                        <a:t>error</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status</a:t>
                      </a:r>
                      <a:r>
                        <a:rPr lang="en-US" sz="1050" u="none" strike="noStrike" cap="none" dirty="0">
                          <a:solidFill>
                            <a:srgbClr val="D4D4D4"/>
                          </a:solidFill>
                          <a:latin typeface="Consolas"/>
                          <a:ea typeface="Consolas"/>
                          <a:cs typeface="Consolas"/>
                          <a:sym typeface="Consolas"/>
                        </a:rPr>
                        <a:t> || </a:t>
                      </a:r>
                      <a:r>
                        <a:rPr lang="en-US" sz="1050" u="none" strike="noStrike" cap="none" dirty="0">
                          <a:solidFill>
                            <a:srgbClr val="B5CEA8"/>
                          </a:solidFill>
                          <a:latin typeface="Consolas"/>
                          <a:ea typeface="Consolas"/>
                          <a:cs typeface="Consolas"/>
                          <a:sym typeface="Consolas"/>
                        </a:rPr>
                        <a:t>400</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response</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status</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4FC1FF"/>
                          </a:solidFill>
                          <a:latin typeface="Consolas"/>
                          <a:ea typeface="Consolas"/>
                          <a:cs typeface="Consolas"/>
                          <a:sym typeface="Consolas"/>
                        </a:rPr>
                        <a:t>status</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CDCAA"/>
                          </a:solidFill>
                          <a:latin typeface="Consolas"/>
                          <a:ea typeface="Consolas"/>
                          <a:cs typeface="Consolas"/>
                          <a:sym typeface="Consolas"/>
                        </a:rPr>
                        <a:t>send</a:t>
                      </a:r>
                      <a:r>
                        <a:rPr lang="en-US" sz="1050" u="none" strike="noStrike" cap="none" dirty="0">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error</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message</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569CD6"/>
                          </a:solidFill>
                          <a:latin typeface="Consolas"/>
                          <a:ea typeface="Consolas"/>
                          <a:cs typeface="Consolas"/>
                          <a:sym typeface="Consolas"/>
                        </a:rPr>
                        <a:t>const</a:t>
                      </a: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DCDCAA"/>
                          </a:solidFill>
                          <a:latin typeface="Consolas"/>
                          <a:ea typeface="Consolas"/>
                          <a:cs typeface="Consolas"/>
                          <a:sym typeface="Consolas"/>
                        </a:rPr>
                        <a:t>invalidPathHandler</a:t>
                      </a:r>
                      <a:r>
                        <a:rPr lang="en-US" sz="1050" u="none" strike="noStrike" cap="none" dirty="0">
                          <a:solidFill>
                            <a:srgbClr val="D4D4D4"/>
                          </a:solidFill>
                          <a:latin typeface="Consolas"/>
                          <a:ea typeface="Consolas"/>
                          <a:cs typeface="Consolas"/>
                          <a:sym typeface="Consolas"/>
                        </a:rPr>
                        <a:t> = (</a:t>
                      </a:r>
                      <a:r>
                        <a:rPr lang="en-US" sz="1050" u="none" strike="noStrike" cap="none" dirty="0">
                          <a:solidFill>
                            <a:srgbClr val="9CDCFE"/>
                          </a:solidFill>
                          <a:latin typeface="Consolas"/>
                          <a:ea typeface="Consolas"/>
                          <a:cs typeface="Consolas"/>
                          <a:sym typeface="Consolas"/>
                        </a:rPr>
                        <a:t>request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response</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next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=&gt;</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response</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status</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B5CEA8"/>
                          </a:solidFill>
                          <a:latin typeface="Consolas"/>
                          <a:ea typeface="Consolas"/>
                          <a:cs typeface="Consolas"/>
                          <a:sym typeface="Consolas"/>
                        </a:rPr>
                        <a:t>400</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response</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send</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'invalid path'</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9CDCFE"/>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get</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'product'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request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response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569CD6"/>
                          </a:solidFill>
                          <a:latin typeface="Consolas"/>
                          <a:ea typeface="Consolas"/>
                          <a:cs typeface="Consolas"/>
                          <a:sym typeface="Consolas"/>
                        </a:rPr>
                        <a:t>=&gt;</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response</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sendFile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"productsample.html"</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6A9955"/>
                          </a:solidFill>
                          <a:latin typeface="Consolas"/>
                          <a:ea typeface="Consolas"/>
                          <a:cs typeface="Consolas"/>
                          <a:sym typeface="Consolas"/>
                        </a:rPr>
                        <a:t>// handle get request for path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9CDCFE"/>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get</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request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response</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=&gt;</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response</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send</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'response for GET request'</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569CD6"/>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tc h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9CDCFE"/>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get</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a:t>
                      </a:r>
                      <a:r>
                        <a:rPr lang="en-US" sz="1050" u="none" strike="noStrike" cap="none" dirty="0" err="1">
                          <a:solidFill>
                            <a:srgbClr val="CE9178"/>
                          </a:solidFill>
                          <a:latin typeface="Consolas"/>
                          <a:ea typeface="Consolas"/>
                          <a:cs typeface="Consolas"/>
                          <a:sym typeface="Consolas"/>
                        </a:rPr>
                        <a:t>productswitherror</a:t>
                      </a:r>
                      <a:r>
                        <a:rPr lang="en-US" sz="1050" u="none" strike="noStrike" cap="none" dirty="0">
                          <a:solidFill>
                            <a:srgbClr val="CE9178"/>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request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response</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=&gt;</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569CD6"/>
                          </a:solidFill>
                          <a:latin typeface="Consolas"/>
                          <a:ea typeface="Consolas"/>
                          <a:cs typeface="Consolas"/>
                          <a:sym typeface="Consolas"/>
                        </a:rPr>
                        <a:t>let</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error</a:t>
                      </a:r>
                      <a:r>
                        <a:rPr lang="en-US" sz="1050" u="none" strike="noStrike" cap="none" dirty="0">
                          <a:solidFill>
                            <a:srgbClr val="D4D4D4"/>
                          </a:solidFill>
                          <a:latin typeface="Consolas"/>
                          <a:ea typeface="Consolas"/>
                          <a:cs typeface="Consolas"/>
                          <a:sym typeface="Consolas"/>
                        </a:rPr>
                        <a:t> = </a:t>
                      </a:r>
                      <a:r>
                        <a:rPr lang="en-US" sz="1050" u="none" strike="noStrike" cap="none" dirty="0">
                          <a:solidFill>
                            <a:srgbClr val="569CD6"/>
                          </a:solidFill>
                          <a:latin typeface="Consolas"/>
                          <a:ea typeface="Consolas"/>
                          <a:cs typeface="Consolas"/>
                          <a:sym typeface="Consolas"/>
                        </a:rPr>
                        <a:t>new</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4EC9B0"/>
                          </a:solidFill>
                          <a:latin typeface="Consolas"/>
                          <a:ea typeface="Consolas"/>
                          <a:cs typeface="Consolas"/>
                          <a:sym typeface="Consolas"/>
                        </a:rPr>
                        <a:t>Error</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`processing error in request at </a:t>
                      </a:r>
                      <a:r>
                        <a:rPr lang="en-US" sz="1050" u="none" strike="noStrike" cap="none" dirty="0">
                          <a:solidFill>
                            <a:srgbClr val="569CD6"/>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request</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9CDCFE"/>
                          </a:solidFill>
                          <a:latin typeface="Consolas"/>
                          <a:ea typeface="Consolas"/>
                          <a:cs typeface="Consolas"/>
                          <a:sym typeface="Consolas"/>
                        </a:rPr>
                        <a:t>url</a:t>
                      </a:r>
                      <a:r>
                        <a:rPr lang="en-US" sz="1050" u="none" strike="noStrike" cap="none" dirty="0">
                          <a:solidFill>
                            <a:srgbClr val="569CD6"/>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err="1">
                          <a:solidFill>
                            <a:srgbClr val="9CDCFE"/>
                          </a:solidFill>
                          <a:latin typeface="Consolas"/>
                          <a:ea typeface="Consolas"/>
                          <a:cs typeface="Consolas"/>
                          <a:sym typeface="Consolas"/>
                        </a:rPr>
                        <a:t>error</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9CDCFE"/>
                          </a:solidFill>
                          <a:latin typeface="Consolas"/>
                          <a:ea typeface="Consolas"/>
                          <a:cs typeface="Consolas"/>
                          <a:sym typeface="Consolas"/>
                        </a:rPr>
                        <a:t>statusCode</a:t>
                      </a:r>
                      <a:r>
                        <a:rPr lang="en-US" sz="1050" u="none" strike="noStrike" cap="none" dirty="0">
                          <a:solidFill>
                            <a:srgbClr val="D4D4D4"/>
                          </a:solidFill>
                          <a:latin typeface="Consolas"/>
                          <a:ea typeface="Consolas"/>
                          <a:cs typeface="Consolas"/>
                          <a:sym typeface="Consolas"/>
                        </a:rPr>
                        <a:t> = </a:t>
                      </a:r>
                      <a:r>
                        <a:rPr lang="en-US" sz="1050" u="none" strike="noStrike" cap="none" dirty="0">
                          <a:solidFill>
                            <a:srgbClr val="B5CEA8"/>
                          </a:solidFill>
                          <a:latin typeface="Consolas"/>
                          <a:ea typeface="Consolas"/>
                          <a:cs typeface="Consolas"/>
                          <a:sym typeface="Consolas"/>
                        </a:rPr>
                        <a:t>400</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C586C0"/>
                          </a:solidFill>
                          <a:latin typeface="Consolas"/>
                          <a:ea typeface="Consolas"/>
                          <a:cs typeface="Consolas"/>
                          <a:sym typeface="Consolas"/>
                        </a:rPr>
                        <a:t>throw</a:t>
                      </a: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error</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9CDCFE"/>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use</a:t>
                      </a:r>
                      <a:r>
                        <a:rPr lang="en-US" sz="1050" u="none" strike="noStrike" cap="none" dirty="0">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errorLogger</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9CDCFE"/>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use</a:t>
                      </a:r>
                      <a:r>
                        <a:rPr lang="en-US" sz="1050" u="none" strike="noStrike" cap="none" dirty="0">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errorResponder</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9CDCFE"/>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use</a:t>
                      </a:r>
                      <a:r>
                        <a:rPr lang="en-US" sz="1050" u="none" strike="noStrike" cap="none" dirty="0">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invalidPathHandler</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err="1">
                          <a:solidFill>
                            <a:srgbClr val="9CDCFE"/>
                          </a:solidFill>
                          <a:latin typeface="Consolas"/>
                          <a:ea typeface="Consolas"/>
                          <a:cs typeface="Consolas"/>
                          <a:sym typeface="Consolas"/>
                        </a:rPr>
                        <a:t>app</a:t>
                      </a:r>
                      <a:r>
                        <a:rPr lang="en-US" sz="1050" u="none" strike="noStrike" cap="none" dirty="0" err="1">
                          <a:solidFill>
                            <a:srgbClr val="D4D4D4"/>
                          </a:solidFill>
                          <a:latin typeface="Consolas"/>
                          <a:ea typeface="Consolas"/>
                          <a:cs typeface="Consolas"/>
                          <a:sym typeface="Consolas"/>
                        </a:rPr>
                        <a:t>.</a:t>
                      </a:r>
                      <a:r>
                        <a:rPr lang="en-US" sz="1050" u="none" strike="noStrike" cap="none" dirty="0" err="1">
                          <a:solidFill>
                            <a:srgbClr val="DCDCAA"/>
                          </a:solidFill>
                          <a:latin typeface="Consolas"/>
                          <a:ea typeface="Consolas"/>
                          <a:cs typeface="Consolas"/>
                          <a:sym typeface="Consolas"/>
                        </a:rPr>
                        <a:t>listen</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4FC1FF"/>
                          </a:solidFill>
                          <a:latin typeface="Consolas"/>
                          <a:ea typeface="Consolas"/>
                          <a:cs typeface="Consolas"/>
                          <a:sym typeface="Consolas"/>
                        </a:rPr>
                        <a:t>PORT</a:t>
                      </a:r>
                      <a:r>
                        <a:rPr lang="en-US" sz="1050" u="none" strike="noStrike" cap="none" dirty="0">
                          <a:solidFill>
                            <a:srgbClr val="D4D4D4"/>
                          </a:solidFill>
                          <a:latin typeface="Consolas"/>
                          <a:ea typeface="Consolas"/>
                          <a:cs typeface="Consolas"/>
                          <a:sym typeface="Consolas"/>
                        </a:rPr>
                        <a:t>, () </a:t>
                      </a:r>
                      <a:r>
                        <a:rPr lang="en-US" sz="1050" u="none" strike="noStrike" cap="none" dirty="0">
                          <a:solidFill>
                            <a:srgbClr val="569CD6"/>
                          </a:solidFill>
                          <a:latin typeface="Consolas"/>
                          <a:ea typeface="Consolas"/>
                          <a:cs typeface="Consolas"/>
                          <a:sym typeface="Consolas"/>
                        </a:rPr>
                        <a:t>=&gt;</a:t>
                      </a:r>
                      <a:r>
                        <a:rPr lang="en-US" sz="1050" u="none" strike="noStrike" cap="none" dirty="0">
                          <a:solidFill>
                            <a:srgbClr val="D4D4D4"/>
                          </a:solidFill>
                          <a:latin typeface="Consolas"/>
                          <a:ea typeface="Consolas"/>
                          <a:cs typeface="Consolas"/>
                          <a:sym typeface="Consolas"/>
                        </a:rPr>
                        <a:t> {</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  </a:t>
                      </a:r>
                      <a:r>
                        <a:rPr lang="en-US" sz="1050" u="none" strike="noStrike" cap="none" dirty="0">
                          <a:solidFill>
                            <a:srgbClr val="9CDCFE"/>
                          </a:solidFill>
                          <a:latin typeface="Consolas"/>
                          <a:ea typeface="Consolas"/>
                          <a:cs typeface="Consolas"/>
                          <a:sym typeface="Consolas"/>
                        </a:rPr>
                        <a:t>console</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DCDCAA"/>
                          </a:solidFill>
                          <a:latin typeface="Consolas"/>
                          <a:ea typeface="Consolas"/>
                          <a:cs typeface="Consolas"/>
                          <a:sym typeface="Consolas"/>
                        </a:rPr>
                        <a:t>log</a:t>
                      </a:r>
                      <a:r>
                        <a:rPr lang="en-US" sz="1050" u="none" strike="noStrike" cap="none" dirty="0">
                          <a:solidFill>
                            <a:srgbClr val="D4D4D4"/>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`Server listening at http://localhost:</a:t>
                      </a:r>
                      <a:r>
                        <a:rPr lang="en-US" sz="1050" u="none" strike="noStrike" cap="none" dirty="0">
                          <a:solidFill>
                            <a:srgbClr val="569CD6"/>
                          </a:solidFill>
                          <a:latin typeface="Consolas"/>
                          <a:ea typeface="Consolas"/>
                          <a:cs typeface="Consolas"/>
                          <a:sym typeface="Consolas"/>
                        </a:rPr>
                        <a:t>${</a:t>
                      </a:r>
                      <a:r>
                        <a:rPr lang="en-US" sz="1050" u="none" strike="noStrike" cap="none" dirty="0">
                          <a:solidFill>
                            <a:srgbClr val="4FC1FF"/>
                          </a:solidFill>
                          <a:latin typeface="Consolas"/>
                          <a:ea typeface="Consolas"/>
                          <a:cs typeface="Consolas"/>
                          <a:sym typeface="Consolas"/>
                        </a:rPr>
                        <a:t>PORT</a:t>
                      </a:r>
                      <a:r>
                        <a:rPr lang="en-US" sz="1050" u="none" strike="noStrike" cap="none" dirty="0">
                          <a:solidFill>
                            <a:srgbClr val="569CD6"/>
                          </a:solidFill>
                          <a:latin typeface="Consolas"/>
                          <a:ea typeface="Consolas"/>
                          <a:cs typeface="Consolas"/>
                          <a:sym typeface="Consolas"/>
                        </a:rPr>
                        <a:t>}</a:t>
                      </a:r>
                      <a:r>
                        <a:rPr lang="en-US" sz="1050" u="none" strike="noStrike" cap="none" dirty="0">
                          <a:solidFill>
                            <a:srgbClr val="CE9178"/>
                          </a:solidFill>
                          <a:latin typeface="Consolas"/>
                          <a:ea typeface="Consolas"/>
                          <a:cs typeface="Consolas"/>
                          <a:sym typeface="Consolas"/>
                        </a:rPr>
                        <a:t>`</a:t>
                      </a: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r>
                        <a:rPr lang="en-US" sz="1050" u="none" strike="noStrike" cap="none" dirty="0">
                          <a:solidFill>
                            <a:srgbClr val="D4D4D4"/>
                          </a:solidFill>
                          <a:latin typeface="Consolas"/>
                          <a:ea typeface="Consolas"/>
                          <a:cs typeface="Consolas"/>
                          <a:sym typeface="Consolas"/>
                        </a:rPr>
                        <a:t>})</a:t>
                      </a:r>
                      <a:endParaRPr sz="1050" u="none" strike="noStrike" cap="none" dirty="0">
                        <a:solidFill>
                          <a:srgbClr val="D4D4D4"/>
                        </a:solidFill>
                        <a:latin typeface="Consolas"/>
                        <a:ea typeface="Consolas"/>
                        <a:cs typeface="Consolas"/>
                        <a:sym typeface="Consolas"/>
                      </a:endParaRPr>
                    </a:p>
                    <a:p>
                      <a:pPr marL="0" marR="0" lvl="0" indent="0" algn="l" rtl="0">
                        <a:lnSpc>
                          <a:spcPct val="100000"/>
                        </a:lnSpc>
                        <a:spcBef>
                          <a:spcPts val="0"/>
                        </a:spcBef>
                        <a:spcAft>
                          <a:spcPts val="0"/>
                        </a:spcAft>
                        <a:buClr>
                          <a:srgbClr val="000000"/>
                        </a:buClr>
                        <a:buSzPts val="1050"/>
                        <a:buFont typeface="Arial"/>
                        <a:buNone/>
                      </a:pPr>
                      <a:endParaRPr sz="1050" u="none" strike="noStrike" cap="none" dirty="0">
                        <a:solidFill>
                          <a:srgbClr val="6A9955"/>
                        </a:solidFill>
                        <a:latin typeface="Consolas"/>
                        <a:ea typeface="Consolas"/>
                        <a:cs typeface="Consolas"/>
                        <a:sym typeface="Consolas"/>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dk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57"/>
          <p:cNvSpPr txBox="1">
            <a:spLocks noGrp="1"/>
          </p:cNvSpPr>
          <p:nvPr>
            <p:ph type="title"/>
          </p:nvPr>
        </p:nvSpPr>
        <p:spPr>
          <a:xfrm>
            <a:off x="1066788" y="469156"/>
            <a:ext cx="10058400" cy="6213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FFFFFF"/>
              </a:buClr>
              <a:buSzPts val="7200"/>
              <a:buFont typeface="Arial"/>
              <a:buNone/>
            </a:pPr>
            <a:r>
              <a:rPr lang="en-US" sz="2900"/>
              <a:t>Introduction to Express JS</a:t>
            </a:r>
            <a:endParaRPr sz="3300"/>
          </a:p>
        </p:txBody>
      </p:sp>
      <p:sp>
        <p:nvSpPr>
          <p:cNvPr id="443" name="Google Shape;443;p57"/>
          <p:cNvSpPr txBox="1">
            <a:spLocks noGrp="1"/>
          </p:cNvSpPr>
          <p:nvPr>
            <p:ph type="ftr" sz="quarte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a:t>
            </a:r>
            <a:r>
              <a:rPr lang="en-US" b="1">
                <a:solidFill>
                  <a:schemeClr val="accent1"/>
                </a:solidFill>
              </a:rPr>
              <a:t>/</a:t>
            </a:r>
            <a:r>
              <a:rPr lang="en-US"/>
              <a:t>MERN Stack</a:t>
            </a:r>
            <a:endParaRPr/>
          </a:p>
        </p:txBody>
      </p:sp>
      <p:sp>
        <p:nvSpPr>
          <p:cNvPr id="444" name="Google Shape;444;p57"/>
          <p:cNvSpPr txBox="1">
            <a:spLocks noGrp="1"/>
          </p:cNvSpPr>
          <p:nvPr>
            <p:ph type="sldNum" sz="quarter"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31</a:t>
            </a:fld>
            <a:endParaRPr/>
          </a:p>
        </p:txBody>
      </p:sp>
      <p:graphicFrame>
        <p:nvGraphicFramePr>
          <p:cNvPr id="445" name="Google Shape;445;p57"/>
          <p:cNvGraphicFramePr/>
          <p:nvPr>
            <p:extLst>
              <p:ext uri="{D42A27DB-BD31-4B8C-83A1-F6EECF244321}">
                <p14:modId xmlns:p14="http://schemas.microsoft.com/office/powerpoint/2010/main" val="1176238336"/>
              </p:ext>
            </p:extLst>
          </p:nvPr>
        </p:nvGraphicFramePr>
        <p:xfrm>
          <a:off x="1066788" y="2128087"/>
          <a:ext cx="10816818" cy="3840450"/>
        </p:xfrm>
        <a:graphic>
          <a:graphicData uri="http://schemas.openxmlformats.org/drawingml/2006/table">
            <a:tbl>
              <a:tblPr>
                <a:noFill/>
                <a:tableStyleId>{99CD84AF-14CF-470D-B69C-EB98024C896D}</a:tableStyleId>
              </a:tblPr>
              <a:tblGrid>
                <a:gridCol w="5408409">
                  <a:extLst>
                    <a:ext uri="{9D8B030D-6E8A-4147-A177-3AD203B41FA5}">
                      <a16:colId xmlns:a16="http://schemas.microsoft.com/office/drawing/2014/main" val="20000"/>
                    </a:ext>
                  </a:extLst>
                </a:gridCol>
                <a:gridCol w="5408409">
                  <a:extLst>
                    <a:ext uri="{9D8B030D-6E8A-4147-A177-3AD203B41FA5}">
                      <a16:colId xmlns:a16="http://schemas.microsoft.com/office/drawing/2014/main" val="20001"/>
                    </a:ext>
                  </a:extLst>
                </a:gridCol>
              </a:tblGrid>
              <a:tr h="350150">
                <a:tc gridSpan="2">
                  <a:txBody>
                    <a:bodyPr/>
                    <a:lstStyle/>
                    <a:p>
                      <a:pPr marL="457200" marR="0" lvl="0" indent="-304800" algn="l" rtl="0">
                        <a:lnSpc>
                          <a:spcPct val="100000"/>
                        </a:lnSpc>
                        <a:spcBef>
                          <a:spcPts val="0"/>
                        </a:spcBef>
                        <a:spcAft>
                          <a:spcPts val="0"/>
                        </a:spcAft>
                        <a:buClr>
                          <a:srgbClr val="000000"/>
                        </a:buClr>
                        <a:buSzPts val="1200"/>
                        <a:buFont typeface="Noto Sans Symbols"/>
                        <a:buChar char="●"/>
                      </a:pPr>
                      <a:r>
                        <a:rPr lang="en-US" sz="2000" u="none" strike="noStrike" cap="none" dirty="0">
                          <a:latin typeface="Times New Roman"/>
                          <a:ea typeface="Times New Roman"/>
                          <a:cs typeface="Times New Roman"/>
                          <a:sym typeface="Times New Roman"/>
                        </a:rPr>
                        <a:t>These middleware error handling functions perform different tasks: </a:t>
                      </a:r>
                      <a:r>
                        <a:rPr lang="en-US" sz="2000" u="none" strike="noStrike" cap="none" dirty="0" err="1">
                          <a:latin typeface="Times New Roman"/>
                          <a:ea typeface="Times New Roman"/>
                          <a:cs typeface="Times New Roman"/>
                          <a:sym typeface="Times New Roman"/>
                        </a:rPr>
                        <a:t>errorLogger</a:t>
                      </a:r>
                      <a:r>
                        <a:rPr lang="en-US" sz="2000" u="none" strike="noStrike" cap="none" dirty="0">
                          <a:latin typeface="Times New Roman"/>
                          <a:ea typeface="Times New Roman"/>
                          <a:cs typeface="Times New Roman"/>
                          <a:sym typeface="Times New Roman"/>
                        </a:rPr>
                        <a:t> logs the error </a:t>
                      </a:r>
                      <a:r>
                        <a:rPr lang="en-US" sz="2000" u="none" strike="noStrike" cap="none" dirty="0" err="1">
                          <a:latin typeface="Times New Roman"/>
                          <a:ea typeface="Times New Roman"/>
                          <a:cs typeface="Times New Roman"/>
                          <a:sym typeface="Times New Roman"/>
                        </a:rPr>
                        <a:t>message,errorResponder</a:t>
                      </a:r>
                      <a:r>
                        <a:rPr lang="en-US" sz="2000" u="none" strike="noStrike" cap="none" dirty="0">
                          <a:latin typeface="Times New Roman"/>
                          <a:ea typeface="Times New Roman"/>
                          <a:cs typeface="Times New Roman"/>
                          <a:sym typeface="Times New Roman"/>
                        </a:rPr>
                        <a:t> sends the error response to the client, and </a:t>
                      </a:r>
                      <a:r>
                        <a:rPr lang="en-US" sz="2000" u="none" strike="noStrike" cap="none" dirty="0" err="1">
                          <a:latin typeface="Times New Roman"/>
                          <a:ea typeface="Times New Roman"/>
                          <a:cs typeface="Times New Roman"/>
                          <a:sym typeface="Times New Roman"/>
                        </a:rPr>
                        <a:t>invalidPathHandler</a:t>
                      </a:r>
                      <a:r>
                        <a:rPr lang="en-US" sz="2000" u="none" strike="noStrike" cap="none" dirty="0">
                          <a:latin typeface="Times New Roman"/>
                          <a:ea typeface="Times New Roman"/>
                          <a:cs typeface="Times New Roman"/>
                          <a:sym typeface="Times New Roman"/>
                        </a:rPr>
                        <a:t> responds with a message for invalid path when a non-existing route is requested.</a:t>
                      </a:r>
                      <a:endParaRPr sz="20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2000" u="none" strike="noStrike" cap="none" dirty="0">
                          <a:latin typeface="Times New Roman"/>
                          <a:ea typeface="Times New Roman"/>
                          <a:cs typeface="Times New Roman"/>
                          <a:sym typeface="Times New Roman"/>
                        </a:rPr>
                        <a:t>We have next attached these three middleware functions for handling errors to the app object by calling the use() method after the route definitions.</a:t>
                      </a:r>
                      <a:endParaRPr sz="20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2000" u="none" strike="noStrike" cap="none" dirty="0">
                          <a:latin typeface="Times New Roman"/>
                          <a:ea typeface="Times New Roman"/>
                          <a:cs typeface="Times New Roman"/>
                          <a:sym typeface="Times New Roman"/>
                        </a:rPr>
                        <a:t>To test how our application handles errors with the help of these error handling functions, let us invoke the route with URL: localhost:3000/</a:t>
                      </a:r>
                      <a:r>
                        <a:rPr lang="en-US" sz="2000" u="none" strike="noStrike" cap="none" dirty="0" err="1">
                          <a:latin typeface="Times New Roman"/>
                          <a:ea typeface="Times New Roman"/>
                          <a:cs typeface="Times New Roman"/>
                          <a:sym typeface="Times New Roman"/>
                        </a:rPr>
                        <a:t>productswitherror</a:t>
                      </a:r>
                      <a:r>
                        <a:rPr lang="en-US" sz="2000" u="none" strike="noStrike" cap="none" dirty="0">
                          <a:latin typeface="Times New Roman"/>
                          <a:ea typeface="Times New Roman"/>
                          <a:cs typeface="Times New Roman"/>
                          <a:sym typeface="Times New Roman"/>
                        </a:rPr>
                        <a:t>.</a:t>
                      </a:r>
                      <a:endParaRPr sz="20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2000" u="none" strike="noStrike" cap="none" dirty="0">
                          <a:latin typeface="Times New Roman"/>
                          <a:ea typeface="Times New Roman"/>
                          <a:cs typeface="Times New Roman"/>
                          <a:sym typeface="Times New Roman"/>
                        </a:rPr>
                        <a:t>Now instead of the default error handler, the first two error handlers get triggered. The first one logs the error message to the console and the second one sends the error message in the response.</a:t>
                      </a:r>
                      <a:endParaRPr sz="20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2000" u="none" strike="noStrike" cap="none" dirty="0">
                          <a:latin typeface="Times New Roman"/>
                          <a:ea typeface="Times New Roman"/>
                          <a:cs typeface="Times New Roman"/>
                          <a:sym typeface="Times New Roman"/>
                        </a:rPr>
                        <a:t>When we request a non-existent route, the third error handler is invoked giving us an error message: invalid path.</a:t>
                      </a:r>
                      <a:endParaRPr sz="2000" u="none" strike="noStrike" cap="none" dirty="0">
                        <a:latin typeface="Times New Roman"/>
                        <a:ea typeface="Times New Roman"/>
                        <a:cs typeface="Times New Roman"/>
                        <a:sym typeface="Times New Roman"/>
                      </a:endParaRPr>
                    </a:p>
                    <a:p>
                      <a:pPr marL="457200" marR="0" lvl="0" indent="-304800" algn="l" rtl="0">
                        <a:lnSpc>
                          <a:spcPct val="100000"/>
                        </a:lnSpc>
                        <a:spcBef>
                          <a:spcPts val="0"/>
                        </a:spcBef>
                        <a:spcAft>
                          <a:spcPts val="0"/>
                        </a:spcAft>
                        <a:buClr>
                          <a:srgbClr val="000000"/>
                        </a:buClr>
                        <a:buSzPts val="1200"/>
                        <a:buFont typeface="Noto Sans Symbols"/>
                        <a:buChar char="●"/>
                      </a:pPr>
                      <a:r>
                        <a:rPr lang="en-US" sz="2000" u="none" strike="noStrike" cap="none" dirty="0">
                          <a:latin typeface="Times New Roman"/>
                          <a:ea typeface="Times New Roman"/>
                          <a:cs typeface="Times New Roman"/>
                          <a:sym typeface="Times New Roman"/>
                        </a:rPr>
                        <a:t>For details about error-handling middleware, see: </a:t>
                      </a:r>
                      <a:r>
                        <a:rPr lang="en-US" sz="2000" u="sng" strike="noStrike" cap="none" dirty="0">
                          <a:solidFill>
                            <a:schemeClr val="hlink"/>
                          </a:solidFill>
                          <a:latin typeface="Times New Roman"/>
                          <a:ea typeface="Times New Roman"/>
                          <a:cs typeface="Times New Roman"/>
                          <a:sym typeface="Times New Roman"/>
                          <a:hlinkClick r:id="rId3"/>
                        </a:rPr>
                        <a:t>Error handling</a:t>
                      </a:r>
                      <a:endParaRPr sz="2000" u="none" strike="noStrike" cap="none" dirty="0">
                        <a:latin typeface="Times New Roman"/>
                        <a:ea typeface="Times New Roman"/>
                        <a:cs typeface="Times New Roman"/>
                        <a:sym typeface="Times New Roman"/>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solidFill>
                      <a:schemeClr val="lt1"/>
                    </a:solidFill>
                  </a:tcPr>
                </a:tc>
                <a:tc hMerge="1">
                  <a:txBody>
                    <a:bodyPr/>
                    <a:lstStyle/>
                    <a:p>
                      <a:endParaRPr lang="en-US"/>
                    </a:p>
                  </a:txBody>
                  <a:tcPr/>
                </a:tc>
                <a:extLst>
                  <a:ext uri="{0D108BD9-81ED-4DB2-BD59-A6C34878D82A}">
                    <a16:rowId xmlns:a16="http://schemas.microsoft.com/office/drawing/2014/main" val="10000"/>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0" name="Google Shape;450;p58"/>
          <p:cNvSpPr txBox="1">
            <a:spLocks noGrp="1"/>
          </p:cNvSpPr>
          <p:nvPr>
            <p:ph type="ctrTitle"/>
          </p:nvPr>
        </p:nvSpPr>
        <p:spPr>
          <a:prstGeom prst="rect">
            <a:avLst/>
          </a:prstGeom>
          <a:noFill/>
          <a:ln>
            <a:noFill/>
          </a:ln>
        </p:spPr>
        <p:txBody>
          <a:bodyPr spcFirstLastPara="1" wrap="square" lIns="91425" tIns="45700" rIns="91425" bIns="45700" anchor="ctr" anchorCtr="0">
            <a:normAutofit/>
          </a:bodyPr>
          <a:lstStyle/>
          <a:p>
            <a:pPr marL="0" lvl="0" indent="0" algn="l" rtl="0">
              <a:lnSpc>
                <a:spcPct val="85000"/>
              </a:lnSpc>
              <a:spcBef>
                <a:spcPts val="0"/>
              </a:spcBef>
              <a:spcAft>
                <a:spcPts val="0"/>
              </a:spcAft>
              <a:buClr>
                <a:srgbClr val="FFFFFF"/>
              </a:buClr>
              <a:buSzPts val="6000"/>
              <a:buFont typeface="Arial"/>
              <a:buNone/>
            </a:pPr>
            <a:r>
              <a:rPr lang="en-US" dirty="0"/>
              <a:t>Questions?</a:t>
            </a:r>
            <a:endParaRPr dirty="0"/>
          </a:p>
        </p:txBody>
      </p:sp>
      <p:sp>
        <p:nvSpPr>
          <p:cNvPr id="451" name="Google Shape;451;p58"/>
          <p:cNvSpPr txBox="1">
            <a:spLocks noGrp="1"/>
          </p:cNvSpPr>
          <p:nvPr>
            <p:ph type="ftr" idx="11"/>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MEAN/MERN Stack</a:t>
            </a:r>
            <a:endParaRPr/>
          </a:p>
        </p:txBody>
      </p:sp>
      <p:sp>
        <p:nvSpPr>
          <p:cNvPr id="452" name="Google Shape;452;p58"/>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00"/>
              <a:buNone/>
            </a:pPr>
            <a:fld id="{00000000-1234-1234-1234-123412341234}" type="slidenum">
              <a:rPr lang="en-US"/>
              <a:t>32</a:t>
            </a:fld>
            <a:endParaRPr/>
          </a:p>
        </p:txBody>
      </p:sp>
    </p:spTree>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TM04033917[[fn=Berlin]]</Template>
  <TotalTime>491</TotalTime>
  <Words>5498</Words>
  <Application>Microsoft Office PowerPoint</Application>
  <PresentationFormat>Widescreen</PresentationFormat>
  <Paragraphs>635</Paragraphs>
  <Slides>32</Slides>
  <Notes>32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Trebuchet MS</vt:lpstr>
      <vt:lpstr>Noto Sans Symbols</vt:lpstr>
      <vt:lpstr>Consolas</vt:lpstr>
      <vt:lpstr>Arial</vt:lpstr>
      <vt:lpstr>Calibri</vt:lpstr>
      <vt:lpstr>Courier New</vt:lpstr>
      <vt:lpstr>Times New Roman</vt:lpstr>
      <vt:lpstr>Quattrocento Sans</vt:lpstr>
      <vt:lpstr>Berlin</vt:lpstr>
      <vt:lpstr>Node.js Http Module</vt:lpstr>
      <vt:lpstr>Learning Objectives:</vt:lpstr>
      <vt:lpstr>Introduction to Express JS</vt:lpstr>
      <vt:lpstr>Introduction to Express JS</vt:lpstr>
      <vt:lpstr>Introduction to Express JS</vt:lpstr>
      <vt:lpstr>Basic Server Setup </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PowerPoint Presentation</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Introduction to Express JS</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Node.js Http Module</dc:title>
  <cp:lastModifiedBy>Aqib Rehman</cp:lastModifiedBy>
  <cp:revision>20</cp:revision>
  <dcterms:modified xsi:type="dcterms:W3CDTF">2025-04-18T08:03:18Z</dcterms:modified>
</cp:coreProperties>
</file>