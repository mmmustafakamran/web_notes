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28"/>
  </p:notes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8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66B91-E0DC-4AD5-AD06-1E806920360C}" v="1" dt="2023-03-15T08:24:40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5BD66B91-E0DC-4AD5-AD06-1E806920360C}"/>
    <pc:docChg chg="custSel delSld modSld modMainMaster">
      <pc:chgData name="Asif Muhammad" userId="6b0af2cb-2f76-400b-94d9-178b55ef4f85" providerId="ADAL" clId="{5BD66B91-E0DC-4AD5-AD06-1E806920360C}" dt="2023-03-17T17:35:57.239" v="58" actId="47"/>
      <pc:docMkLst>
        <pc:docMk/>
      </pc:docMkLst>
      <pc:sldChg chg="modSp mod">
        <pc:chgData name="Asif Muhammad" userId="6b0af2cb-2f76-400b-94d9-178b55ef4f85" providerId="ADAL" clId="{5BD66B91-E0DC-4AD5-AD06-1E806920360C}" dt="2023-03-15T08:24:50.468" v="14" actId="6549"/>
        <pc:sldMkLst>
          <pc:docMk/>
          <pc:sldMk cId="0" sldId="256"/>
        </pc:sldMkLst>
        <pc:spChg chg="mod">
          <ac:chgData name="Asif Muhammad" userId="6b0af2cb-2f76-400b-94d9-178b55ef4f85" providerId="ADAL" clId="{5BD66B91-E0DC-4AD5-AD06-1E806920360C}" dt="2023-03-15T08:24:50.468" v="14" actId="6549"/>
          <ac:spMkLst>
            <pc:docMk/>
            <pc:sldMk cId="0" sldId="256"/>
            <ac:spMk id="15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6"/>
            <ac:spMk id="151" creationId="{00000000-0000-0000-0000-000000000000}"/>
          </ac:spMkLst>
        </pc:spChg>
      </pc:sldChg>
      <pc:sldChg chg="del">
        <pc:chgData name="Asif Muhammad" userId="6b0af2cb-2f76-400b-94d9-178b55ef4f85" providerId="ADAL" clId="{5BD66B91-E0DC-4AD5-AD06-1E806920360C}" dt="2023-03-15T08:24:31.826" v="0" actId="47"/>
        <pc:sldMkLst>
          <pc:docMk/>
          <pc:sldMk cId="0" sldId="257"/>
        </pc:sldMkLst>
      </pc:sldChg>
      <pc:sldChg chg="delSp modSp mod">
        <pc:chgData name="Asif Muhammad" userId="6b0af2cb-2f76-400b-94d9-178b55ef4f85" providerId="ADAL" clId="{5BD66B91-E0DC-4AD5-AD06-1E806920360C}" dt="2023-03-15T08:25:56.349" v="31" actId="478"/>
        <pc:sldMkLst>
          <pc:docMk/>
          <pc:sldMk cId="0" sldId="258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8"/>
            <ac:spMk id="164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5:56.349" v="31" actId="478"/>
          <ac:spMkLst>
            <pc:docMk/>
            <pc:sldMk cId="0" sldId="258"/>
            <ac:spMk id="165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8"/>
            <ac:spMk id="166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00.485" v="32" actId="478"/>
        <pc:sldMkLst>
          <pc:docMk/>
          <pc:sldMk cId="0" sldId="259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9"/>
            <ac:spMk id="171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00.485" v="32" actId="478"/>
          <ac:spMkLst>
            <pc:docMk/>
            <pc:sldMk cId="0" sldId="259"/>
            <ac:spMk id="172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59"/>
            <ac:spMk id="173" creationId="{00000000-0000-0000-0000-000000000000}"/>
          </ac:spMkLst>
        </pc:spChg>
      </pc:sldChg>
      <pc:sldChg chg="del">
        <pc:chgData name="Asif Muhammad" userId="6b0af2cb-2f76-400b-94d9-178b55ef4f85" providerId="ADAL" clId="{5BD66B91-E0DC-4AD5-AD06-1E806920360C}" dt="2023-03-15T08:24:33.995" v="1" actId="47"/>
        <pc:sldMkLst>
          <pc:docMk/>
          <pc:sldMk cId="0" sldId="260"/>
        </pc:sldMkLst>
      </pc:sldChg>
      <pc:sldChg chg="delSp modSp mod">
        <pc:chgData name="Asif Muhammad" userId="6b0af2cb-2f76-400b-94d9-178b55ef4f85" providerId="ADAL" clId="{5BD66B91-E0DC-4AD5-AD06-1E806920360C}" dt="2023-03-15T08:26:04.807" v="33" actId="478"/>
        <pc:sldMkLst>
          <pc:docMk/>
          <pc:sldMk cId="0" sldId="261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1"/>
            <ac:spMk id="186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04.807" v="33" actId="478"/>
          <ac:spMkLst>
            <pc:docMk/>
            <pc:sldMk cId="0" sldId="261"/>
            <ac:spMk id="187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1"/>
            <ac:spMk id="188" creationId="{00000000-0000-0000-0000-000000000000}"/>
          </ac:spMkLst>
        </pc:spChg>
      </pc:sldChg>
      <pc:sldChg chg="delSp modSp del mod">
        <pc:chgData name="Asif Muhammad" userId="6b0af2cb-2f76-400b-94d9-178b55ef4f85" providerId="ADAL" clId="{5BD66B91-E0DC-4AD5-AD06-1E806920360C}" dt="2023-03-17T15:41:33.670" v="57" actId="47"/>
        <pc:sldMkLst>
          <pc:docMk/>
          <pc:sldMk cId="0" sldId="262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2"/>
            <ac:spMk id="194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08.323" v="34" actId="478"/>
          <ac:spMkLst>
            <pc:docMk/>
            <pc:sldMk cId="0" sldId="262"/>
            <ac:spMk id="195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2"/>
            <ac:spMk id="196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11.353" v="35" actId="478"/>
        <pc:sldMkLst>
          <pc:docMk/>
          <pc:sldMk cId="0" sldId="263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3"/>
            <ac:spMk id="202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11.353" v="35" actId="478"/>
          <ac:spMkLst>
            <pc:docMk/>
            <pc:sldMk cId="0" sldId="263"/>
            <ac:spMk id="203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3"/>
            <ac:spMk id="204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14.597" v="36" actId="478"/>
        <pc:sldMkLst>
          <pc:docMk/>
          <pc:sldMk cId="0" sldId="264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4"/>
            <ac:spMk id="211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14.597" v="36" actId="478"/>
          <ac:spMkLst>
            <pc:docMk/>
            <pc:sldMk cId="0" sldId="264"/>
            <ac:spMk id="212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4"/>
            <ac:spMk id="213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17.313" v="37" actId="478"/>
        <pc:sldMkLst>
          <pc:docMk/>
          <pc:sldMk cId="0" sldId="265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5"/>
            <ac:spMk id="220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17.313" v="37" actId="478"/>
          <ac:spMkLst>
            <pc:docMk/>
            <pc:sldMk cId="0" sldId="265"/>
            <ac:spMk id="221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5"/>
            <ac:spMk id="222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20.262" v="38" actId="478"/>
        <pc:sldMkLst>
          <pc:docMk/>
          <pc:sldMk cId="0" sldId="266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6"/>
            <ac:spMk id="231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20.262" v="38" actId="478"/>
          <ac:spMkLst>
            <pc:docMk/>
            <pc:sldMk cId="0" sldId="266"/>
            <ac:spMk id="232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6"/>
            <ac:spMk id="233" creationId="{00000000-0000-0000-0000-000000000000}"/>
          </ac:spMkLst>
        </pc:spChg>
      </pc:sldChg>
      <pc:sldChg chg="delSp modSp del mod">
        <pc:chgData name="Asif Muhammad" userId="6b0af2cb-2f76-400b-94d9-178b55ef4f85" providerId="ADAL" clId="{5BD66B91-E0DC-4AD5-AD06-1E806920360C}" dt="2023-03-17T17:35:57.239" v="58" actId="47"/>
        <pc:sldMkLst>
          <pc:docMk/>
          <pc:sldMk cId="0" sldId="267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7"/>
            <ac:spMk id="240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23.374" v="39" actId="478"/>
          <ac:spMkLst>
            <pc:docMk/>
            <pc:sldMk cId="0" sldId="267"/>
            <ac:spMk id="241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7"/>
            <ac:spMk id="242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26.600" v="40" actId="478"/>
        <pc:sldMkLst>
          <pc:docMk/>
          <pc:sldMk cId="0" sldId="268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8"/>
            <ac:spMk id="24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26.600" v="40" actId="478"/>
          <ac:spMkLst>
            <pc:docMk/>
            <pc:sldMk cId="0" sldId="268"/>
            <ac:spMk id="25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8"/>
            <ac:spMk id="25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29.770" v="41" actId="478"/>
        <pc:sldMkLst>
          <pc:docMk/>
          <pc:sldMk cId="0" sldId="269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9"/>
            <ac:spMk id="25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29.770" v="41" actId="478"/>
          <ac:spMkLst>
            <pc:docMk/>
            <pc:sldMk cId="0" sldId="269"/>
            <ac:spMk id="26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69"/>
            <ac:spMk id="26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32.461" v="42" actId="478"/>
        <pc:sldMkLst>
          <pc:docMk/>
          <pc:sldMk cId="0" sldId="270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0"/>
            <ac:spMk id="26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32.461" v="42" actId="478"/>
          <ac:spMkLst>
            <pc:docMk/>
            <pc:sldMk cId="0" sldId="270"/>
            <ac:spMk id="27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0"/>
            <ac:spMk id="27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36.117" v="43" actId="478"/>
        <pc:sldMkLst>
          <pc:docMk/>
          <pc:sldMk cId="0" sldId="271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1"/>
            <ac:spMk id="278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36.117" v="43" actId="478"/>
          <ac:spMkLst>
            <pc:docMk/>
            <pc:sldMk cId="0" sldId="271"/>
            <ac:spMk id="279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1"/>
            <ac:spMk id="280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38.916" v="44" actId="478"/>
        <pc:sldMkLst>
          <pc:docMk/>
          <pc:sldMk cId="0" sldId="272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2"/>
            <ac:spMk id="287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38.916" v="44" actId="478"/>
          <ac:spMkLst>
            <pc:docMk/>
            <pc:sldMk cId="0" sldId="272"/>
            <ac:spMk id="288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2"/>
            <ac:spMk id="289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41.712" v="45" actId="478"/>
        <pc:sldMkLst>
          <pc:docMk/>
          <pc:sldMk cId="0" sldId="273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3"/>
            <ac:spMk id="297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41.712" v="45" actId="478"/>
          <ac:spMkLst>
            <pc:docMk/>
            <pc:sldMk cId="0" sldId="273"/>
            <ac:spMk id="298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3"/>
            <ac:spMk id="299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45.150" v="46" actId="478"/>
        <pc:sldMkLst>
          <pc:docMk/>
          <pc:sldMk cId="0" sldId="274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4"/>
            <ac:spMk id="30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45.150" v="46" actId="478"/>
          <ac:spMkLst>
            <pc:docMk/>
            <pc:sldMk cId="0" sldId="274"/>
            <ac:spMk id="31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4"/>
            <ac:spMk id="31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48.201" v="47" actId="478"/>
        <pc:sldMkLst>
          <pc:docMk/>
          <pc:sldMk cId="0" sldId="275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5"/>
            <ac:spMk id="31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48.201" v="47" actId="478"/>
          <ac:spMkLst>
            <pc:docMk/>
            <pc:sldMk cId="0" sldId="275"/>
            <ac:spMk id="32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5"/>
            <ac:spMk id="32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51.596" v="48" actId="478"/>
        <pc:sldMkLst>
          <pc:docMk/>
          <pc:sldMk cId="0" sldId="276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6"/>
            <ac:spMk id="32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51.596" v="48" actId="478"/>
          <ac:spMkLst>
            <pc:docMk/>
            <pc:sldMk cId="0" sldId="276"/>
            <ac:spMk id="33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6"/>
            <ac:spMk id="33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55.001" v="49" actId="478"/>
        <pc:sldMkLst>
          <pc:docMk/>
          <pc:sldMk cId="0" sldId="277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7"/>
            <ac:spMk id="33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55.001" v="49" actId="478"/>
          <ac:spMkLst>
            <pc:docMk/>
            <pc:sldMk cId="0" sldId="277"/>
            <ac:spMk id="34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7"/>
            <ac:spMk id="34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6:58.791" v="50" actId="478"/>
        <pc:sldMkLst>
          <pc:docMk/>
          <pc:sldMk cId="0" sldId="278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8"/>
            <ac:spMk id="34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6:58.791" v="50" actId="478"/>
          <ac:spMkLst>
            <pc:docMk/>
            <pc:sldMk cId="0" sldId="278"/>
            <ac:spMk id="35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8"/>
            <ac:spMk id="35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01.660" v="51" actId="478"/>
        <pc:sldMkLst>
          <pc:docMk/>
          <pc:sldMk cId="0" sldId="279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9"/>
            <ac:spMk id="35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01.660" v="51" actId="478"/>
          <ac:spMkLst>
            <pc:docMk/>
            <pc:sldMk cId="0" sldId="279"/>
            <ac:spMk id="36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79"/>
            <ac:spMk id="36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04.223" v="52" actId="478"/>
        <pc:sldMkLst>
          <pc:docMk/>
          <pc:sldMk cId="0" sldId="280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0"/>
            <ac:spMk id="36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04.223" v="52" actId="478"/>
          <ac:spMkLst>
            <pc:docMk/>
            <pc:sldMk cId="0" sldId="280"/>
            <ac:spMk id="37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0"/>
            <ac:spMk id="37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07.122" v="53" actId="478"/>
        <pc:sldMkLst>
          <pc:docMk/>
          <pc:sldMk cId="0" sldId="281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1"/>
            <ac:spMk id="378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07.122" v="53" actId="478"/>
          <ac:spMkLst>
            <pc:docMk/>
            <pc:sldMk cId="0" sldId="281"/>
            <ac:spMk id="379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1"/>
            <ac:spMk id="380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09.496" v="54" actId="478"/>
        <pc:sldMkLst>
          <pc:docMk/>
          <pc:sldMk cId="0" sldId="282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2"/>
            <ac:spMk id="390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09.496" v="54" actId="478"/>
          <ac:spMkLst>
            <pc:docMk/>
            <pc:sldMk cId="0" sldId="282"/>
            <ac:spMk id="391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2"/>
            <ac:spMk id="392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11.670" v="55" actId="478"/>
        <pc:sldMkLst>
          <pc:docMk/>
          <pc:sldMk cId="0" sldId="283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3"/>
            <ac:spMk id="399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11.670" v="55" actId="478"/>
          <ac:spMkLst>
            <pc:docMk/>
            <pc:sldMk cId="0" sldId="283"/>
            <ac:spMk id="400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3"/>
            <ac:spMk id="401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7:14.120" v="56" actId="478"/>
        <pc:sldMkLst>
          <pc:docMk/>
          <pc:sldMk cId="0" sldId="284"/>
        </pc:sldMkLst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4"/>
            <ac:spMk id="408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7:14.120" v="56" actId="478"/>
          <ac:spMkLst>
            <pc:docMk/>
            <pc:sldMk cId="0" sldId="284"/>
            <ac:spMk id="409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4"/>
            <ac:spMk id="410" creationId="{00000000-0000-0000-0000-000000000000}"/>
          </ac:spMkLst>
        </pc:spChg>
      </pc:sldChg>
      <pc:sldChg chg="delSp modSp mod">
        <pc:chgData name="Asif Muhammad" userId="6b0af2cb-2f76-400b-94d9-178b55ef4f85" providerId="ADAL" clId="{5BD66B91-E0DC-4AD5-AD06-1E806920360C}" dt="2023-03-15T08:25:50.617" v="30" actId="478"/>
        <pc:sldMkLst>
          <pc:docMk/>
          <pc:sldMk cId="0" sldId="285"/>
        </pc:sldMkLst>
        <pc:spChg chg="mod">
          <ac:chgData name="Asif Muhammad" userId="6b0af2cb-2f76-400b-94d9-178b55ef4f85" providerId="ADAL" clId="{5BD66B91-E0DC-4AD5-AD06-1E806920360C}" dt="2023-03-15T08:25:44.981" v="29" actId="122"/>
          <ac:spMkLst>
            <pc:docMk/>
            <pc:sldMk cId="0" sldId="285"/>
            <ac:spMk id="417" creationId="{00000000-0000-0000-0000-000000000000}"/>
          </ac:spMkLst>
        </pc:spChg>
        <pc:spChg chg="del mod">
          <ac:chgData name="Asif Muhammad" userId="6b0af2cb-2f76-400b-94d9-178b55ef4f85" providerId="ADAL" clId="{5BD66B91-E0DC-4AD5-AD06-1E806920360C}" dt="2023-03-15T08:25:50.617" v="30" actId="478"/>
          <ac:spMkLst>
            <pc:docMk/>
            <pc:sldMk cId="0" sldId="285"/>
            <ac:spMk id="418" creationId="{00000000-0000-0000-0000-000000000000}"/>
          </ac:spMkLst>
        </pc:spChg>
        <pc:spChg chg="mod">
          <ac:chgData name="Asif Muhammad" userId="6b0af2cb-2f76-400b-94d9-178b55ef4f85" providerId="ADAL" clId="{5BD66B91-E0DC-4AD5-AD06-1E806920360C}" dt="2023-03-15T08:24:40.290" v="2"/>
          <ac:spMkLst>
            <pc:docMk/>
            <pc:sldMk cId="0" sldId="285"/>
            <ac:spMk id="419" creationId="{00000000-0000-0000-0000-000000000000}"/>
          </ac:spMkLst>
        </pc:spChg>
      </pc:sldChg>
      <pc:sldMasterChg chg="modSldLayout">
        <pc:chgData name="Asif Muhammad" userId="6b0af2cb-2f76-400b-94d9-178b55ef4f85" providerId="ADAL" clId="{5BD66B91-E0DC-4AD5-AD06-1E806920360C}" dt="2023-03-15T08:24:40.290" v="2"/>
        <pc:sldMasterMkLst>
          <pc:docMk/>
          <pc:sldMasterMk cId="278518319" sldId="2147483667"/>
        </pc:sldMasterMkLst>
        <pc:sldLayoutChg chg="delSp">
          <pc:chgData name="Asif Muhammad" userId="6b0af2cb-2f76-400b-94d9-178b55ef4f85" providerId="ADAL" clId="{5BD66B91-E0DC-4AD5-AD06-1E806920360C}" dt="2023-03-15T08:24:40.290" v="2"/>
          <pc:sldLayoutMkLst>
            <pc:docMk/>
            <pc:sldMasterMk cId="278518319" sldId="2147483667"/>
            <pc:sldLayoutMk cId="1810450387" sldId="2147483679"/>
          </pc:sldLayoutMkLst>
          <pc:picChg chg="del">
            <ac:chgData name="Asif Muhammad" userId="6b0af2cb-2f76-400b-94d9-178b55ef4f85" providerId="ADAL" clId="{5BD66B91-E0DC-4AD5-AD06-1E806920360C}" dt="2023-03-15T08:24:40.290" v="2"/>
            <ac:picMkLst>
              <pc:docMk/>
              <pc:sldMasterMk cId="278518319" sldId="2147483667"/>
              <pc:sldLayoutMk cId="1810450387" sldId="2147483679"/>
              <ac:picMk id="26" creationId="{00000000-0000-0000-0000-000000000000}"/>
            </ac:picMkLst>
          </pc:picChg>
          <pc:picChg chg="del">
            <ac:chgData name="Asif Muhammad" userId="6b0af2cb-2f76-400b-94d9-178b55ef4f85" providerId="ADAL" clId="{5BD66B91-E0DC-4AD5-AD06-1E806920360C}" dt="2023-03-15T08:24:40.290" v="2"/>
            <ac:picMkLst>
              <pc:docMk/>
              <pc:sldMasterMk cId="278518319" sldId="2147483667"/>
              <pc:sldLayoutMk cId="1810450387" sldId="2147483679"/>
              <ac:picMk id="27" creationId="{00000000-0000-0000-0000-000000000000}"/>
            </ac:picMkLst>
          </pc:picChg>
          <pc:picChg chg="del">
            <ac:chgData name="Asif Muhammad" userId="6b0af2cb-2f76-400b-94d9-178b55ef4f85" providerId="ADAL" clId="{5BD66B91-E0DC-4AD5-AD06-1E806920360C}" dt="2023-03-15T08:24:40.290" v="2"/>
            <ac:picMkLst>
              <pc:docMk/>
              <pc:sldMasterMk cId="278518319" sldId="2147483667"/>
              <pc:sldLayoutMk cId="1810450387" sldId="2147483679"/>
              <ac:picMk id="28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6083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68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93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52639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12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82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3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61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14-Feb-25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7192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19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977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 - Major">
  <p:cSld name="Section Separator - Majo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ctrTitle"/>
          </p:nvPr>
        </p:nvSpPr>
        <p:spPr>
          <a:xfrm>
            <a:off x="1097280" y="1645920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4038600" y="10404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450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14-Feb-25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1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://getbootstrap.com/docs/4.0/getting-started/introduction/&amp;sa=D&amp;source=docs&amp;ust=1664048208809233&amp;usg=AOvVaw0LmGjG1EM1Bpp4jwFBA89N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4500" dirty="0"/>
              <a:t>Learn Bootstrap</a:t>
            </a:r>
            <a:endParaRPr sz="4500" dirty="0"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MEAN/MERN STACK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Learning Objectives:</a:t>
            </a:r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Explain the core concept of Bootstrap.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What is Bootstrap?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What is Responsive Web Design?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Get Bootstrap 5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Layout and style your website using Bootstrap </a:t>
            </a:r>
            <a:endParaRPr sz="2000"/>
          </a:p>
          <a:p>
            <a:pPr marL="384048" lvl="1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►"/>
            </a:pPr>
            <a:r>
              <a:rPr lang="en-US" sz="2000"/>
              <a:t>Bootstrap Components</a:t>
            </a:r>
            <a:endParaRPr sz="2000"/>
          </a:p>
          <a:p>
            <a:pPr marL="384048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384048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What is Bootstrap?</a:t>
            </a:r>
            <a:endParaRPr sz="3300"/>
          </a:p>
        </p:txBody>
      </p:sp>
      <p:sp>
        <p:nvSpPr>
          <p:cNvPr id="173" name="Google Shape;173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1254075" y="2395950"/>
            <a:ext cx="9847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 is a free front-end framework for faster and easier web development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 includes HTML and CSS based design templates for typography, forms, buttons, tables, navigation, modals, image carousels and many other, as well as optional JavaScript plugins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 also gives you the ability to easily create responsive designs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Responsive Web Design?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Responsive web design is about creating web sites which automatically adjust themselves to look good on all devices, from small phones to large desktops.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What is Bootstrap?</a:t>
            </a:r>
            <a:endParaRPr sz="3300"/>
          </a:p>
        </p:txBody>
      </p:sp>
      <p:sp>
        <p:nvSpPr>
          <p:cNvPr id="188" name="Google Shape;188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1254075" y="2395950"/>
            <a:ext cx="98478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Bootstrap 5: 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two methods to use Bootstrap: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Bootstrap 5 from getbootstrap.com.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Bootstrap 5 from a CDN (Content Delivery Network): Adding these two line is you &lt;head&gt; will give you access to Bootstrap 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v5.3.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&lt;!-- Latest compiled and minified CSS --&gt;</a:t>
            </a: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&lt;link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="https://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cdn.jsdelivr.net/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/bootstrap@5.3.3/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/bootstrap.min.css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="stylesheet"&gt;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&lt;!-- Latest compiled JavaScript --&gt;</a:t>
            </a: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&lt;script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="https://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cdn.jsdelivr.net/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r>
              <a:rPr lang="en-US" sz="14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/bootstrap@5.3.3/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/bootstrap.bundle.min.js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"&gt;&lt;/script&gt;	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Layout and style your website using Bootstrap </a:t>
            </a:r>
            <a:endParaRPr sz="3300"/>
          </a:p>
        </p:txBody>
      </p:sp>
      <p:sp>
        <p:nvSpPr>
          <p:cNvPr id="204" name="Google Shape;204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1307875" y="2180800"/>
            <a:ext cx="98478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Containers: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.container class: The .container class provides a responsive fixed width container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.container-fluid class: The .container-fluid class provides a full width container, spanning the entire width of the viewport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Below image is for your reference to  understand the difference between .container and .container-fluid class.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7" descr="Graphical user interface, application, Wo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3998275"/>
            <a:ext cx="59436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Layout and style your website using Bootstrap </a:t>
            </a:r>
            <a:endParaRPr sz="3300"/>
          </a:p>
        </p:txBody>
      </p:sp>
      <p:sp>
        <p:nvSpPr>
          <p:cNvPr id="213" name="Google Shape;213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307875" y="2180800"/>
            <a:ext cx="9847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Grid: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Bootstrap's grid system is built with flexbox and allows up to 12 columns across the page.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grid system is responsive, and the columns will re-arrange automatically depending on the screen size.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sure that the sum adds up to 12 or fewer (it is not required that you use all 12 available columns).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8" descr="Bootstrap Grid System - Tutla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350" y="3299725"/>
            <a:ext cx="59436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Layout and style your website using Bootstrap </a:t>
            </a:r>
            <a:endParaRPr sz="3300"/>
          </a:p>
        </p:txBody>
      </p:sp>
      <p:sp>
        <p:nvSpPr>
          <p:cNvPr id="222" name="Google Shape;222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1289950" y="1849100"/>
            <a:ext cx="9503700" cy="20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Grid: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Bootstrap 5 grid system has six classes: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 (extra small devices - screen width less than 576px)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.col-sm- (small devices - screen width equal to or greater than 576px)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.col-md- (medium devices - screen width equal to or greater than 768px)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.col-lg- (large devices - screen width equal to or greater than 992px)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.col-xl- (xlarge devices - screen width equal to or greater than 1200px)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.col-xxl- (xxlarge devices - screen width equal to or greater than 1400px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9800" y="3886100"/>
            <a:ext cx="8393201" cy="12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1766050" y="51636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4200" y="5472850"/>
            <a:ext cx="59436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Layout and style your website using Bootstrap </a:t>
            </a:r>
            <a:endParaRPr sz="3300"/>
          </a:p>
        </p:txBody>
      </p:sp>
      <p:sp>
        <p:nvSpPr>
          <p:cNvPr id="233" name="Google Shape;233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1289950" y="1849100"/>
            <a:ext cx="9865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Breakpoints: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Breakpoints are the building blocks of responsive design. Use them to control when your layout can be adapted at a particular viewport or device size.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first, responsive design is the goal. Bootstrap’s CSS aims to apply the bare minimum of styles to make a layout work at the smallest breakpoint, and then layers on styles to adjust that design for larger devices. This optimizes your CSS, improves rendering time, and provides a great experience for your visitors.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following tables shows the break points.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30" descr="Table&#10;&#10;Description automatically generated with medium confidence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451579" y="3973100"/>
            <a:ext cx="9023680" cy="272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Layout and style your website using Bootstrap </a:t>
            </a:r>
            <a:endParaRPr sz="3300"/>
          </a:p>
        </p:txBody>
      </p:sp>
      <p:sp>
        <p:nvSpPr>
          <p:cNvPr id="251" name="Google Shape;251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52" name="Google Shape;252;p32"/>
          <p:cNvSpPr txBox="1"/>
          <p:nvPr/>
        </p:nvSpPr>
        <p:spPr>
          <a:xfrm>
            <a:off x="1171250" y="1853754"/>
            <a:ext cx="5281200" cy="15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Gutters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Gutters are the padding between your columns, used to responsively space and align content in the Bootstrap grid system.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Gutters are the gaps between column content, created by horizontal padding. We set padding-right and padding-left on each column, and use negative margin to offset that at the start and end of each row to align content</a:t>
            </a:r>
            <a:r>
              <a:rPr lang="en-US" sz="12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2" descr="Graphical user interface, application, Wo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850" y="4572000"/>
            <a:ext cx="59436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30424" y="2771500"/>
            <a:ext cx="5561576" cy="18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271" name="Google Shape;271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2" name="Google Shape;272;p34"/>
          <p:cNvSpPr txBox="1"/>
          <p:nvPr/>
        </p:nvSpPr>
        <p:spPr>
          <a:xfrm>
            <a:off x="1348300" y="2214275"/>
            <a:ext cx="29997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contextual feedback messages for typical user actions with the handful of available and flexible alert messages.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Alerts are available for any length of text, as well as an optional close button. For proper styling, use one of the eight required contextual classes (e.g., .alert-success).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475" y="1889803"/>
            <a:ext cx="5948201" cy="4314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280" name="Google Shape;280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81" name="Google Shape;281;p35"/>
          <p:cNvSpPr txBox="1"/>
          <p:nvPr/>
        </p:nvSpPr>
        <p:spPr>
          <a:xfrm>
            <a:off x="1402050" y="2581850"/>
            <a:ext cx="35376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contextual feedback messages for typical user actions with the handful of available and flexible alert messages.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Alerts are available for any length of text, as well as an optional close button. For proper styling, use one of the eight required contextual classes (e.g., .alert-success).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5" descr="A picture containing graphical user interfac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2025" y="2084453"/>
            <a:ext cx="47148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289" name="Google Shape;289;p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1195850" y="1963300"/>
            <a:ext cx="39633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Badge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Badges is for small count and labeling component.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Badges scale to match the size of the immediate parent element by using relative font sizing and em units.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6" descr="Graphical user interface, 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4200" y="4087303"/>
            <a:ext cx="43529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7125" y="2311596"/>
            <a:ext cx="6339275" cy="15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299" name="Google Shape;299;p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00" name="Google Shape;300;p37"/>
          <p:cNvSpPr txBox="1"/>
          <p:nvPr/>
        </p:nvSpPr>
        <p:spPr>
          <a:xfrm>
            <a:off x="1195850" y="1963300"/>
            <a:ext cx="10097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3.Buttons: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Bootstrap’s custom button styles for actions in forms, dialogs, and more with support for multiple sizes, states, and more. Button class can also be used on &lt;a&gt; and &lt;input&gt; elements.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5850" y="3126250"/>
            <a:ext cx="5251926" cy="5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5850" y="3842375"/>
            <a:ext cx="5169700" cy="15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5025" y="3126249"/>
            <a:ext cx="5153076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 descr="A picture containing graphical user interfac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7950" y="4325349"/>
            <a:ext cx="49911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12" name="Google Shape;312;p38"/>
          <p:cNvSpPr txBox="1"/>
          <p:nvPr/>
        </p:nvSpPr>
        <p:spPr>
          <a:xfrm>
            <a:off x="1204800" y="2213675"/>
            <a:ext cx="100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Button group: Group a series of buttons together on a single line or stack them in a vertical column.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38" descr="Graphical user interface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7625" y="2866525"/>
            <a:ext cx="59436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9950" y="3835750"/>
            <a:ext cx="91821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21" name="Google Shape;321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1186900" y="1795125"/>
            <a:ext cx="7924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Bootstrap’s cards provide a flexible and extensible content container with multiple variants and options.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Below is an example of a basic card with mixed content and a fixed width. Cards have no fixed width to start, so they’ll naturally fill the full width of its parent element. This is easily customized with our various sizing options.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39" descr="Graphical user interface, 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1097" y="1921175"/>
            <a:ext cx="1942375" cy="24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6075" y="3919125"/>
            <a:ext cx="7251024" cy="22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31" name="Google Shape;331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32" name="Google Shape;332;p40"/>
          <p:cNvSpPr txBox="1"/>
          <p:nvPr/>
        </p:nvSpPr>
        <p:spPr>
          <a:xfrm>
            <a:off x="1177950" y="1830900"/>
            <a:ext cx="99777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Carousel Slider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slideshow component for cycling through elements—images or slides of text—like a carousel.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31" name="Google Shape;331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4" name="Google Shape;334;p40"/>
          <p:cNvSpPr txBox="1"/>
          <p:nvPr/>
        </p:nvSpPr>
        <p:spPr>
          <a:xfrm>
            <a:off x="1110714" y="2121939"/>
            <a:ext cx="9462300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Collapse: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collapse is used to show and hide content.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Buttons or anchors are used as triggers that are mapped to specific elements you toggle.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Collapsing an element will animate the height from its current value to 0.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how CSS handles animations, you cannot use padding on a .collapse element. Instead, use the class as an independent wrapping element.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examples refer the </a:t>
            </a:r>
            <a:r>
              <a:rPr lang="en-US" sz="1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documentation.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Dropdowns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Dropdowns are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toggleable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contextual overlays for displaying lists of links and more.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They’re made interactive with the included Bootstrap dropdown JavaScript plugin.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They’re toggled by clicking, not by hovering; this is an intentional design decision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5648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41" name="Google Shape;341;p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42" name="Google Shape;342;p41"/>
          <p:cNvSpPr txBox="1"/>
          <p:nvPr/>
        </p:nvSpPr>
        <p:spPr>
          <a:xfrm>
            <a:off x="1177950" y="1813025"/>
            <a:ext cx="5590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List group: List groups are a flexible and powerful component for displaying a series of content. Modify and extend them to support just about any content within.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1" descr="Tabl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2725" y="1905200"/>
            <a:ext cx="38195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5438" y="3706913"/>
            <a:ext cx="90011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51" name="Google Shape;351;p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52" name="Google Shape;352;p42"/>
          <p:cNvSpPr txBox="1"/>
          <p:nvPr/>
        </p:nvSpPr>
        <p:spPr>
          <a:xfrm>
            <a:off x="1228475" y="2027600"/>
            <a:ext cx="5206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Navbar: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navigation bar (also called a Navbar) is a user interface element within a webpage that contains links to other sections of the website.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3900" y="1958150"/>
            <a:ext cx="4988875" cy="20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2" descr="Graphical user interface, application, Wor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9000" y="3468575"/>
            <a:ext cx="5105150" cy="2248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61" name="Google Shape;361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62" name="Google Shape;362;p43"/>
          <p:cNvSpPr txBox="1"/>
          <p:nvPr/>
        </p:nvSpPr>
        <p:spPr>
          <a:xfrm>
            <a:off x="1228475" y="2027600"/>
            <a:ext cx="99273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 Pagination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Pagination is to indicate a series of related content exists across multiple pages.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a large block of connected links for our pagination, making links hard to miss and easily scalable, all while providing large hit areas.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Pagination is built with list HTML elements so screen readers can announce the number of available links.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 wrapping &lt;nav&gt; element to identify it as a navigation section to screen readers and other assistive technologies.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43" descr="Team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4150" y="3695953"/>
            <a:ext cx="2305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9950" y="4278300"/>
            <a:ext cx="6838625" cy="202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72" name="Google Shape;372;p44"/>
          <p:cNvSpPr txBox="1"/>
          <p:nvPr/>
        </p:nvSpPr>
        <p:spPr>
          <a:xfrm>
            <a:off x="1228475" y="2027600"/>
            <a:ext cx="100107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Progress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 components are built with two HTML elements, some CSS to set the width, and a few attributes.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the .progress as a wrapper to indicate the max value of the progress bar.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the inner .progress-bar to indicate the progress so far.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.progress-bar requires an inline style, utility class, or custom CSS to set their width.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.progress-bar also requires some role and aria attributes to make it accessible.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that all together, and you have the following examples.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44" descr="Bar char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4700" y="4473475"/>
            <a:ext cx="59436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80" name="Google Shape;380;p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81" name="Google Shape;381;p45"/>
          <p:cNvSpPr txBox="1"/>
          <p:nvPr/>
        </p:nvSpPr>
        <p:spPr>
          <a:xfrm>
            <a:off x="1228475" y="2027600"/>
            <a:ext cx="1001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Progress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that all together, and you have the following examples.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900" y="2787750"/>
            <a:ext cx="5673001" cy="3471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5"/>
          <p:cNvSpPr txBox="1"/>
          <p:nvPr/>
        </p:nvSpPr>
        <p:spPr>
          <a:xfrm>
            <a:off x="7206575" y="2027600"/>
            <a:ext cx="4032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Adding labels: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labels to your progress bars by placing text within the .progress-bar.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4" name="Google Shape;38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425" y="3230200"/>
            <a:ext cx="4503675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8650" y="3880550"/>
            <a:ext cx="4539450" cy="5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392" name="Google Shape;392;p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93" name="Google Shape;393;p46"/>
          <p:cNvSpPr txBox="1"/>
          <p:nvPr/>
        </p:nvSpPr>
        <p:spPr>
          <a:xfrm>
            <a:off x="1228475" y="2027600"/>
            <a:ext cx="10010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Spinners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 the loading state of a component or page with Bootstrap spinners.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appearance, alignment, and sizing can be easily customized with our amazing utility classes.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accessibility purposes, each loader includes role="status" and a nested &lt;span class="visually-hidden"&gt;Loading...&lt;/span&gt;.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3375" y="3505100"/>
            <a:ext cx="90392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401" name="Google Shape;401;p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02" name="Google Shape;402;p47"/>
          <p:cNvSpPr txBox="1"/>
          <p:nvPr/>
        </p:nvSpPr>
        <p:spPr>
          <a:xfrm>
            <a:off x="1228475" y="2027600"/>
            <a:ext cx="100107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 Toasts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notifications to your visitors with a toast, a lightweight and easily customizable alert message.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Toasts are lightweight notifications designed to mimic the push notifications that have been popularized by mobile and desktop operating systems.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Toasts are opt-in for performance reasons, so you must initialize them yourself.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Toasts will automatically hide if you do not specify autohide: false.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encourage extensible and predictable toasts, we recommend a header and body. Toast headers use display: flex, allowing easy alignment of content thanks to our margin and flexbox utilities.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Toasts are as flexible as you need and have very little required markup. At a minimum, we require a single element to contain your “toasted” content and strongly encourage a dismiss button.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47" descr="Graphical user interface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275" y="4798100"/>
            <a:ext cx="59436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/>
              <a:t>Components:</a:t>
            </a:r>
            <a:endParaRPr sz="3300"/>
          </a:p>
        </p:txBody>
      </p:sp>
      <p:sp>
        <p:nvSpPr>
          <p:cNvPr id="410" name="Google Shape;410;p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11" name="Google Shape;411;p48"/>
          <p:cNvSpPr txBox="1"/>
          <p:nvPr/>
        </p:nvSpPr>
        <p:spPr>
          <a:xfrm>
            <a:off x="1228475" y="2027600"/>
            <a:ext cx="1001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 Toasts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8550" y="2555275"/>
            <a:ext cx="8644855" cy="31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dirty="0"/>
              <a:t>Questions ?</a:t>
            </a:r>
            <a:endParaRPr dirty="0"/>
          </a:p>
        </p:txBody>
      </p:sp>
      <p:sp>
        <p:nvSpPr>
          <p:cNvPr id="419" name="Google Shape;419;p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168</TotalTime>
  <Words>1504</Words>
  <Application>Microsoft Office PowerPoint</Application>
  <PresentationFormat>Widescreen</PresentationFormat>
  <Paragraphs>189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Gill Sans MT</vt:lpstr>
      <vt:lpstr>Times New Roman</vt:lpstr>
      <vt:lpstr>Gallery</vt:lpstr>
      <vt:lpstr>Learn Bootstrap</vt:lpstr>
      <vt:lpstr>Learning Objectives:</vt:lpstr>
      <vt:lpstr>What is Bootstrap?</vt:lpstr>
      <vt:lpstr>What is Bootstrap?</vt:lpstr>
      <vt:lpstr>Layout and style your website using Bootstrap </vt:lpstr>
      <vt:lpstr>Layout and style your website using Bootstrap </vt:lpstr>
      <vt:lpstr>Layout and style your website using Bootstrap </vt:lpstr>
      <vt:lpstr>Layout and style your website using Bootstrap </vt:lpstr>
      <vt:lpstr>Layout and style your website using Bootstrap 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Components: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Bootstrap</dc:title>
  <cp:lastModifiedBy>Aqib Rehman</cp:lastModifiedBy>
  <cp:revision>5</cp:revision>
  <dcterms:modified xsi:type="dcterms:W3CDTF">2025-02-14T07:47:28Z</dcterms:modified>
</cp:coreProperties>
</file>