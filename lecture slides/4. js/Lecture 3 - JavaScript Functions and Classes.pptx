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313" r:id="rId3"/>
    <p:sldId id="260" r:id="rId4"/>
    <p:sldId id="274" r:id="rId5"/>
    <p:sldId id="275" r:id="rId6"/>
    <p:sldId id="267" r:id="rId7"/>
    <p:sldId id="276" r:id="rId8"/>
    <p:sldId id="277" r:id="rId9"/>
    <p:sldId id="278" r:id="rId10"/>
    <p:sldId id="279" r:id="rId11"/>
    <p:sldId id="270" r:id="rId12"/>
    <p:sldId id="268" r:id="rId13"/>
    <p:sldId id="280" r:id="rId14"/>
    <p:sldId id="314" r:id="rId15"/>
    <p:sldId id="261" r:id="rId16"/>
    <p:sldId id="264" r:id="rId17"/>
    <p:sldId id="271" r:id="rId18"/>
    <p:sldId id="282" r:id="rId19"/>
    <p:sldId id="281" r:id="rId20"/>
    <p:sldId id="269" r:id="rId21"/>
    <p:sldId id="283" r:id="rId22"/>
    <p:sldId id="285" r:id="rId23"/>
    <p:sldId id="286" r:id="rId24"/>
    <p:sldId id="287" r:id="rId25"/>
    <p:sldId id="273" r:id="rId26"/>
    <p:sldId id="288" r:id="rId27"/>
    <p:sldId id="289" r:id="rId28"/>
    <p:sldId id="290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291" r:id="rId37"/>
    <p:sldId id="292" r:id="rId38"/>
    <p:sldId id="293" r:id="rId39"/>
    <p:sldId id="294" r:id="rId40"/>
    <p:sldId id="302" r:id="rId41"/>
    <p:sldId id="303" r:id="rId42"/>
    <p:sldId id="305" r:id="rId43"/>
    <p:sldId id="304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88D5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57FA0F-D90A-4ED5-A441-66608AC10A31}" v="1" dt="2023-03-08T07:53:55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956" autoAdjust="0"/>
    <p:restoredTop sz="95048" autoAdjust="0"/>
  </p:normalViewPr>
  <p:slideViewPr>
    <p:cSldViewPr snapToGrid="0">
      <p:cViewPr>
        <p:scale>
          <a:sx n="75" d="100"/>
          <a:sy n="75" d="100"/>
        </p:scale>
        <p:origin x="1032" y="2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049F4E14-188D-4690-9919-7BC78092B7BE}"/>
    <pc:docChg chg="custSel modSld">
      <pc:chgData name="Asif Muhammad" userId="6b0af2cb-2f76-400b-94d9-178b55ef4f85" providerId="ADAL" clId="{049F4E14-188D-4690-9919-7BC78092B7BE}" dt="2022-09-19T08:33:20.847" v="10"/>
      <pc:docMkLst>
        <pc:docMk/>
      </pc:docMkLst>
      <pc:sldChg chg="delSp modSp mod setBg setClrOvrMap">
        <pc:chgData name="Asif Muhammad" userId="6b0af2cb-2f76-400b-94d9-178b55ef4f85" providerId="ADAL" clId="{049F4E14-188D-4690-9919-7BC78092B7BE}" dt="2022-09-14T09:49:06.108" v="0" actId="26606"/>
        <pc:sldMkLst>
          <pc:docMk/>
          <pc:sldMk cId="59144495" sldId="256"/>
        </pc:sldMkLst>
        <pc:spChg chg="mod">
          <ac:chgData name="Asif Muhammad" userId="6b0af2cb-2f76-400b-94d9-178b55ef4f85" providerId="ADAL" clId="{049F4E14-188D-4690-9919-7BC78092B7BE}" dt="2022-09-14T09:49:06.108" v="0" actId="26606"/>
          <ac:spMkLst>
            <pc:docMk/>
            <pc:sldMk cId="59144495" sldId="256"/>
            <ac:spMk id="2" creationId="{CB7DE853-BCBC-430E-9E0E-0F6CF6FA172A}"/>
          </ac:spMkLst>
        </pc:spChg>
        <pc:spChg chg="mod">
          <ac:chgData name="Asif Muhammad" userId="6b0af2cb-2f76-400b-94d9-178b55ef4f85" providerId="ADAL" clId="{049F4E14-188D-4690-9919-7BC78092B7BE}" dt="2022-09-14T09:49:06.108" v="0" actId="26606"/>
          <ac:spMkLst>
            <pc:docMk/>
            <pc:sldMk cId="59144495" sldId="256"/>
            <ac:spMk id="3" creationId="{F72CBD22-20B1-4482-90C0-02CE5CDAB4CB}"/>
          </ac:spMkLst>
        </pc:spChg>
        <pc:spChg chg="del">
          <ac:chgData name="Asif Muhammad" userId="6b0af2cb-2f76-400b-94d9-178b55ef4f85" providerId="ADAL" clId="{049F4E14-188D-4690-9919-7BC78092B7BE}" dt="2022-09-14T09:49:06.108" v="0" actId="26606"/>
          <ac:spMkLst>
            <pc:docMk/>
            <pc:sldMk cId="59144495" sldId="256"/>
            <ac:spMk id="11" creationId="{675B157A-751A-4B3B-84E6-DAD66F6593CA}"/>
          </ac:spMkLst>
        </pc:spChg>
        <pc:spChg chg="del">
          <ac:chgData name="Asif Muhammad" userId="6b0af2cb-2f76-400b-94d9-178b55ef4f85" providerId="ADAL" clId="{049F4E14-188D-4690-9919-7BC78092B7BE}" dt="2022-09-14T09:49:06.108" v="0" actId="26606"/>
          <ac:spMkLst>
            <pc:docMk/>
            <pc:sldMk cId="59144495" sldId="256"/>
            <ac:spMk id="21" creationId="{734F9891-918B-4907-B215-68406A700E8D}"/>
          </ac:spMkLst>
        </pc:spChg>
        <pc:grpChg chg="del">
          <ac:chgData name="Asif Muhammad" userId="6b0af2cb-2f76-400b-94d9-178b55ef4f85" providerId="ADAL" clId="{049F4E14-188D-4690-9919-7BC78092B7BE}" dt="2022-09-14T09:49:06.108" v="0" actId="26606"/>
          <ac:grpSpMkLst>
            <pc:docMk/>
            <pc:sldMk cId="59144495" sldId="256"/>
            <ac:grpSpMk id="13" creationId="{FBC8EF01-693C-48AC-85A7-E9DECBCDB7D3}"/>
          </ac:grpSpMkLst>
        </pc:grpChg>
        <pc:picChg chg="mod ord">
          <ac:chgData name="Asif Muhammad" userId="6b0af2cb-2f76-400b-94d9-178b55ef4f85" providerId="ADAL" clId="{049F4E14-188D-4690-9919-7BC78092B7BE}" dt="2022-09-14T09:49:06.108" v="0" actId="26606"/>
          <ac:picMkLst>
            <pc:docMk/>
            <pc:sldMk cId="59144495" sldId="256"/>
            <ac:picMk id="6" creationId="{67D2132D-F637-4277-9BED-552CEE8E05AF}"/>
          </ac:picMkLst>
        </pc:picChg>
        <pc:picChg chg="mod">
          <ac:chgData name="Asif Muhammad" userId="6b0af2cb-2f76-400b-94d9-178b55ef4f85" providerId="ADAL" clId="{049F4E14-188D-4690-9919-7BC78092B7BE}" dt="2022-09-14T09:49:06.108" v="0" actId="26606"/>
          <ac:picMkLst>
            <pc:docMk/>
            <pc:sldMk cId="59144495" sldId="256"/>
            <ac:picMk id="24" creationId="{FEBE3691-2381-4ED8-A974-112AD4BD7B3E}"/>
          </ac:picMkLst>
        </pc:picChg>
        <pc:cxnChg chg="del">
          <ac:chgData name="Asif Muhammad" userId="6b0af2cb-2f76-400b-94d9-178b55ef4f85" providerId="ADAL" clId="{049F4E14-188D-4690-9919-7BC78092B7BE}" dt="2022-09-14T09:49:06.108" v="0" actId="26606"/>
          <ac:cxnSpMkLst>
            <pc:docMk/>
            <pc:sldMk cId="59144495" sldId="256"/>
            <ac:cxnSpMk id="23" creationId="{ABE42DBE-98BB-40FC-9C91-3BCB67F8385F}"/>
          </ac:cxnSpMkLst>
        </pc:cxnChg>
      </pc:sldChg>
      <pc:sldChg chg="modSp mod">
        <pc:chgData name="Asif Muhammad" userId="6b0af2cb-2f76-400b-94d9-178b55ef4f85" providerId="ADAL" clId="{049F4E14-188D-4690-9919-7BC78092B7BE}" dt="2022-09-19T08:33:20.847" v="10"/>
        <pc:sldMkLst>
          <pc:docMk/>
          <pc:sldMk cId="955381191" sldId="270"/>
        </pc:sldMkLst>
        <pc:spChg chg="mod">
          <ac:chgData name="Asif Muhammad" userId="6b0af2cb-2f76-400b-94d9-178b55ef4f85" providerId="ADAL" clId="{049F4E14-188D-4690-9919-7BC78092B7BE}" dt="2022-09-19T08:33:20.847" v="10"/>
          <ac:spMkLst>
            <pc:docMk/>
            <pc:sldMk cId="955381191" sldId="270"/>
            <ac:spMk id="5" creationId="{9D60FFD4-746E-4A9B-A234-AF611D26E984}"/>
          </ac:spMkLst>
        </pc:spChg>
      </pc:sldChg>
      <pc:sldChg chg="modSp">
        <pc:chgData name="Asif Muhammad" userId="6b0af2cb-2f76-400b-94d9-178b55ef4f85" providerId="ADAL" clId="{049F4E14-188D-4690-9919-7BC78092B7BE}" dt="2022-09-14T11:05:38.743" v="2" actId="15"/>
        <pc:sldMkLst>
          <pc:docMk/>
          <pc:sldMk cId="166366298" sldId="273"/>
        </pc:sldMkLst>
        <pc:spChg chg="mod">
          <ac:chgData name="Asif Muhammad" userId="6b0af2cb-2f76-400b-94d9-178b55ef4f85" providerId="ADAL" clId="{049F4E14-188D-4690-9919-7BC78092B7BE}" dt="2022-09-14T11:05:38.743" v="2" actId="15"/>
          <ac:spMkLst>
            <pc:docMk/>
            <pc:sldMk cId="166366298" sldId="273"/>
            <ac:spMk id="4" creationId="{32AC0ED0-A41A-4116-9B1A-0DB5B054A9F9}"/>
          </ac:spMkLst>
        </pc:spChg>
      </pc:sldChg>
    </pc:docChg>
  </pc:docChgLst>
  <pc:docChgLst>
    <pc:chgData name="Asif Muhammad" userId="6b0af2cb-2f76-400b-94d9-178b55ef4f85" providerId="ADAL" clId="{1A57FA0F-D90A-4ED5-A441-66608AC10A31}"/>
    <pc:docChg chg="undo custSel modSld">
      <pc:chgData name="Asif Muhammad" userId="6b0af2cb-2f76-400b-94d9-178b55ef4f85" providerId="ADAL" clId="{1A57FA0F-D90A-4ED5-A441-66608AC10A31}" dt="2023-03-08T07:53:55.369" v="30" actId="1076"/>
      <pc:docMkLst>
        <pc:docMk/>
      </pc:docMkLst>
      <pc:sldChg chg="addSp delSp modSp mod">
        <pc:chgData name="Asif Muhammad" userId="6b0af2cb-2f76-400b-94d9-178b55ef4f85" providerId="ADAL" clId="{1A57FA0F-D90A-4ED5-A441-66608AC10A31}" dt="2023-03-08T07:53:55.369" v="30" actId="1076"/>
        <pc:sldMkLst>
          <pc:docMk/>
          <pc:sldMk cId="59144495" sldId="256"/>
        </pc:sldMkLst>
        <pc:spChg chg="add del mod">
          <ac:chgData name="Asif Muhammad" userId="6b0af2cb-2f76-400b-94d9-178b55ef4f85" providerId="ADAL" clId="{1A57FA0F-D90A-4ED5-A441-66608AC10A31}" dt="2023-03-08T07:53:42.379" v="26" actId="20577"/>
          <ac:spMkLst>
            <pc:docMk/>
            <pc:sldMk cId="59144495" sldId="256"/>
            <ac:spMk id="2" creationId="{CB7DE853-BCBC-430E-9E0E-0F6CF6FA172A}"/>
          </ac:spMkLst>
        </pc:spChg>
        <pc:spChg chg="del">
          <ac:chgData name="Asif Muhammad" userId="6b0af2cb-2f76-400b-94d9-178b55ef4f85" providerId="ADAL" clId="{1A57FA0F-D90A-4ED5-A441-66608AC10A31}" dt="2023-03-08T07:53:46.954" v="28" actId="478"/>
          <ac:spMkLst>
            <pc:docMk/>
            <pc:sldMk cId="59144495" sldId="256"/>
            <ac:spMk id="3" creationId="{F72CBD22-20B1-4482-90C0-02CE5CDAB4CB}"/>
          </ac:spMkLst>
        </pc:spChg>
        <pc:spChg chg="add del mod">
          <ac:chgData name="Asif Muhammad" userId="6b0af2cb-2f76-400b-94d9-178b55ef4f85" providerId="ADAL" clId="{1A57FA0F-D90A-4ED5-A441-66608AC10A31}" dt="2023-03-08T07:53:34.644" v="1" actId="478"/>
          <ac:spMkLst>
            <pc:docMk/>
            <pc:sldMk cId="59144495" sldId="256"/>
            <ac:spMk id="5" creationId="{A5620835-99DE-2789-7BDE-E9AA9B8EA3E2}"/>
          </ac:spMkLst>
        </pc:spChg>
        <pc:spChg chg="add del mod">
          <ac:chgData name="Asif Muhammad" userId="6b0af2cb-2f76-400b-94d9-178b55ef4f85" providerId="ADAL" clId="{1A57FA0F-D90A-4ED5-A441-66608AC10A31}" dt="2023-03-08T07:53:49.404" v="29" actId="478"/>
          <ac:spMkLst>
            <pc:docMk/>
            <pc:sldMk cId="59144495" sldId="256"/>
            <ac:spMk id="8" creationId="{21EC306C-CEF8-A63F-675E-392D801C21CC}"/>
          </ac:spMkLst>
        </pc:spChg>
        <pc:picChg chg="mod">
          <ac:chgData name="Asif Muhammad" userId="6b0af2cb-2f76-400b-94d9-178b55ef4f85" providerId="ADAL" clId="{1A57FA0F-D90A-4ED5-A441-66608AC10A31}" dt="2023-03-08T07:53:55.369" v="30" actId="1076"/>
          <ac:picMkLst>
            <pc:docMk/>
            <pc:sldMk cId="59144495" sldId="256"/>
            <ac:picMk id="6" creationId="{67D2132D-F637-4277-9BED-552CEE8E05AF}"/>
          </ac:picMkLst>
        </pc:picChg>
        <pc:picChg chg="del">
          <ac:chgData name="Asif Muhammad" userId="6b0af2cb-2f76-400b-94d9-178b55ef4f85" providerId="ADAL" clId="{1A57FA0F-D90A-4ED5-A441-66608AC10A31}" dt="2023-03-08T07:53:44.628" v="27" actId="478"/>
          <ac:picMkLst>
            <pc:docMk/>
            <pc:sldMk cId="59144495" sldId="256"/>
            <ac:picMk id="24" creationId="{FEBE3691-2381-4ED8-A974-112AD4BD7B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CA4AC-D21B-4118-AFDE-76E55DC4137B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C535D-D17C-453F-AE27-280D97748B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9404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3427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Output: 10+10=20</a:t>
            </a:r>
          </a:p>
          <a:p>
            <a:r>
              <a:rPr lang="en-GB" dirty="0"/>
              <a:t>Output: Ten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C535D-D17C-453F-AE27-280D97748B1B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9354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Output: Eleven</a:t>
            </a:r>
          </a:p>
          <a:p>
            <a:r>
              <a:rPr lang="en-GB" dirty="0"/>
              <a:t>Output: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C535D-D17C-453F-AE27-280D97748B1B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32845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C535D-D17C-453F-AE27-280D97748B1B}" type="slidenum">
              <a:rPr lang="en-PK" smtClean="0"/>
              <a:t>25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97555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</a:p>
          <a:p>
            <a:r>
              <a:rPr lang="en-US" dirty="0"/>
              <a:t>10</a:t>
            </a:r>
          </a:p>
          <a:p>
            <a:r>
              <a:rPr lang="en-US" dirty="0"/>
              <a:t>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CC535D-D17C-453F-AE27-280D97748B1B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498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074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915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334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927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053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7268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13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505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855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1705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4427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3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2887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0402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81306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690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65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9537" y="10666"/>
            <a:ext cx="10018713" cy="1197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9538" y="1208534"/>
            <a:ext cx="10018712" cy="51180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6409749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9AE240-3C45-46DC-AB26-1483C6204ECE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6409749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6409749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  <p:pic>
        <p:nvPicPr>
          <p:cNvPr id="15" name="Picture 8" descr="Image result for JavaScript png icon">
            <a:extLst>
              <a:ext uri="{FF2B5EF4-FFF2-40B4-BE49-F238E27FC236}">
                <a16:creationId xmlns:a16="http://schemas.microsoft.com/office/drawing/2014/main" id="{75F4371C-1CDA-49AB-A8D7-70CF0879A21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6" t="17029" r="19526" b="14622"/>
          <a:stretch/>
        </p:blipFill>
        <p:spPr bwMode="auto">
          <a:xfrm>
            <a:off x="11065237" y="74277"/>
            <a:ext cx="1064303" cy="11978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74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3104494/does-javascript-pass-by-referenc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react/react_es6.asp" TargetMode="External"/><Relationship Id="rId2" Type="http://schemas.openxmlformats.org/officeDocument/2006/relationships/hyperlink" Target="https://developer.mozilla.org/en-US/docs/Web/JavaScript/Guide/Details_of_the_Object_Mode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Classes" TargetMode="External"/><Relationship Id="rId2" Type="http://schemas.openxmlformats.org/officeDocument/2006/relationships/hyperlink" Target="https://developer.mozilla.org/en-US/docs/Web/JavaScript/Guide/Details_of_the_Object_Mode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react/react_es6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E853-BCBC-430E-9E0E-0F6CF6FA1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3783" y="1380068"/>
            <a:ext cx="497830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100" dirty="0"/>
              <a:t>JavaScript Functions</a:t>
            </a:r>
            <a:endParaRPr lang="en-PK" sz="5100" dirty="0"/>
          </a:p>
        </p:txBody>
      </p:sp>
      <p:pic>
        <p:nvPicPr>
          <p:cNvPr id="6" name="Picture 8" descr="Image result for JavaScript png icon">
            <a:extLst>
              <a:ext uri="{FF2B5EF4-FFF2-40B4-BE49-F238E27FC236}">
                <a16:creationId xmlns:a16="http://schemas.microsoft.com/office/drawing/2014/main" id="{67D2132D-F637-4277-9BED-552CEE8E05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6" t="17029" r="19526" b="14622"/>
          <a:stretch/>
        </p:blipFill>
        <p:spPr bwMode="auto">
          <a:xfrm>
            <a:off x="7425645" y="2200314"/>
            <a:ext cx="2183371" cy="245737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4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Functions:</a:t>
            </a:r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98" name="Google Shape;298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299" name="Google Shape;299;p35"/>
          <p:cNvGraphicFramePr/>
          <p:nvPr/>
        </p:nvGraphicFramePr>
        <p:xfrm>
          <a:off x="1097263" y="1692700"/>
          <a:ext cx="10202075" cy="4754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6800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is one the most important building block of JavaScript. It is a similar to procedure.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a set of instructions that will calculate or perform any task.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But this is written separately in a block which can be called again and again to perform that task.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can take in input or not. You can pass as many inputs. These inputs are known as </a:t>
                      </a:r>
                      <a:r>
                        <a:rPr lang="en-US" sz="1200" b="1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parameters.</a:t>
                      </a: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Also it can return a value or not. Function those who don’t return values are known as void function.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use a function, you must define it somewhere in the scope from which you wish to call it.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Declaration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Making or defining a function is known as a function declaration.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consists of </a:t>
                      </a:r>
                      <a:r>
                        <a:rPr lang="en-US" sz="1200" b="1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</a:t>
                      </a: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keyword followed by the name of the function with parenthesis in which you can pass the parameters as inputs.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Then {} brackets in which you can write appropriate instructions.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/keyword  name parameters</a:t>
                      </a:r>
                      <a:endParaRPr sz="1200" u="none" strike="noStrike" cap="none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200" u="none" strike="noStrike" cap="none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(</a:t>
                      </a:r>
                      <a:r>
                        <a:rPr lang="en-US" sz="12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</a:t>
                      </a:r>
                      <a:r>
                        <a:rPr lang="en-US" sz="12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</a:t>
                      </a: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{</a:t>
                      </a:r>
                      <a:endParaRPr sz="1200" u="none" strike="noStrike" cap="none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// block of code</a:t>
                      </a:r>
                      <a:endParaRPr sz="1200" u="none" strike="noStrike" cap="none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return</a:t>
                      </a:r>
                      <a:r>
                        <a:rPr lang="en-US" sz="12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</a:t>
                      </a: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</a:t>
                      </a:r>
                      <a:r>
                        <a:rPr lang="en-US" sz="12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</a:t>
                      </a:r>
                      <a:endParaRPr sz="1200" u="none" strike="noStrike" cap="none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200" u="none" strike="noStrike" cap="none">
                        <a:solidFill>
                          <a:srgbClr val="C586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Invocation: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this to work you need to call this function name.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is also known as invoking the function.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the function has no return statement then you can just call it.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But if has the </a:t>
                      </a:r>
                      <a:r>
                        <a:rPr lang="en-US" sz="1200" b="1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value then you have to store the value in an  variable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200" u="none" strike="noStrike" cap="none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r>
                        <a:rPr lang="en-US" sz="12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(5,6)</a:t>
                      </a:r>
                      <a:r>
                        <a:rPr lang="en-US" sz="1200" u="none" strike="noStrike" cap="none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// calling a function</a:t>
                      </a:r>
                      <a:endParaRPr sz="1200" u="none" strike="noStrike" cap="none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13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D29B-E41B-454C-B6C9-49FA6E92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83F82-94C4-4ED0-9771-0581F7A09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Block of code designed to perform a particular task.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JavaScript function is defined with the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function</a:t>
            </a:r>
            <a:r>
              <a:rPr lang="en-US" dirty="0"/>
              <a:t> keyword, followed by a </a:t>
            </a:r>
            <a:r>
              <a:rPr lang="en-US" dirty="0" smtClean="0"/>
              <a:t>name</a:t>
            </a:r>
            <a:r>
              <a:rPr lang="en-US" dirty="0"/>
              <a:t>, followed by parentheses </a:t>
            </a:r>
            <a:r>
              <a:rPr lang="en-US" dirty="0" smtClean="0"/>
              <a:t>().</a:t>
            </a:r>
          </a:p>
          <a:p>
            <a:endParaRPr lang="en-US" dirty="0"/>
          </a:p>
          <a:p>
            <a:r>
              <a:rPr lang="en-US" dirty="0" smtClean="0"/>
              <a:t>Calling: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 smtClean="0"/>
              <a:t>myFunction</a:t>
            </a:r>
            <a:r>
              <a:rPr lang="en-US" dirty="0" smtClean="0"/>
              <a:t>(5,2);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5B91F4-F139-4B2F-83C7-61A3438F4A2F}"/>
              </a:ext>
            </a:extLst>
          </p:cNvPr>
          <p:cNvSpPr/>
          <p:nvPr/>
        </p:nvSpPr>
        <p:spPr>
          <a:xfrm>
            <a:off x="1833796" y="1749917"/>
            <a:ext cx="8764249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(p1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p2)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p1 * p2;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The function returns the product of p1 and p2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8272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960209"/>
              </p:ext>
            </p:extLst>
          </p:nvPr>
        </p:nvGraphicFramePr>
        <p:xfrm>
          <a:off x="1573967" y="1723869"/>
          <a:ext cx="9114020" cy="4557009"/>
        </p:xfrm>
        <a:graphic>
          <a:graphicData uri="http://schemas.openxmlformats.org/drawingml/2006/table">
            <a:tbl>
              <a:tblPr/>
              <a:tblGrid>
                <a:gridCol w="9114020">
                  <a:extLst>
                    <a:ext uri="{9D8B030D-6E8A-4147-A177-3AD203B41FA5}">
                      <a16:colId xmlns:a16="http://schemas.microsoft.com/office/drawing/2014/main" val="486222792"/>
                    </a:ext>
                  </a:extLst>
                </a:gridCol>
              </a:tblGrid>
              <a:tr h="455700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i="0" dirty="0" smtClean="0">
                          <a:effectLst/>
                          <a:latin typeface="Consolas" panose="020B0609020204030204" pitchFamily="49" charset="0"/>
                        </a:rPr>
                        <a:t>function foo(a) {</a:t>
                      </a:r>
                    </a:p>
                    <a:p>
                      <a:pPr algn="l" rtl="0" fontAlgn="base"/>
                      <a:r>
                        <a:rPr lang="en-US" sz="2000" b="0" i="0" dirty="0" smtClean="0">
                          <a:effectLst/>
                          <a:latin typeface="Consolas" panose="020B0609020204030204" pitchFamily="49" charset="0"/>
                        </a:rPr>
                        <a:t>    console.log("msg1:",a);</a:t>
                      </a:r>
                    </a:p>
                    <a:p>
                      <a:pPr algn="l" rtl="0" fontAlgn="base"/>
                      <a:r>
                        <a:rPr lang="en-US" sz="2000" b="0" i="0" dirty="0" smtClean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algn="l" rtl="0" fontAlgn="base"/>
                      <a:r>
                        <a:rPr lang="en-US" sz="2000" b="0" i="0" dirty="0" smtClean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indent="0" fontAlgn="base">
                        <a:buNone/>
                      </a:pP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function foo(</a:t>
                      </a:r>
                      <a:r>
                        <a:rPr lang="en-US" sz="2000" dirty="0" err="1" smtClean="0">
                          <a:latin typeface="Consolas" panose="020B0609020204030204" pitchFamily="49" charset="0"/>
                        </a:rPr>
                        <a:t>a,b,c</a:t>
                      </a: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 marL="0" indent="0" fontAlgn="base">
                        <a:buNone/>
                      </a:pP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    console.log("msg2:",a,b,c);</a:t>
                      </a:r>
                    </a:p>
                    <a:p>
                      <a:pPr marL="0" indent="0" fontAlgn="base">
                        <a:buNone/>
                      </a:pP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algn="l" rtl="0" fontAlgn="base"/>
                      <a:r>
                        <a:rPr lang="en-US" sz="2000" b="0" i="0" dirty="0" smtClean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algn="l" rtl="0" fontAlgn="base"/>
                      <a:endParaRPr lang="en-US" sz="2000" b="0" i="0" dirty="0" smtClean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rtl="0" fontAlgn="base"/>
                      <a:r>
                        <a:rPr lang="en-US" sz="2000" b="0" i="0" dirty="0" smtClean="0">
                          <a:effectLst/>
                          <a:latin typeface="Consolas" panose="020B0609020204030204" pitchFamily="49" charset="0"/>
                        </a:rPr>
                        <a:t>foo("hello");</a:t>
                      </a:r>
                      <a:endParaRPr lang="en-US" sz="2000" b="0" i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617772"/>
                  </a:ext>
                </a:extLst>
              </a:tr>
            </a:tbl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3571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  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71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Unlike other programming languages, JavaScript </a:t>
            </a:r>
            <a:r>
              <a:rPr lang="en-US" b="1" i="1" dirty="0"/>
              <a:t>Does not support Function Overloading</a:t>
            </a:r>
            <a:r>
              <a:rPr lang="en-US" i="1" dirty="0" smtClean="0"/>
              <a:t>.</a:t>
            </a:r>
          </a:p>
          <a:p>
            <a:pPr marL="0" indent="0" fontAlgn="base">
              <a:buNone/>
            </a:pPr>
            <a:r>
              <a:rPr lang="en-US" dirty="0">
                <a:latin typeface="Consolas" panose="020B0609020204030204" pitchFamily="49" charset="0"/>
              </a:rPr>
              <a:t>function foo(a) {</a:t>
            </a:r>
          </a:p>
          <a:p>
            <a:pPr marL="0" indent="0" fontAlgn="base">
              <a:buNone/>
            </a:pPr>
            <a:r>
              <a:rPr lang="en-US" dirty="0">
                <a:latin typeface="Consolas" panose="020B0609020204030204" pitchFamily="49" charset="0"/>
              </a:rPr>
              <a:t>    console.log("msg1",a);</a:t>
            </a:r>
          </a:p>
          <a:p>
            <a:pPr marL="0" indent="0" fontAlgn="base">
              <a:buNone/>
            </a:pPr>
            <a:r>
              <a:rPr lang="en-US" dirty="0" smtClean="0">
                <a:latin typeface="Consolas" panose="020B0609020204030204" pitchFamily="49" charset="0"/>
              </a:rPr>
              <a:t>}</a:t>
            </a:r>
          </a:p>
          <a:p>
            <a:pPr marL="0" indent="0" fontAlgn="base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 fontAlgn="base">
              <a:buNone/>
            </a:pPr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smtClean="0">
                <a:latin typeface="Consolas" panose="020B0609020204030204" pitchFamily="49" charset="0"/>
              </a:rPr>
              <a:t>foo(</a:t>
            </a:r>
            <a:r>
              <a:rPr lang="en-US" dirty="0" err="1" smtClean="0">
                <a:latin typeface="Consolas" panose="020B0609020204030204" pitchFamily="49" charset="0"/>
              </a:rPr>
              <a:t>a,b,c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 marL="0" indent="0" fontAlgn="base">
              <a:buNone/>
            </a:pPr>
            <a:r>
              <a:rPr lang="en-US" dirty="0">
                <a:latin typeface="Consolas" panose="020B0609020204030204" pitchFamily="49" charset="0"/>
              </a:rPr>
              <a:t>    console.log("msg2:",a,b,c);</a:t>
            </a:r>
          </a:p>
          <a:p>
            <a:pPr marL="0" indent="0" fontAlgn="base">
              <a:buNone/>
            </a:pPr>
            <a:r>
              <a:rPr lang="en-US" dirty="0" smtClean="0">
                <a:latin typeface="Consolas" panose="020B0609020204030204" pitchFamily="49" charset="0"/>
              </a:rPr>
              <a:t>}</a:t>
            </a:r>
          </a:p>
          <a:p>
            <a:pPr marL="0" indent="0" fontAlgn="base">
              <a:buNone/>
            </a:pPr>
            <a:r>
              <a:rPr lang="en-US" dirty="0">
                <a:latin typeface="Consolas" panose="020B0609020204030204" pitchFamily="49" charset="0"/>
              </a:rPr>
              <a:t> </a:t>
            </a:r>
          </a:p>
          <a:p>
            <a:pPr marL="0" indent="0" fontAlgn="base">
              <a:buNone/>
            </a:pPr>
            <a:r>
              <a:rPr lang="en-US" dirty="0" smtClean="0">
                <a:latin typeface="Consolas" panose="020B0609020204030204" pitchFamily="49" charset="0"/>
              </a:rPr>
              <a:t>foo1("</a:t>
            </a:r>
            <a:r>
              <a:rPr lang="en-US" dirty="0">
                <a:latin typeface="Consolas" panose="020B0609020204030204" pitchFamily="49" charset="0"/>
              </a:rPr>
              <a:t>hello");</a:t>
            </a:r>
          </a:p>
          <a:p>
            <a:endParaRPr lang="en-US" i="1" dirty="0"/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195279" y="3453559"/>
            <a:ext cx="4407107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/* The above function will be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overwritten by the function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below, and the below function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will be executed for any number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and any type of arguments */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23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DEE9-9845-4BF6-B434-625888FB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ES6 Default Parameters</a:t>
            </a:r>
            <a:endParaRPr lang="en-PK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2DF9-9E80-469A-865C-D078EFD2F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default parameters, a manual check in the function body is no longer necessary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1F9EDE-731B-464A-A18F-0AA800D2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357" y="2497494"/>
            <a:ext cx="7265915" cy="2860358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en-GB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0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kumimoji="0" lang="en-GB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1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GB" altLang="en-PK" sz="2800" b="0" i="0" u="none" strike="noStrike" cap="none" normalizeH="0" baseline="0" dirty="0">
              <a:ln>
                <a:noFill/>
              </a:ln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altLang="en-PK" sz="28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altLang="en-PK" sz="28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kumimoji="0" lang="en-PK" altLang="en-PK" sz="2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en-GB" altLang="en-PK" sz="2800" b="0" i="0" u="none" strike="noStrike" cap="none" normalizeH="0" baseline="0" dirty="0">
              <a:ln>
                <a:noFill/>
              </a:ln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PK" altLang="en-PK" sz="2800" dirty="0">
                <a:solidFill>
                  <a:srgbClr val="DD4A68"/>
                </a:solidFill>
                <a:latin typeface="Consolas" panose="020B0609020204030204" pitchFamily="49" charset="0"/>
              </a:rPr>
              <a:t>multiply</a:t>
            </a:r>
            <a:r>
              <a:rPr lang="en-PK" altLang="en-PK" sz="2800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GB" altLang="en-PK" sz="2800" dirty="0">
                <a:latin typeface="Consolas" panose="020B0609020204030204" pitchFamily="49" charset="0"/>
              </a:rPr>
              <a:t>5</a:t>
            </a:r>
            <a:r>
              <a:rPr lang="en-PK" altLang="en-PK" sz="2800" dirty="0" smtClean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endParaRPr lang="en-GB" altLang="en-PK" sz="28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PK" altLang="en-PK" sz="2800" dirty="0">
                <a:solidFill>
                  <a:srgbClr val="DD4A68"/>
                </a:solidFill>
                <a:latin typeface="Consolas" panose="020B0609020204030204" pitchFamily="49" charset="0"/>
              </a:rPr>
              <a:t>multiply</a:t>
            </a:r>
            <a:r>
              <a:rPr lang="en-PK" altLang="en-PK" sz="2800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GB" altLang="en-PK" sz="2800" dirty="0">
                <a:latin typeface="Consolas" panose="020B0609020204030204" pitchFamily="49" charset="0"/>
              </a:rPr>
              <a:t>5, 5</a:t>
            </a:r>
            <a:r>
              <a:rPr lang="en-PK" altLang="en-PK" sz="2800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r>
              <a:rPr lang="en-PK" altLang="en-PK" sz="28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endParaRPr kumimoji="0" lang="en-GB" altLang="en-PK" sz="2800" b="0" i="0" u="none" strike="noStrike" cap="none" normalizeH="0" baseline="0" dirty="0">
              <a:ln>
                <a:noFill/>
              </a:ln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93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283" y="384075"/>
            <a:ext cx="10018712" cy="5118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function foo(a) {</a:t>
            </a:r>
          </a:p>
          <a:p>
            <a:pPr marL="0" indent="0">
              <a:buNone/>
            </a:pPr>
            <a:r>
              <a:rPr lang="en-US" dirty="0"/>
              <a:t>    console.log("msg1",a);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foo(</a:t>
            </a:r>
            <a:r>
              <a:rPr lang="en-US" dirty="0" err="1"/>
              <a:t>a,b,c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    console.log("msg2:",a,b,c);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foo() {</a:t>
            </a:r>
          </a:p>
          <a:p>
            <a:pPr marL="0" indent="0">
              <a:buNone/>
            </a:pPr>
            <a:r>
              <a:rPr lang="en-US" dirty="0"/>
              <a:t>    console.log("msg3:",a, b);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foo("hello");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0761" y="494675"/>
            <a:ext cx="3432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Less Arguments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6078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184" y="219183"/>
            <a:ext cx="10018712" cy="61216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function foo(a) {</a:t>
            </a:r>
          </a:p>
          <a:p>
            <a:pPr marL="0" indent="0">
              <a:buNone/>
            </a:pPr>
            <a:r>
              <a:rPr lang="en-US" sz="2000" dirty="0"/>
              <a:t>    console.log("msg1",a);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function foo(</a:t>
            </a:r>
            <a:r>
              <a:rPr lang="en-US" sz="2000" dirty="0" err="1"/>
              <a:t>a,b,c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    console.log("msg2:",a,b,c);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function foo() {</a:t>
            </a:r>
          </a:p>
          <a:p>
            <a:pPr marL="0" indent="0">
              <a:buNone/>
            </a:pPr>
            <a:r>
              <a:rPr lang="en-US" sz="2000" dirty="0"/>
              <a:t>    console.log("msg3</a:t>
            </a:r>
            <a:r>
              <a:rPr lang="en-US" sz="2000" dirty="0" smtClean="0"/>
              <a:t>:");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foo("hello");</a:t>
            </a:r>
          </a:p>
        </p:txBody>
      </p:sp>
    </p:spTree>
    <p:extLst>
      <p:ext uri="{BB962C8B-B14F-4D97-AF65-F5344CB8AC3E}">
        <p14:creationId xmlns:p14="http://schemas.microsoft.com/office/powerpoint/2010/main" val="40831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4095" y="548965"/>
            <a:ext cx="10018712" cy="5731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function foo(a) {</a:t>
            </a:r>
          </a:p>
          <a:p>
            <a:pPr marL="0" indent="0">
              <a:buNone/>
            </a:pPr>
            <a:r>
              <a:rPr lang="en-US" sz="2000" dirty="0"/>
              <a:t>    console.log("msg1",a);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function foo(</a:t>
            </a:r>
            <a:r>
              <a:rPr lang="en-US" sz="2000" dirty="0" err="1"/>
              <a:t>a,b,c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    console.log("msg2:",a,b,c);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function foo() {</a:t>
            </a:r>
          </a:p>
          <a:p>
            <a:pPr marL="0" indent="0">
              <a:buNone/>
            </a:pPr>
            <a:r>
              <a:rPr lang="en-US" sz="2000" dirty="0"/>
              <a:t>    console.log("msg3:",arguments[0]);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 </a:t>
            </a:r>
            <a:r>
              <a:rPr lang="en-US" sz="2000" dirty="0" smtClean="0"/>
              <a:t>foo</a:t>
            </a:r>
            <a:r>
              <a:rPr lang="en-US" sz="2000" dirty="0"/>
              <a:t>("hello");</a:t>
            </a:r>
          </a:p>
        </p:txBody>
      </p:sp>
    </p:spTree>
    <p:extLst>
      <p:ext uri="{BB962C8B-B14F-4D97-AF65-F5344CB8AC3E}">
        <p14:creationId xmlns:p14="http://schemas.microsoft.com/office/powerpoint/2010/main" val="248550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4095" y="548965"/>
            <a:ext cx="10018712" cy="5731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function foo(a) {</a:t>
            </a:r>
          </a:p>
          <a:p>
            <a:pPr marL="0" indent="0">
              <a:buNone/>
            </a:pPr>
            <a:r>
              <a:rPr lang="en-US" sz="2000" dirty="0"/>
              <a:t>    console.log("msg1",a);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function foo(</a:t>
            </a:r>
            <a:r>
              <a:rPr lang="en-US" sz="2000" dirty="0" err="1"/>
              <a:t>a,b,c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    console.log("msg2:",a,b,c);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function foo() {</a:t>
            </a:r>
          </a:p>
          <a:p>
            <a:pPr marL="0" indent="0">
              <a:buNone/>
            </a:pPr>
            <a:r>
              <a:rPr lang="en-US" sz="2000" dirty="0"/>
              <a:t>    console.log("msg3:",</a:t>
            </a:r>
            <a:r>
              <a:rPr lang="en-US" sz="2000" dirty="0" smtClean="0"/>
              <a:t>arguments[1]);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 </a:t>
            </a:r>
            <a:r>
              <a:rPr lang="en-US" sz="2000" dirty="0" smtClean="0"/>
              <a:t>foo</a:t>
            </a:r>
            <a:r>
              <a:rPr lang="en-US" sz="2000" dirty="0"/>
              <a:t>("hello");</a:t>
            </a:r>
          </a:p>
        </p:txBody>
      </p:sp>
    </p:spTree>
    <p:extLst>
      <p:ext uri="{BB962C8B-B14F-4D97-AF65-F5344CB8AC3E}">
        <p14:creationId xmlns:p14="http://schemas.microsoft.com/office/powerpoint/2010/main" val="191076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3319-6FA2-4C0B-A2C0-ED0DDC45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Arguments Object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4A33-34A9-4E1B-8E57-2B15EC526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145470"/>
            <a:ext cx="10018712" cy="9403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arguments of a function are maintained in an array-like object</a:t>
            </a:r>
          </a:p>
          <a:p>
            <a:r>
              <a:rPr lang="en-US" dirty="0"/>
              <a:t>All arguments can be retrieved using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arguments</a:t>
            </a:r>
            <a:r>
              <a:rPr lang="en-US" dirty="0"/>
              <a:t> object</a:t>
            </a:r>
          </a:p>
          <a:p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DC7A7F-75B0-40B5-94EB-C29A18A86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6960" y="5854106"/>
            <a:ext cx="8671560" cy="830997"/>
          </a:xfrm>
          <a:prstGeom prst="rect">
            <a:avLst/>
          </a:prstGeom>
          <a:solidFill>
            <a:srgbClr val="FFF3D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x-locale-heading-primary"/>
              </a:rPr>
              <a:t>Note: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x-locale-heading-primary"/>
              </a:rPr>
              <a:t> The 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x-locale-heading-primary"/>
              </a:rPr>
              <a:t> variable is "array-like", but not an array. It is array-like in that it has a numbered index and a 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x-locale-heading-primary"/>
              </a:rPr>
              <a:t> property. However, it does </a:t>
            </a:r>
            <a:r>
              <a:rPr kumimoji="0" lang="en-PK" altLang="en-PK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x-locale-heading-primary"/>
              </a:rPr>
              <a:t>not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x-locale-heading-primary"/>
              </a:rPr>
              <a:t> possess all of the array-manipulation methods.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</a:rPr>
              <a:t> 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60FFD4-746E-4A9B-A234-AF611D26E984}"/>
              </a:ext>
            </a:extLst>
          </p:cNvPr>
          <p:cNvSpPr/>
          <p:nvPr/>
        </p:nvSpPr>
        <p:spPr>
          <a:xfrm>
            <a:off x="1632585" y="2033341"/>
            <a:ext cx="9385935" cy="3643551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 </a:t>
            </a:r>
            <a:r>
              <a:rPr lang="en-GB" sz="1600" dirty="0" err="1">
                <a:latin typeface="Consolas" panose="020B0609020204030204" pitchFamily="49" charset="0"/>
              </a:rPr>
              <a:t>myConcat</a:t>
            </a:r>
            <a:r>
              <a:rPr lang="en-GB" sz="1600" dirty="0">
                <a:latin typeface="Consolas" panose="020B0609020204030204" pitchFamily="49" charset="0"/>
              </a:rPr>
              <a:t>() 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    </a:t>
            </a:r>
            <a:r>
              <a:rPr lang="en-GB" sz="1600" dirty="0" err="1">
                <a:latin typeface="Consolas" panose="020B0609020204030204" pitchFamily="49" charset="0"/>
              </a:rPr>
              <a:t>var</a:t>
            </a:r>
            <a:r>
              <a:rPr lang="en-GB" sz="1600" dirty="0">
                <a:latin typeface="Consolas" panose="020B0609020204030204" pitchFamily="49" charset="0"/>
              </a:rPr>
              <a:t> result = ''; 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    // iterate through arguments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    for (let </a:t>
            </a:r>
            <a:r>
              <a:rPr lang="en-GB" sz="1600" dirty="0" err="1">
                <a:latin typeface="Consolas" panose="020B0609020204030204" pitchFamily="49" charset="0"/>
              </a:rPr>
              <a:t>i</a:t>
            </a:r>
            <a:r>
              <a:rPr lang="en-GB" sz="1600" dirty="0">
                <a:latin typeface="Consolas" panose="020B0609020204030204" pitchFamily="49" charset="0"/>
              </a:rPr>
              <a:t> = 0; </a:t>
            </a:r>
            <a:r>
              <a:rPr lang="en-GB" sz="1600" dirty="0" err="1">
                <a:latin typeface="Consolas" panose="020B0609020204030204" pitchFamily="49" charset="0"/>
              </a:rPr>
              <a:t>i</a:t>
            </a:r>
            <a:r>
              <a:rPr lang="en-GB" sz="1600" dirty="0">
                <a:latin typeface="Consolas" panose="020B0609020204030204" pitchFamily="49" charset="0"/>
              </a:rPr>
              <a:t> &lt; </a:t>
            </a:r>
            <a:r>
              <a:rPr lang="en-GB" sz="1600" dirty="0" err="1">
                <a:latin typeface="Consolas" panose="020B0609020204030204" pitchFamily="49" charset="0"/>
              </a:rPr>
              <a:t>arguments.length</a:t>
            </a:r>
            <a:r>
              <a:rPr lang="en-GB" sz="1600" dirty="0">
                <a:latin typeface="Consolas" panose="020B0609020204030204" pitchFamily="49" charset="0"/>
              </a:rPr>
              <a:t>; </a:t>
            </a:r>
            <a:r>
              <a:rPr lang="en-GB" sz="1600" dirty="0" err="1">
                <a:latin typeface="Consolas" panose="020B0609020204030204" pitchFamily="49" charset="0"/>
              </a:rPr>
              <a:t>i</a:t>
            </a:r>
            <a:r>
              <a:rPr lang="en-GB" sz="1600" dirty="0">
                <a:latin typeface="Consolas" panose="020B0609020204030204" pitchFamily="49" charset="0"/>
              </a:rPr>
              <a:t>++)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        result += arguments[</a:t>
            </a:r>
            <a:r>
              <a:rPr lang="en-GB" sz="1600" dirty="0" err="1">
                <a:latin typeface="Consolas" panose="020B0609020204030204" pitchFamily="49" charset="0"/>
              </a:rPr>
              <a:t>i</a:t>
            </a:r>
            <a:r>
              <a:rPr lang="en-GB" sz="1600" dirty="0">
                <a:latin typeface="Consolas" panose="020B0609020204030204" pitchFamily="49" charset="0"/>
              </a:rPr>
              <a:t>] + " ";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    return result;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  <a:p>
            <a:r>
              <a:rPr lang="en-GB" sz="1600" dirty="0" err="1">
                <a:latin typeface="Consolas" panose="020B0609020204030204" pitchFamily="49" charset="0"/>
              </a:rPr>
              <a:t>var</a:t>
            </a:r>
            <a:r>
              <a:rPr lang="en-GB" sz="1600" dirty="0">
                <a:latin typeface="Consolas" panose="020B0609020204030204" pitchFamily="49" charset="0"/>
              </a:rPr>
              <a:t> result = </a:t>
            </a:r>
            <a:r>
              <a:rPr lang="en-GB" sz="1600" dirty="0" err="1">
                <a:latin typeface="Consolas" panose="020B0609020204030204" pitchFamily="49" charset="0"/>
              </a:rPr>
              <a:t>myConcat</a:t>
            </a:r>
            <a:r>
              <a:rPr lang="en-GB" sz="1600" dirty="0">
                <a:latin typeface="Consolas" panose="020B0609020204030204" pitchFamily="49" charset="0"/>
              </a:rPr>
              <a:t>( 'red', 'orange', 'blue');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console.log(result);</a:t>
            </a:r>
          </a:p>
          <a:p>
            <a:r>
              <a:rPr lang="en-GB" sz="1600" dirty="0" err="1">
                <a:latin typeface="Consolas" panose="020B0609020204030204" pitchFamily="49" charset="0"/>
              </a:rPr>
              <a:t>var</a:t>
            </a:r>
            <a:r>
              <a:rPr lang="en-GB" sz="1600" dirty="0">
                <a:latin typeface="Consolas" panose="020B0609020204030204" pitchFamily="49" charset="0"/>
              </a:rPr>
              <a:t> result = </a:t>
            </a:r>
            <a:r>
              <a:rPr lang="en-GB" sz="1600" dirty="0" err="1">
                <a:latin typeface="Consolas" panose="020B0609020204030204" pitchFamily="49" charset="0"/>
              </a:rPr>
              <a:t>myConcat</a:t>
            </a:r>
            <a:r>
              <a:rPr lang="en-GB" sz="1600" dirty="0">
                <a:latin typeface="Consolas" panose="020B0609020204030204" pitchFamily="49" charset="0"/>
              </a:rPr>
              <a:t>('elephant', 'giraffe', 'lion', 'cheetah');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console.log(result);</a:t>
            </a:r>
          </a:p>
          <a:p>
            <a:r>
              <a:rPr lang="en-GB" sz="1600" dirty="0" err="1">
                <a:latin typeface="Consolas" panose="020B0609020204030204" pitchFamily="49" charset="0"/>
              </a:rPr>
              <a:t>var</a:t>
            </a:r>
            <a:r>
              <a:rPr lang="en-GB" sz="1600" dirty="0">
                <a:latin typeface="Consolas" panose="020B0609020204030204" pitchFamily="49" charset="0"/>
              </a:rPr>
              <a:t> result = </a:t>
            </a:r>
            <a:r>
              <a:rPr lang="en-GB" sz="1600" dirty="0" err="1">
                <a:latin typeface="Consolas" panose="020B0609020204030204" pitchFamily="49" charset="0"/>
              </a:rPr>
              <a:t>myConcat</a:t>
            </a:r>
            <a:r>
              <a:rPr lang="en-GB" sz="1600" dirty="0">
                <a:latin typeface="Consolas" panose="020B0609020204030204" pitchFamily="49" charset="0"/>
              </a:rPr>
              <a:t>( 'sage', 'basil', 'oregano', 'pepper', 'parsley');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console.log(result);</a:t>
            </a:r>
          </a:p>
        </p:txBody>
      </p:sp>
    </p:spTree>
    <p:extLst>
      <p:ext uri="{BB962C8B-B14F-4D97-AF65-F5344CB8AC3E}">
        <p14:creationId xmlns:p14="http://schemas.microsoft.com/office/powerpoint/2010/main" val="95538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DEE9-9845-4BF6-B434-625888FB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Rest Parameters</a:t>
            </a:r>
            <a:endParaRPr lang="en-PK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2DF9-9E80-469A-865C-D078EFD2F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056134"/>
            <a:ext cx="10018712" cy="5118090"/>
          </a:xfrm>
        </p:spPr>
        <p:txBody>
          <a:bodyPr>
            <a:normAutofit/>
          </a:bodyPr>
          <a:lstStyle/>
          <a:p>
            <a:r>
              <a:rPr lang="en-US" dirty="0"/>
              <a:t>The rest parameter syntax allows us to represent an indefinite number of arguments as an array.</a:t>
            </a:r>
          </a:p>
          <a:p>
            <a:r>
              <a:rPr lang="en-US" dirty="0"/>
              <a:t>Rest Parameters are received as an Array and all Array operations can be applied</a:t>
            </a:r>
          </a:p>
          <a:p>
            <a:endParaRPr lang="en-PK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CBF2C3-2E11-4431-A9EF-810E2BBECAE9}"/>
              </a:ext>
            </a:extLst>
          </p:cNvPr>
          <p:cNvSpPr/>
          <p:nvPr/>
        </p:nvSpPr>
        <p:spPr>
          <a:xfrm>
            <a:off x="3340893" y="2826828"/>
            <a:ext cx="6096000" cy="2553891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sumNums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(...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sum =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nums.length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nums.length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sum +=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sum;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sumNums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1, 1, </a:t>
            </a:r>
            <a:r>
              <a:rPr lang="en-GB" dirty="0" smtClean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99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DEE9-9845-4BF6-B434-625888FB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Rest Parameters</a:t>
            </a:r>
            <a:endParaRPr lang="en-PK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2DF9-9E80-469A-865C-D078EFD2F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056134"/>
            <a:ext cx="10018712" cy="5118090"/>
          </a:xfrm>
        </p:spPr>
        <p:txBody>
          <a:bodyPr>
            <a:normAutofit/>
          </a:bodyPr>
          <a:lstStyle/>
          <a:p>
            <a:r>
              <a:rPr lang="en-US" dirty="0"/>
              <a:t>The rest parameter syntax allows us to represent an indefinite number of arguments as an array.</a:t>
            </a:r>
          </a:p>
          <a:p>
            <a:r>
              <a:rPr lang="en-US" dirty="0"/>
              <a:t>Rest Parameters are received as an Array and all Array operations can be applied</a:t>
            </a:r>
          </a:p>
          <a:p>
            <a:endParaRPr lang="en-PK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BC3A0E-62BA-47A9-ADE7-6F46CB43327C}"/>
              </a:ext>
            </a:extLst>
          </p:cNvPr>
          <p:cNvSpPr/>
          <p:nvPr/>
        </p:nvSpPr>
        <p:spPr>
          <a:xfrm>
            <a:off x="1763553" y="3590092"/>
            <a:ext cx="9250680" cy="1634490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fun(arg1,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...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args.length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console.log(fun(</a:t>
            </a:r>
            <a:r>
              <a:rPr lang="en-GB" dirty="0" smtClean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8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9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 +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 arguments passed"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en-GB" dirty="0" smtClean="0">
                <a:solidFill>
                  <a:srgbClr val="008000"/>
                </a:solidFill>
                <a:latin typeface="Consolas" panose="020B0609020204030204" pitchFamily="49" charset="0"/>
              </a:rPr>
              <a:t>?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arguments passed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75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DEE9-9845-4BF6-B434-625888FB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Rest Parameters</a:t>
            </a:r>
            <a:endParaRPr lang="en-PK" b="1" dirty="0">
              <a:latin typeface="Consolas" panose="020B06090202040302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BC3A0E-62BA-47A9-ADE7-6F46CB43327C}"/>
              </a:ext>
            </a:extLst>
          </p:cNvPr>
          <p:cNvSpPr/>
          <p:nvPr/>
        </p:nvSpPr>
        <p:spPr>
          <a:xfrm>
            <a:off x="1763553" y="1795256"/>
            <a:ext cx="9250680" cy="2860358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fun( ...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arg1)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args.length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console.log(fun(</a:t>
            </a:r>
            <a:r>
              <a:rPr lang="en-GB" dirty="0" smtClean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8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9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 +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 arguments passed"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en-GB" dirty="0" smtClean="0">
                <a:solidFill>
                  <a:srgbClr val="008000"/>
                </a:solidFill>
                <a:latin typeface="Consolas" panose="020B0609020204030204" pitchFamily="49" charset="0"/>
              </a:rPr>
              <a:t>?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arguments </a:t>
            </a:r>
            <a:r>
              <a:rPr lang="en-GB" dirty="0" smtClean="0">
                <a:solidFill>
                  <a:srgbClr val="008000"/>
                </a:solidFill>
                <a:latin typeface="Consolas" panose="020B0609020204030204" pitchFamily="49" charset="0"/>
              </a:rPr>
              <a:t>passed</a:t>
            </a:r>
          </a:p>
          <a:p>
            <a:endParaRPr lang="en-GB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endParaRPr lang="en-GB" dirty="0" smtClean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GB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91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F465-4969-46DE-BE83-94DD5C1C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Pass by Value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A8151-1DF0-4B0E-900F-095E21817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GB" dirty="0"/>
              <a:t>JavaScript is Pass by Value for Primitive Data (Number, String, Boolean)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16D7EE-E781-4ADD-BF4B-B163D985C08D}"/>
              </a:ext>
            </a:extLst>
          </p:cNvPr>
          <p:cNvSpPr/>
          <p:nvPr/>
        </p:nvSpPr>
        <p:spPr>
          <a:xfrm>
            <a:off x="1691640" y="1835557"/>
            <a:ext cx="6096000" cy="1940957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sum(</a:t>
            </a:r>
            <a:r>
              <a:rPr lang="pt-BR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 n2) 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pt-BR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= n1 + n2;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 = </a:t>
            </a:r>
            <a:r>
              <a:rPr lang="pt-BR" dirty="0">
                <a:solidFill>
                  <a:srgbClr val="09885A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 b = 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console.log(a, 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"+"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 b, 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"="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 sum(</a:t>
            </a:r>
            <a:r>
              <a:rPr lang="pt-BR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 b))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0881D9-509B-4625-9EC7-F290BF81ABFD}"/>
              </a:ext>
            </a:extLst>
          </p:cNvPr>
          <p:cNvSpPr/>
          <p:nvPr/>
        </p:nvSpPr>
        <p:spPr>
          <a:xfrm>
            <a:off x="1691640" y="4081090"/>
            <a:ext cx="6096000" cy="1940957"/>
          </a:xfrm>
          <a:prstGeom prst="roundRect">
            <a:avLst/>
          </a:prstGeom>
          <a:ln>
            <a:solidFill>
              <a:schemeClr val="accent4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strFun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(p1) {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p1 =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"Eleven"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a =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"Ten"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strFun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console.log(a)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35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5086-94AF-4061-87BD-6FA25543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Pass by Reference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F8D18-8673-4E9F-BBAE-E1AF7D8CA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GB" dirty="0"/>
              <a:t>Objects are of Reference Type</a:t>
            </a:r>
          </a:p>
          <a:p>
            <a:pPr lvl="1"/>
            <a:r>
              <a:rPr lang="en-GB" dirty="0"/>
              <a:t>Therefore, JavaScript is Pass by Reference for Objects</a:t>
            </a:r>
            <a:endParaRPr lang="en-PK" dirty="0"/>
          </a:p>
          <a:p>
            <a:endParaRPr lang="en-PK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197344-7308-4EAB-ABB4-D72528EDE317}"/>
              </a:ext>
            </a:extLst>
          </p:cNvPr>
          <p:cNvSpPr/>
          <p:nvPr/>
        </p:nvSpPr>
        <p:spPr>
          <a:xfrm>
            <a:off x="1458277" y="2247037"/>
            <a:ext cx="4679949" cy="2247424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strFun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(p1) {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p1.value =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"Eleven"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a = { value: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"Ten"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}</a:t>
            </a: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strFun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a.value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2E6033-D8F0-4DB7-BE68-96E05BF27FB6}"/>
              </a:ext>
            </a:extLst>
          </p:cNvPr>
          <p:cNvSpPr/>
          <p:nvPr/>
        </p:nvSpPr>
        <p:spPr>
          <a:xfrm>
            <a:off x="6914672" y="2247037"/>
            <a:ext cx="4679950" cy="2247424"/>
          </a:xfrm>
          <a:prstGeom prst="round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strFun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(p1) {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p1.value =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"Eleven"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  p1.index++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a = { value: 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"Ten"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index: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}</a:t>
            </a: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strFun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a.index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EBF4E9-BB9A-49BC-AF67-CCAA81A7F637}"/>
              </a:ext>
            </a:extLst>
          </p:cNvPr>
          <p:cNvSpPr/>
          <p:nvPr/>
        </p:nvSpPr>
        <p:spPr>
          <a:xfrm>
            <a:off x="2796856" y="5649466"/>
            <a:ext cx="91360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Visit this link for the detailed discussion:</a:t>
            </a:r>
            <a:endParaRPr lang="en-GB" b="1" dirty="0">
              <a:hlinkClick r:id="rId3"/>
            </a:endParaRPr>
          </a:p>
          <a:p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https://stackoverflow.com/questions/13104494/does-javascript-pass-by-reference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643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05B6-7D10-4B27-A4A5-4BEADDE4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Function Expression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76FB-8645-45AF-AD11-F28B44933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10018712" cy="553704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Javascript</a:t>
            </a:r>
            <a:r>
              <a:rPr lang="en-US" dirty="0"/>
              <a:t> Function Expression is used to define a function inside any expression.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Function Expression allows us to create an anonymous function that doesn’t have any function name which is the main difference between Function Expression and Function Declaration</a:t>
            </a:r>
            <a:r>
              <a:rPr lang="en-US" dirty="0" smtClean="0"/>
              <a:t>.</a:t>
            </a:r>
          </a:p>
          <a:p>
            <a:r>
              <a:rPr lang="en-US" dirty="0"/>
              <a:t>A function expression has to be stored in a variable and can be accessed using </a:t>
            </a:r>
            <a:r>
              <a:rPr lang="en-US" i="1" dirty="0" err="1" smtClean="0"/>
              <a:t>variableName</a:t>
            </a:r>
            <a:r>
              <a:rPr lang="en-US" i="1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05B6-7D10-4B27-A4A5-4BEADDE4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Function Expression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76FB-8645-45AF-AD11-F28B44933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10018712" cy="5537040"/>
          </a:xfrm>
        </p:spPr>
        <p:txBody>
          <a:bodyPr/>
          <a:lstStyle/>
          <a:p>
            <a:r>
              <a:rPr lang="en-US" b="1" dirty="0" smtClean="0"/>
              <a:t>Syntax </a:t>
            </a:r>
            <a:r>
              <a:rPr lang="en-US" b="1" dirty="0"/>
              <a:t>for Function Declaration: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function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functionName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(x, y) { statements... return (z) };</a:t>
            </a:r>
          </a:p>
          <a:p>
            <a:endParaRPr lang="en-US" dirty="0"/>
          </a:p>
          <a:p>
            <a:r>
              <a:rPr lang="en-US" b="1" dirty="0"/>
              <a:t>Syntax for Function Expression (anonymous</a:t>
            </a:r>
            <a:r>
              <a:rPr lang="en-US" b="1" dirty="0" smtClean="0"/>
              <a:t>):</a:t>
            </a:r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/>
              <a:t>Syntax for Function Expression (named):</a:t>
            </a:r>
            <a:r>
              <a:rPr lang="en-US" dirty="0"/>
              <a:t> </a:t>
            </a:r>
            <a:endParaRPr lang="en-US" dirty="0" smtClean="0"/>
          </a:p>
          <a:p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5FEB34-5BA1-4847-9337-0722886B5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785" y="1790914"/>
            <a:ext cx="7818120" cy="681038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05FEB34-5BA1-4847-9337-0722886B5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205" y="3343310"/>
            <a:ext cx="8362762" cy="843635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PK" sz="2400" dirty="0" smtClean="0">
                <a:latin typeface="Arial" panose="020B0604020202020204" pitchFamily="34" charset="0"/>
              </a:rPr>
              <a:t>let </a:t>
            </a:r>
            <a:r>
              <a:rPr lang="en-US" altLang="en-PK" sz="2400" dirty="0" err="1">
                <a:latin typeface="Arial" panose="020B0604020202020204" pitchFamily="34" charset="0"/>
              </a:rPr>
              <a:t>variableName</a:t>
            </a:r>
            <a:r>
              <a:rPr lang="en-US" altLang="en-PK" sz="2400" dirty="0">
                <a:latin typeface="Arial" panose="020B0604020202020204" pitchFamily="34" charset="0"/>
              </a:rPr>
              <a:t> = function(x, y) { statements... return (z</a:t>
            </a:r>
            <a:r>
              <a:rPr lang="en-US" altLang="en-PK" sz="2400" dirty="0" smtClean="0">
                <a:latin typeface="Arial" panose="020B0604020202020204" pitchFamily="34" charset="0"/>
              </a:rPr>
              <a:t>) };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05FEB34-5BA1-4847-9337-0722886B5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205" y="4891210"/>
            <a:ext cx="8362762" cy="1150102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PK" sz="2400" dirty="0" smtClean="0">
                <a:latin typeface="Arial" panose="020B0604020202020204" pitchFamily="34" charset="0"/>
              </a:rPr>
              <a:t>let </a:t>
            </a:r>
            <a:r>
              <a:rPr lang="en-US" altLang="en-PK" sz="2400" dirty="0" err="1">
                <a:latin typeface="Arial" panose="020B0604020202020204" pitchFamily="34" charset="0"/>
              </a:rPr>
              <a:t>variableName</a:t>
            </a:r>
            <a:r>
              <a:rPr lang="en-US" altLang="en-PK" sz="2400" dirty="0">
                <a:latin typeface="Arial" panose="020B0604020202020204" pitchFamily="34" charset="0"/>
              </a:rPr>
              <a:t> = function </a:t>
            </a:r>
            <a:r>
              <a:rPr lang="en-US" altLang="en-PK" sz="2400" dirty="0" err="1">
                <a:latin typeface="Arial" panose="020B0604020202020204" pitchFamily="34" charset="0"/>
              </a:rPr>
              <a:t>functionName</a:t>
            </a:r>
            <a:r>
              <a:rPr lang="en-US" altLang="en-PK" sz="2400" dirty="0">
                <a:latin typeface="Arial" panose="020B0604020202020204" pitchFamily="34" charset="0"/>
              </a:rPr>
              <a:t> (x, y) </a:t>
            </a:r>
            <a:r>
              <a:rPr lang="en-US" altLang="en-PK" sz="2400" dirty="0" smtClean="0">
                <a:latin typeface="Arial" panose="020B0604020202020204" pitchFamily="34" charset="0"/>
              </a:rPr>
              <a:t>{ statements</a:t>
            </a:r>
            <a:r>
              <a:rPr lang="en-US" altLang="en-PK" sz="2400" dirty="0">
                <a:latin typeface="Arial" panose="020B0604020202020204" pitchFamily="34" charset="0"/>
              </a:rPr>
              <a:t>... return (z</a:t>
            </a:r>
            <a:r>
              <a:rPr lang="en-US" altLang="en-PK" sz="2400" dirty="0" smtClean="0">
                <a:latin typeface="Arial" panose="020B0604020202020204" pitchFamily="34" charset="0"/>
              </a:rPr>
              <a:t>) };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71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05B6-7D10-4B27-A4A5-4BEADDE4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Functions – Function Expression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76FB-8645-45AF-AD11-F28B44933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a name can be provided with a function expression. Providing a name allows the function to refer to itself</a:t>
            </a:r>
          </a:p>
          <a:p>
            <a:endParaRPr lang="en-PK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F2DAE7-A9D6-4195-8D19-FEC77F2C4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80" y="4422285"/>
            <a:ext cx="9433560" cy="698063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fac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fac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GB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K" altLang="en-PK" dirty="0">
                <a:solidFill>
                  <a:srgbClr val="999999"/>
                </a:solidFill>
                <a:latin typeface="Consolas" panose="020B0609020204030204" pitchFamily="49" charset="0"/>
              </a:rPr>
              <a:t>}</a:t>
            </a:r>
            <a:endParaRPr lang="en-GB" altLang="en-PK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8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C6C1-D661-402F-9ADB-2FBBF511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Arrow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10E3D-88EE-4452-8F69-B3A9C2111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10018712" cy="4384546"/>
          </a:xfrm>
        </p:spPr>
        <p:txBody>
          <a:bodyPr>
            <a:normAutofit/>
          </a:bodyPr>
          <a:lstStyle/>
          <a:p>
            <a:r>
              <a:rPr lang="en-US" dirty="0"/>
              <a:t>Arrow functions were introduced in ES6</a:t>
            </a:r>
          </a:p>
          <a:p>
            <a:r>
              <a:rPr lang="en-US" dirty="0"/>
              <a:t>An arrow function expression has a shorter syntax compared to function expressions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1ACFAD-5E86-45AC-808F-E2F4E7897346}"/>
              </a:ext>
            </a:extLst>
          </p:cNvPr>
          <p:cNvSpPr/>
          <p:nvPr/>
        </p:nvSpPr>
        <p:spPr>
          <a:xfrm>
            <a:off x="1759268" y="2633001"/>
            <a:ext cx="9438384" cy="822960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let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(x, y) =&gt; { statements... return (z) };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79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for Function </a:t>
            </a:r>
            <a:r>
              <a:rPr lang="en-US" dirty="0" smtClean="0"/>
              <a:t>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</a:t>
            </a:r>
            <a:r>
              <a:rPr lang="en-US" dirty="0" err="1"/>
              <a:t>callAdd</a:t>
            </a:r>
            <a:r>
              <a:rPr lang="en-US" dirty="0"/>
              <a:t>(x, y) {</a:t>
            </a:r>
          </a:p>
          <a:p>
            <a:r>
              <a:rPr lang="en-US" dirty="0"/>
              <a:t>	let z = x + y;</a:t>
            </a:r>
          </a:p>
          <a:p>
            <a:r>
              <a:rPr lang="en-US" dirty="0"/>
              <a:t>	return z;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console.log("Addition : " + </a:t>
            </a:r>
            <a:r>
              <a:rPr lang="en-US" dirty="0" err="1"/>
              <a:t>callAdd</a:t>
            </a:r>
            <a:r>
              <a:rPr lang="en-US" dirty="0"/>
              <a:t>(7, 4));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5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r>
              <a:rPr lang="en-US" b="1" dirty="0"/>
              <a:t> </a:t>
            </a:r>
            <a:r>
              <a:rPr lang="en-US" dirty="0"/>
              <a:t>for</a:t>
            </a:r>
            <a:r>
              <a:rPr lang="en-US" b="1" dirty="0"/>
              <a:t> </a:t>
            </a:r>
            <a:r>
              <a:rPr lang="en-US" dirty="0"/>
              <a:t>Function</a:t>
            </a:r>
            <a:r>
              <a:rPr lang="en-US" b="1" dirty="0"/>
              <a:t> </a:t>
            </a:r>
            <a:r>
              <a:rPr lang="en-US" dirty="0"/>
              <a:t>Expression</a:t>
            </a:r>
            <a:r>
              <a:rPr lang="en-US" b="1" dirty="0"/>
              <a:t> (</a:t>
            </a:r>
            <a:r>
              <a:rPr lang="en-US" dirty="0"/>
              <a:t>anonymous</a:t>
            </a:r>
            <a:r>
              <a:rPr lang="en-US" b="1" dirty="0"/>
              <a:t>)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 err="1"/>
              <a:t>calSub</a:t>
            </a:r>
            <a:r>
              <a:rPr lang="en-US" dirty="0"/>
              <a:t> = function (x, y) {</a:t>
            </a:r>
          </a:p>
          <a:p>
            <a:r>
              <a:rPr lang="en-US" dirty="0"/>
              <a:t>	let z = x - y;</a:t>
            </a:r>
          </a:p>
          <a:p>
            <a:r>
              <a:rPr lang="en-US" dirty="0"/>
              <a:t>	return z;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console.log("Subtraction : " + </a:t>
            </a:r>
            <a:r>
              <a:rPr lang="en-US" dirty="0" err="1"/>
              <a:t>calSub</a:t>
            </a:r>
            <a:r>
              <a:rPr lang="en-US" dirty="0"/>
              <a:t>(7, 4));</a:t>
            </a:r>
          </a:p>
        </p:txBody>
      </p:sp>
    </p:spTree>
    <p:extLst>
      <p:ext uri="{BB962C8B-B14F-4D97-AF65-F5344CB8AC3E}">
        <p14:creationId xmlns:p14="http://schemas.microsoft.com/office/powerpoint/2010/main" val="80902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r>
              <a:rPr lang="en-US" b="1" dirty="0"/>
              <a:t> </a:t>
            </a:r>
            <a:r>
              <a:rPr lang="en-US" dirty="0"/>
              <a:t>for</a:t>
            </a:r>
            <a:r>
              <a:rPr lang="en-US" b="1" dirty="0"/>
              <a:t> </a:t>
            </a:r>
            <a:r>
              <a:rPr lang="en-US" dirty="0"/>
              <a:t>Function</a:t>
            </a:r>
            <a:r>
              <a:rPr lang="en-US" b="1" dirty="0"/>
              <a:t> </a:t>
            </a:r>
            <a:r>
              <a:rPr lang="en-US" dirty="0"/>
              <a:t>Expression</a:t>
            </a:r>
            <a:r>
              <a:rPr lang="en-US" b="1" dirty="0"/>
              <a:t> (</a:t>
            </a:r>
            <a:r>
              <a:rPr lang="en-US" dirty="0"/>
              <a:t>named</a:t>
            </a:r>
            <a:r>
              <a:rPr lang="en-US" b="1" dirty="0"/>
              <a:t>)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 err="1"/>
              <a:t>calMul</a:t>
            </a:r>
            <a:r>
              <a:rPr lang="en-US" dirty="0"/>
              <a:t> = function </a:t>
            </a:r>
            <a:r>
              <a:rPr lang="en-US" dirty="0" err="1"/>
              <a:t>Mul</a:t>
            </a:r>
            <a:r>
              <a:rPr lang="en-US" dirty="0"/>
              <a:t>(x, y) {</a:t>
            </a:r>
          </a:p>
          <a:p>
            <a:r>
              <a:rPr lang="en-US" dirty="0"/>
              <a:t>	let z = x * y;</a:t>
            </a:r>
          </a:p>
          <a:p>
            <a:r>
              <a:rPr lang="en-US" dirty="0"/>
              <a:t>	return z;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console.log("Multiplication : " + </a:t>
            </a:r>
            <a:r>
              <a:rPr lang="en-US" dirty="0" err="1"/>
              <a:t>calMul</a:t>
            </a:r>
            <a:r>
              <a:rPr lang="en-US" dirty="0"/>
              <a:t>(7, 4));</a:t>
            </a:r>
          </a:p>
        </p:txBody>
      </p:sp>
    </p:spTree>
    <p:extLst>
      <p:ext uri="{BB962C8B-B14F-4D97-AF65-F5344CB8AC3E}">
        <p14:creationId xmlns:p14="http://schemas.microsoft.com/office/powerpoint/2010/main" val="143638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r>
              <a:rPr lang="en-US" b="1" dirty="0"/>
              <a:t> </a:t>
            </a:r>
            <a:r>
              <a:rPr lang="en-US" dirty="0"/>
              <a:t>for</a:t>
            </a:r>
            <a:r>
              <a:rPr lang="en-US" b="1" dirty="0"/>
              <a:t> </a:t>
            </a:r>
            <a:r>
              <a:rPr lang="en-US" dirty="0"/>
              <a:t>Arrow</a:t>
            </a:r>
            <a:r>
              <a:rPr lang="en-US" b="1" dirty="0"/>
              <a:t> </a:t>
            </a:r>
            <a:r>
              <a:rPr lang="en-US" dirty="0"/>
              <a:t>Function</a:t>
            </a:r>
            <a:r>
              <a:rPr lang="en-US" b="1" dirty="0"/>
              <a:t>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 err="1"/>
              <a:t>calDiv</a:t>
            </a:r>
            <a:r>
              <a:rPr lang="en-US" dirty="0"/>
              <a:t> = (x, y) =&gt; {</a:t>
            </a:r>
          </a:p>
          <a:p>
            <a:r>
              <a:rPr lang="en-US" dirty="0"/>
              <a:t>	let z = x / y;</a:t>
            </a:r>
          </a:p>
          <a:p>
            <a:r>
              <a:rPr lang="en-US" dirty="0"/>
              <a:t>	return z;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console.log("Division : " + </a:t>
            </a:r>
            <a:r>
              <a:rPr lang="en-US" dirty="0" err="1"/>
              <a:t>calDiv</a:t>
            </a:r>
            <a:r>
              <a:rPr lang="en-US" dirty="0"/>
              <a:t>(24, 4));</a:t>
            </a:r>
          </a:p>
        </p:txBody>
      </p:sp>
    </p:spTree>
    <p:extLst>
      <p:ext uri="{BB962C8B-B14F-4D97-AF65-F5344CB8AC3E}">
        <p14:creationId xmlns:p14="http://schemas.microsoft.com/office/powerpoint/2010/main" val="101152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8A15-FB84-42D6-85C6-0EB49C16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Self Exercises: What </a:t>
            </a:r>
            <a:r>
              <a:rPr lang="en-GB" dirty="0"/>
              <a:t>is Expected Output?</a:t>
            </a:r>
            <a:endParaRPr lang="en-P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C0ED0-A41A-4116-9B1A-0DB5B054A9F9}"/>
              </a:ext>
            </a:extLst>
          </p:cNvPr>
          <p:cNvSpPr/>
          <p:nvPr/>
        </p:nvSpPr>
        <p:spPr>
          <a:xfrm>
            <a:off x="1021080" y="1792516"/>
            <a:ext cx="11170920" cy="64633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(a, b)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 = a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a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b = b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b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a * 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D05844-9A70-469E-9BAC-E63DC67AE3EB}"/>
              </a:ext>
            </a:extLst>
          </p:cNvPr>
          <p:cNvSpPr/>
          <p:nvPr/>
        </p:nvSpPr>
        <p:spPr>
          <a:xfrm>
            <a:off x="1379537" y="2551837"/>
            <a:ext cx="4335463" cy="175432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()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a = a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a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b = b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b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 * b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969B70-744B-4AE9-BD00-7E2132731261}"/>
              </a:ext>
            </a:extLst>
          </p:cNvPr>
          <p:cNvSpPr/>
          <p:nvPr/>
        </p:nvSpPr>
        <p:spPr>
          <a:xfrm>
            <a:off x="6096000" y="2551837"/>
            <a:ext cx="4335463" cy="175432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()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a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a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b = b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b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	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 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FB49B-ACB8-400E-B112-4C525837A422}"/>
              </a:ext>
            </a:extLst>
          </p:cNvPr>
          <p:cNvSpPr/>
          <p:nvPr/>
        </p:nvSpPr>
        <p:spPr>
          <a:xfrm>
            <a:off x="1379536" y="4548277"/>
            <a:ext cx="4990784" cy="175432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()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 = a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a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 = b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b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 * 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i="1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b="0" i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5F20E1-CDEC-4C18-AE5F-1A3DB109024D}"/>
              </a:ext>
            </a:extLst>
          </p:cNvPr>
          <p:cNvSpPr/>
          <p:nvPr/>
        </p:nvSpPr>
        <p:spPr>
          <a:xfrm>
            <a:off x="6606540" y="4548277"/>
            <a:ext cx="4335463" cy="175432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(a, b)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a = a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a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b = b !==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? b :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 * 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6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Image result for JavaScript png icon">
            <a:extLst>
              <a:ext uri="{FF2B5EF4-FFF2-40B4-BE49-F238E27FC236}">
                <a16:creationId xmlns:a16="http://schemas.microsoft.com/office/drawing/2014/main" id="{67D2132D-F637-4277-9BED-552CEE8E05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6" t="17029" r="19526" b="14622"/>
          <a:stretch/>
        </p:blipFill>
        <p:spPr bwMode="auto">
          <a:xfrm>
            <a:off x="2987632" y="3043056"/>
            <a:ext cx="1064303" cy="11978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CC3676AF-6340-4132-B1B6-894D66C86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8897" y="2193661"/>
            <a:ext cx="6036101" cy="2896658"/>
          </a:xfrm>
        </p:spPr>
        <p:txBody>
          <a:bodyPr anchor="ctr">
            <a:normAutofit/>
          </a:bodyPr>
          <a:lstStyle/>
          <a:p>
            <a:pPr algn="l"/>
            <a:r>
              <a:rPr lang="en-GB" sz="4800" dirty="0"/>
              <a:t>JavaScript Classes</a:t>
            </a:r>
            <a:endParaRPr lang="en-PK" sz="4800" dirty="0"/>
          </a:p>
        </p:txBody>
      </p:sp>
    </p:spTree>
    <p:extLst>
      <p:ext uri="{BB962C8B-B14F-4D97-AF65-F5344CB8AC3E}">
        <p14:creationId xmlns:p14="http://schemas.microsoft.com/office/powerpoint/2010/main" val="167080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A808-181B-468E-9D76-B82A52FA3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GB" sz="3600" dirty="0"/>
              <a:t>ES6 Classes</a:t>
            </a:r>
            <a:endParaRPr lang="en-PK" sz="36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B86C818-CA0E-4AF0-BE86-ED89DFDD2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r>
              <a:rPr lang="en-GB" sz="2000" dirty="0"/>
              <a:t>JavaScript classes, introduced in ECMAScript 2015, are primarily syntactical sugar over JavaScript's existing prototype-based inheritance</a:t>
            </a:r>
          </a:p>
          <a:p>
            <a:r>
              <a:rPr lang="en-GB" sz="2000" dirty="0"/>
              <a:t>The class syntax </a:t>
            </a:r>
            <a:r>
              <a:rPr lang="en-GB" sz="2000" i="1" dirty="0"/>
              <a:t>does not</a:t>
            </a:r>
            <a:r>
              <a:rPr lang="en-GB" sz="2000" dirty="0"/>
              <a:t> introduce a new object-oriented inheritance model to JavaScript</a:t>
            </a:r>
          </a:p>
          <a:p>
            <a:r>
              <a:rPr lang="en-US" sz="2000" dirty="0"/>
              <a:t>Classes are in fact "special functions", and just as you can define function expressions and function declarations</a:t>
            </a:r>
          </a:p>
          <a:p>
            <a:r>
              <a:rPr lang="en-US" sz="2000" dirty="0"/>
              <a:t>Class syntax has two components: </a:t>
            </a:r>
          </a:p>
          <a:p>
            <a:pPr lvl="1"/>
            <a:r>
              <a:rPr lang="en-US" dirty="0"/>
              <a:t>class expressions</a:t>
            </a:r>
          </a:p>
          <a:p>
            <a:pPr lvl="1"/>
            <a:r>
              <a:rPr lang="en-US" dirty="0"/>
              <a:t>class declarations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6949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9A56-993B-4517-B048-CD1230EDB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Declarations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B050-516E-429F-9B27-DE170674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way to define a class is using a class declaration. To declare a class, you use the </a:t>
            </a:r>
            <a:r>
              <a:rPr lang="en-US" b="1" dirty="0"/>
              <a:t>class</a:t>
            </a:r>
            <a:r>
              <a:rPr lang="en-US" dirty="0"/>
              <a:t> keyword</a:t>
            </a:r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7FD38-A817-4DDA-9FA5-475DDA5A98B7}"/>
              </a:ext>
            </a:extLst>
          </p:cNvPr>
          <p:cNvSpPr/>
          <p:nvPr/>
        </p:nvSpPr>
        <p:spPr>
          <a:xfrm>
            <a:off x="3048000" y="2551837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(height, width)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.width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width;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c</a:t>
            </a:r>
            <a:r>
              <a:rPr lang="en-GB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onst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rect1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Rectangle(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rect2 = </a:t>
            </a:r>
            <a:r>
              <a:rPr lang="en-GB" dirty="0" smtClean="0">
                <a:solidFill>
                  <a:srgbClr val="002060"/>
                </a:solidFill>
                <a:latin typeface="Consolas" panose="020B0609020204030204" pitchFamily="49" charset="0"/>
              </a:rPr>
              <a:t>new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Rectangle();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rect1.height = 20;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rect2 = rect1; // can do?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9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578B-E4C6-4F0D-A5F6-B5E35159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Expression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7F74-30A3-41B2-A201-9A25B3EB3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 </a:t>
            </a:r>
            <a:r>
              <a:rPr lang="en-US" b="1" dirty="0" smtClean="0"/>
              <a:t>class expression</a:t>
            </a:r>
            <a:r>
              <a:rPr lang="en-US" dirty="0" smtClean="0"/>
              <a:t> is another way to define a class. Class expressions can be named or unnamed</a:t>
            </a:r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294932-F92C-456D-BEA7-8B0A58FE2358}"/>
              </a:ext>
            </a:extLst>
          </p:cNvPr>
          <p:cNvSpPr/>
          <p:nvPr/>
        </p:nvSpPr>
        <p:spPr>
          <a:xfrm>
            <a:off x="6793567" y="2224609"/>
            <a:ext cx="429768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unnamed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 =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(height, width)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.width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width;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lvl="0">
              <a:defRPr/>
            </a:pP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rect1 = new Rectangle(10, 10);</a:t>
            </a:r>
          </a:p>
          <a:p>
            <a:pPr lvl="0">
              <a:defRPr/>
            </a:pP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console.log(Rectangle.name);</a:t>
            </a:r>
          </a:p>
          <a:p>
            <a:pPr lvl="0">
              <a:defRPr/>
            </a:pP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 output: "Rectangle"</a:t>
            </a:r>
          </a:p>
          <a:p>
            <a:pPr lvl="0"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console.log(rect1.height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294932-F92C-456D-BEA7-8B0A58FE2358}"/>
              </a:ext>
            </a:extLst>
          </p:cNvPr>
          <p:cNvSpPr/>
          <p:nvPr/>
        </p:nvSpPr>
        <p:spPr>
          <a:xfrm>
            <a:off x="1656438" y="2470831"/>
            <a:ext cx="42976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named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 =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Rectangle2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(height, width)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.width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width;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>
              <a:defRPr/>
            </a:pP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rect1 = new Rectangle(10, 10);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console.log(Rectangle.name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output: "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Rectangle2“</a:t>
            </a:r>
          </a:p>
          <a:p>
            <a:pPr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console.log(rect1.height);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79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72C1-6644-4B95-A9E3-257AE2FFD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B79D7-C459-4AD8-9CA5-77EE1508B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constructor method is a special method for creating and initializing an object created with a class</a:t>
            </a:r>
          </a:p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There can only be one special method with the name "</a:t>
            </a:r>
            <a:r>
              <a:rPr lang="en-US" b="1" u="sng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constructor</a:t>
            </a:r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" in a class</a:t>
            </a:r>
          </a:p>
          <a:p>
            <a:r>
              <a:rPr lang="en-US" dirty="0"/>
              <a:t>A </a:t>
            </a:r>
            <a:r>
              <a:rPr lang="en-US" dirty="0" err="1"/>
              <a:t>SyntaxError</a:t>
            </a:r>
            <a:r>
              <a:rPr lang="en-US" dirty="0"/>
              <a:t> will be thrown if the class contains more than one occurrence of a constructor method.</a:t>
            </a:r>
          </a:p>
          <a:p>
            <a:r>
              <a:rPr lang="en-US" dirty="0"/>
              <a:t>A constructor can use the </a:t>
            </a:r>
            <a:r>
              <a:rPr lang="en-US" b="1" dirty="0">
                <a:latin typeface="Consolas" panose="020B0609020204030204" pitchFamily="49" charset="0"/>
              </a:rPr>
              <a:t>super</a:t>
            </a:r>
            <a:r>
              <a:rPr lang="en-US" dirty="0"/>
              <a:t> keyword to call the constructor of the super class.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9963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65C6-DB8D-4505-9475-2956C832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Getters, Methods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609303-758C-40CF-859D-C6552088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5021262" cy="5118090"/>
          </a:xfrm>
        </p:spPr>
        <p:txBody>
          <a:bodyPr/>
          <a:lstStyle/>
          <a:p>
            <a:r>
              <a:rPr lang="en-GB" dirty="0"/>
              <a:t>Get keyword is used for creating Getter</a:t>
            </a:r>
          </a:p>
          <a:p>
            <a:pPr lvl="1"/>
            <a:r>
              <a:rPr lang="en-GB" dirty="0"/>
              <a:t>Getter is called as a property or field name instead of function</a:t>
            </a:r>
          </a:p>
          <a:p>
            <a:pPr lvl="1"/>
            <a:r>
              <a:rPr lang="en-GB" dirty="0"/>
              <a:t>E.g. </a:t>
            </a:r>
            <a:r>
              <a:rPr lang="en-GB" b="1" dirty="0" err="1">
                <a:latin typeface="Consolas" panose="020B0609020204030204" pitchFamily="49" charset="0"/>
              </a:rPr>
              <a:t>square.area</a:t>
            </a:r>
            <a:r>
              <a:rPr lang="en-GB" dirty="0"/>
              <a:t> and not </a:t>
            </a:r>
            <a:r>
              <a:rPr lang="en-GB" b="1" strike="sngStrike" dirty="0" err="1">
                <a:latin typeface="Consolas" panose="020B0609020204030204" pitchFamily="49" charset="0"/>
              </a:rPr>
              <a:t>square.area</a:t>
            </a:r>
            <a:r>
              <a:rPr lang="en-GB" b="1" strike="sngStrike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endParaRPr lang="en-P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B34B7-C1BB-46A3-880E-A4B2190382FB}"/>
              </a:ext>
            </a:extLst>
          </p:cNvPr>
          <p:cNvSpPr/>
          <p:nvPr/>
        </p:nvSpPr>
        <p:spPr>
          <a:xfrm>
            <a:off x="6663213" y="1248311"/>
            <a:ext cx="5269707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(height, width)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.width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width;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Getter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area()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.calcArea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Method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calcArea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*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.width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square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square.area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b="1" dirty="0" err="1" smtClean="0"/>
              <a:t>square.calcArea</a:t>
            </a:r>
            <a:r>
              <a:rPr lang="en-GB" b="1" dirty="0" smtClean="0"/>
              <a:t>());</a:t>
            </a:r>
            <a:endParaRPr lang="en-GB" b="1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780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65C6-DB8D-4505-9475-2956C832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Getters, Methods – Another Example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609303-758C-40CF-859D-C6552088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5021262" cy="5118090"/>
          </a:xfrm>
        </p:spPr>
        <p:txBody>
          <a:bodyPr/>
          <a:lstStyle/>
          <a:p>
            <a:r>
              <a:rPr lang="en-GB" dirty="0"/>
              <a:t>Height is a getter and used as </a:t>
            </a:r>
            <a:r>
              <a:rPr lang="en-GB" dirty="0" err="1">
                <a:highlight>
                  <a:srgbClr val="FFFF00"/>
                </a:highlight>
              </a:rPr>
              <a:t>rect.Height</a:t>
            </a:r>
            <a:endParaRPr lang="en-GB" dirty="0">
              <a:highlight>
                <a:srgbClr val="FFFF00"/>
              </a:highlight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GB" dirty="0" smtClean="0"/>
              <a:t>Set </a:t>
            </a:r>
            <a:r>
              <a:rPr lang="en-GB" dirty="0" err="1" smtClean="0"/>
              <a:t>Heightt</a:t>
            </a:r>
            <a:r>
              <a:rPr lang="en-GB" dirty="0" smtClean="0"/>
              <a:t> </a:t>
            </a:r>
            <a:r>
              <a:rPr lang="en-GB" dirty="0"/>
              <a:t>is a setter and used as </a:t>
            </a:r>
            <a:r>
              <a:rPr lang="en-GB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rect.Heightt</a:t>
            </a:r>
            <a:r>
              <a:rPr lang="en-GB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= </a:t>
            </a:r>
            <a:r>
              <a:rPr lang="en-GB" dirty="0">
                <a:solidFill>
                  <a:srgbClr val="09885A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20</a:t>
            </a:r>
            <a:r>
              <a:rPr lang="en-GB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;</a:t>
            </a:r>
          </a:p>
          <a:p>
            <a:pPr lvl="1"/>
            <a:endParaRPr lang="en-PK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AF8CF7-CACC-4B4D-9178-280DA381AB86}"/>
              </a:ext>
            </a:extLst>
          </p:cNvPr>
          <p:cNvSpPr/>
          <p:nvPr/>
        </p:nvSpPr>
        <p:spPr>
          <a:xfrm>
            <a:off x="6780530" y="1208533"/>
            <a:ext cx="4617720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(height, width)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.width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width;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Height()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 </a:t>
            </a:r>
            <a:r>
              <a:rPr kumimoji="0" lang="en-GB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Heightt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15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rect.Height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rect.Heightt</a:t>
            </a:r>
            <a:r>
              <a:rPr lang="en-GB" dirty="0" smtClean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=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9885A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rect.Height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20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3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9032-B875-4B92-86E6-F67A8FD9E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Method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26C38-F95D-4157-ADF4-19FA428D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5646102" cy="5118090"/>
          </a:xfrm>
        </p:spPr>
        <p:txBody>
          <a:bodyPr/>
          <a:lstStyle/>
          <a:p>
            <a:r>
              <a:rPr lang="en-US" dirty="0"/>
              <a:t>The static keyword defines a static method for a class</a:t>
            </a:r>
          </a:p>
          <a:p>
            <a:r>
              <a:rPr lang="en-US" dirty="0"/>
              <a:t>Static methods are called without instantiating their class and cannot be called through a class instance</a:t>
            </a:r>
          </a:p>
          <a:p>
            <a:r>
              <a:rPr lang="en-US" dirty="0"/>
              <a:t>Static methods are often used to create </a:t>
            </a:r>
            <a:r>
              <a:rPr lang="en-US" b="1" dirty="0"/>
              <a:t>utility functions</a:t>
            </a:r>
            <a:r>
              <a:rPr lang="en-US" dirty="0"/>
              <a:t> for an application.</a:t>
            </a:r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599C35-1A27-4230-BAC0-71508F697495}"/>
              </a:ext>
            </a:extLst>
          </p:cNvPr>
          <p:cNvSpPr/>
          <p:nvPr/>
        </p:nvSpPr>
        <p:spPr>
          <a:xfrm>
            <a:off x="7147560" y="1208533"/>
            <a:ext cx="48615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Point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(x, y)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.x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x;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y;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distance(a, b)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dx =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a.x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-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b.x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a.y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-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b.y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Math.hypot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(dx,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p1 =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Point(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p2 =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Point(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Point.distance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(p1,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p2));</a:t>
            </a:r>
          </a:p>
        </p:txBody>
      </p:sp>
    </p:spTree>
    <p:extLst>
      <p:ext uri="{BB962C8B-B14F-4D97-AF65-F5344CB8AC3E}">
        <p14:creationId xmlns:p14="http://schemas.microsoft.com/office/powerpoint/2010/main" val="106581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BEB4-1975-40FA-9787-1CC7E07E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325880"/>
          </a:xfrm>
        </p:spPr>
        <p:txBody>
          <a:bodyPr/>
          <a:lstStyle/>
          <a:p>
            <a:r>
              <a:rPr lang="en-GB" dirty="0"/>
              <a:t>Private Field Declarations</a:t>
            </a:r>
            <a:endParaRPr lang="en-PK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356A28-2324-4713-B5ED-4956F9281B03}"/>
              </a:ext>
            </a:extLst>
          </p:cNvPr>
          <p:cNvSpPr/>
          <p:nvPr/>
        </p:nvSpPr>
        <p:spPr>
          <a:xfrm>
            <a:off x="3175951" y="1325881"/>
            <a:ext cx="6635431" cy="550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#height =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#width;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(height, width)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.#height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.#width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width;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Height()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.#height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setHeight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.#height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height;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`Height of Rectangle is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rect.height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cm`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rect.Height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rect.setHeight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>
              <a:defRPr/>
            </a:pPr>
            <a:r>
              <a:rPr lang="en-GB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//</a:t>
            </a:r>
            <a:r>
              <a:rPr lang="en-GB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rect.Height</a:t>
            </a:r>
            <a:r>
              <a:rPr lang="en-GB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600" dirty="0" smtClean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en-GB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rect.Height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</a:p>
        </p:txBody>
      </p:sp>
    </p:spTree>
    <p:extLst>
      <p:ext uri="{BB962C8B-B14F-4D97-AF65-F5344CB8AC3E}">
        <p14:creationId xmlns:p14="http://schemas.microsoft.com/office/powerpoint/2010/main" val="294488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0DA1F3-E9E0-4BC1-ADF4-06E2BC6D6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Inheritance</a:t>
            </a:r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8B230-DECF-4D39-AF9B-DDCB33DCA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4472622" cy="511809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nsolas" panose="020B0609020204030204" pitchFamily="49" charset="0"/>
              </a:rPr>
              <a:t>extends</a:t>
            </a:r>
            <a:r>
              <a:rPr lang="en-US" dirty="0"/>
              <a:t> keyword is used in class declarations or class expressions to create a class as a child of another class.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C5D1A6-4336-4B29-8461-B8123AFF4EFF}"/>
              </a:ext>
            </a:extLst>
          </p:cNvPr>
          <p:cNvSpPr/>
          <p:nvPr/>
        </p:nvSpPr>
        <p:spPr>
          <a:xfrm>
            <a:off x="6035040" y="1208533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Animal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(name)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.name = name;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speak()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console.log(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${this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.name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makes a noise.`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Dog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Animal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(name)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super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(name);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// call the super class constructor and pass in the name parameter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speak()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console.log(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${this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.name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barks.`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d =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Dog(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'Random dog'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d.speak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 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Random dog barks.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1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B1DA-1A93-44EC-9868-CDEC05AA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Hoisting (1/4)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67521-CC05-4B81-972B-30C2CAD5E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Hoisting is JavaScript's default behavior of moving declarations to the top.</a:t>
            </a:r>
          </a:p>
          <a:p>
            <a:r>
              <a:rPr lang="en-US" dirty="0"/>
              <a:t>In JavaScript, a variable can be declared after it has been used.</a:t>
            </a:r>
          </a:p>
          <a:p>
            <a:r>
              <a:rPr lang="en-US" dirty="0"/>
              <a:t>In other words; a variable can be used before it has been declared.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5FF92-EC7C-4440-B427-33A738D3A150}"/>
              </a:ext>
            </a:extLst>
          </p:cNvPr>
          <p:cNvSpPr/>
          <p:nvPr/>
        </p:nvSpPr>
        <p:spPr>
          <a:xfrm>
            <a:off x="6970712" y="3449539"/>
            <a:ext cx="278193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console.log(x);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5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1BF4A-106A-414C-BF53-1738E0B59C0E}"/>
              </a:ext>
            </a:extLst>
          </p:cNvPr>
          <p:cNvSpPr/>
          <p:nvPr/>
        </p:nvSpPr>
        <p:spPr>
          <a:xfrm>
            <a:off x="1598930" y="3429000"/>
            <a:ext cx="278193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console.log(x);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5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BABC1-6CFD-46F7-B1D8-9DB6187734D5}"/>
              </a:ext>
            </a:extLst>
          </p:cNvPr>
          <p:cNvSpPr/>
          <p:nvPr/>
        </p:nvSpPr>
        <p:spPr>
          <a:xfrm>
            <a:off x="1598930" y="4739312"/>
            <a:ext cx="513715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"Ali"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"Zafar"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lName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Ali Zafar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83A5D7-A287-4715-9B7B-F67C1427DB6C}"/>
              </a:ext>
            </a:extLst>
          </p:cNvPr>
          <p:cNvSpPr/>
          <p:nvPr/>
        </p:nvSpPr>
        <p:spPr>
          <a:xfrm>
            <a:off x="6970712" y="4729877"/>
            <a:ext cx="513715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lName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"Ali"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"Zafar"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lName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Ali Zafar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94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7D0E-28D7-4F0B-8357-ADEF6D00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Hoisting (2/4)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71D5-67B8-4314-9102-54562F813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and constants declared with </a:t>
            </a:r>
            <a:r>
              <a:rPr lang="en-US" b="1" dirty="0">
                <a:latin typeface="Consolas" panose="020B0609020204030204" pitchFamily="49" charset="0"/>
              </a:rPr>
              <a:t>let</a:t>
            </a:r>
            <a:r>
              <a:rPr lang="en-US" dirty="0"/>
              <a:t> or </a:t>
            </a:r>
            <a:r>
              <a:rPr lang="en-US" b="1" dirty="0">
                <a:latin typeface="Consolas" panose="020B0609020204030204" pitchFamily="49" charset="0"/>
              </a:rPr>
              <a:t>const</a:t>
            </a:r>
            <a:r>
              <a:rPr lang="en-US" dirty="0"/>
              <a:t> are not hoisted!</a:t>
            </a:r>
            <a:endParaRPr lang="en-P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EC0181-262D-42D2-A61F-60044A7AD28B}"/>
              </a:ext>
            </a:extLst>
          </p:cNvPr>
          <p:cNvSpPr/>
          <p:nvPr/>
        </p:nvSpPr>
        <p:spPr>
          <a:xfrm>
            <a:off x="2533173" y="2042160"/>
            <a:ext cx="771144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 =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ReferenceError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Cannot access 'x' before initialization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74D9D-B3B0-40CF-9FC4-1F04D55F3783}"/>
              </a:ext>
            </a:extLst>
          </p:cNvPr>
          <p:cNvSpPr/>
          <p:nvPr/>
        </p:nvSpPr>
        <p:spPr>
          <a:xfrm>
            <a:off x="2533174" y="4076115"/>
            <a:ext cx="7711439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 =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SyntaxError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Missing initializer in const declaration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45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D4D1-CA86-4059-A761-728A80E0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Hoisting (3/4)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25A1-BE9A-43B4-884F-6175A1339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859280"/>
            <a:ext cx="6865302" cy="4801492"/>
          </a:xfrm>
        </p:spPr>
        <p:txBody>
          <a:bodyPr>
            <a:normAutofit/>
          </a:bodyPr>
          <a:lstStyle/>
          <a:p>
            <a:r>
              <a:rPr lang="en-US" dirty="0"/>
              <a:t>JavaScript only hoists declarations, not initializations.</a:t>
            </a:r>
          </a:p>
          <a:p>
            <a:r>
              <a:rPr lang="en-US" dirty="0"/>
              <a:t>only the declaration (var y), not the initialization (=7) is hoisted to the top.</a:t>
            </a:r>
            <a:endParaRPr lang="en-GB" dirty="0"/>
          </a:p>
          <a:p>
            <a:endParaRPr lang="en-P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42D12-E43F-4A15-A60F-C36A41F78172}"/>
              </a:ext>
            </a:extLst>
          </p:cNvPr>
          <p:cNvSpPr/>
          <p:nvPr/>
        </p:nvSpPr>
        <p:spPr>
          <a:xfrm>
            <a:off x="8244840" y="1859280"/>
            <a:ext cx="37338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 + y)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12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99AA0D-5992-4619-ACB1-8676FF512ACD}"/>
              </a:ext>
            </a:extLst>
          </p:cNvPr>
          <p:cNvSpPr/>
          <p:nvPr/>
        </p:nvSpPr>
        <p:spPr>
          <a:xfrm>
            <a:off x="8244840" y="2967335"/>
            <a:ext cx="37338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 + y)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NaN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D9D18C-79AB-4AE9-9D7C-57F6C16E5986}"/>
              </a:ext>
            </a:extLst>
          </p:cNvPr>
          <p:cNvSpPr/>
          <p:nvPr/>
        </p:nvSpPr>
        <p:spPr>
          <a:xfrm>
            <a:off x="8244840" y="4075390"/>
            <a:ext cx="37338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y;     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Declare y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 + y);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NaN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    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45748-F508-4802-87B2-930115C59269}"/>
              </a:ext>
            </a:extLst>
          </p:cNvPr>
          <p:cNvSpPr/>
          <p:nvPr/>
        </p:nvSpPr>
        <p:spPr>
          <a:xfrm>
            <a:off x="8244840" y="5460444"/>
            <a:ext cx="37338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x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 =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9885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    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console.log(x + y);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12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y;      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Declare y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86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10FB-6E79-4328-96BE-06B90232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Hoisting (4/4)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6F5C9-DC06-4762-822C-A6E703C97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208534"/>
            <a:ext cx="10018712" cy="1306066"/>
          </a:xfrm>
        </p:spPr>
        <p:txBody>
          <a:bodyPr/>
          <a:lstStyle/>
          <a:p>
            <a:r>
              <a:rPr lang="en-US" dirty="0"/>
              <a:t>An important difference between function declarations and class declarations is that </a:t>
            </a:r>
            <a:r>
              <a:rPr lang="en-US" b="1" dirty="0"/>
              <a:t>function declarations are hoisted</a:t>
            </a:r>
            <a:r>
              <a:rPr lang="en-US" dirty="0"/>
              <a:t> and class declarations are not</a:t>
            </a:r>
            <a:endParaRPr lang="en-P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DEFCD-8646-418E-BF9D-209DAAF7D722}"/>
              </a:ext>
            </a:extLst>
          </p:cNvPr>
          <p:cNvSpPr/>
          <p:nvPr/>
        </p:nvSpPr>
        <p:spPr>
          <a:xfrm>
            <a:off x="1493520" y="2690334"/>
            <a:ext cx="36118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Rectangle {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ReferenceError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ABE70-C929-427E-A95C-BD5232DAB90F}"/>
              </a:ext>
            </a:extLst>
          </p:cNvPr>
          <p:cNvSpPr/>
          <p:nvPr/>
        </p:nvSpPr>
        <p:spPr>
          <a:xfrm>
            <a:off x="6858000" y="2690335"/>
            <a:ext cx="3611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sqr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Square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Square() { }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94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FF78026-DEBB-4D5A-9A4E-8724566038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46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5E1684-CF44-4EAD-B3A4-FCE98461F3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4" name="Content Placeholder 3" descr="Table&#10;&#10;Description automatically generated">
            <a:extLst>
              <a:ext uri="{FF2B5EF4-FFF2-40B4-BE49-F238E27FC236}">
                <a16:creationId xmlns:a16="http://schemas.microsoft.com/office/drawing/2014/main" id="{D6C2C051-7EE5-453C-AA9E-90B4BAD1D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66641" y="643467"/>
            <a:ext cx="725871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3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FF78026-DEBB-4D5A-9A4E-8724566038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5E1684-CF44-4EAD-B3A4-FCE98461F3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C145E6-AC9C-4F69-8982-9B4C72763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179831"/>
            <a:ext cx="10905066" cy="4498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407FDC-90D6-4E46-984F-93CD177C2E3B}"/>
              </a:ext>
            </a:extLst>
          </p:cNvPr>
          <p:cNvSpPr txBox="1"/>
          <p:nvPr/>
        </p:nvSpPr>
        <p:spPr>
          <a:xfrm>
            <a:off x="643467" y="655320"/>
            <a:ext cx="109050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Exercise: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Implement following scenario in ES6 Classes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8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B6B4-05EB-44D4-9178-76F08AB7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7CF7-4032-4A81-9267-479597531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MDN Web Docs: </a:t>
            </a:r>
            <a:r>
              <a:rPr lang="en-US" dirty="0"/>
              <a:t>Details of the object model </a:t>
            </a:r>
            <a:r>
              <a:rPr lang="en-GB" dirty="0"/>
              <a:t>(</a:t>
            </a:r>
            <a:r>
              <a:rPr lang="en-GB" dirty="0">
                <a:hlinkClick r:id="rId2"/>
              </a:rPr>
              <a:t>https://developer.mozilla.org/en-US/docs/Web/JavaScript/Guide/Details_of_the_Object_Model</a:t>
            </a:r>
            <a:r>
              <a:rPr lang="en-GB" dirty="0"/>
              <a:t>)</a:t>
            </a:r>
          </a:p>
          <a:p>
            <a:r>
              <a:rPr lang="en-GB" dirty="0"/>
              <a:t>W3Schools React ES6 (</a:t>
            </a:r>
            <a:r>
              <a:rPr lang="en-GB" dirty="0">
                <a:hlinkClick r:id="rId3"/>
              </a:rPr>
              <a:t>https://www.w3schools.com/react/react_es6.</a:t>
            </a:r>
            <a:r>
              <a:rPr lang="en-GB">
                <a:hlinkClick r:id="rId3"/>
              </a:rPr>
              <a:t>asp</a:t>
            </a:r>
            <a:r>
              <a:rPr lang="en-GB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302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B6B4-05EB-44D4-9178-76F08AB7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7CF7-4032-4A81-9267-479597531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MDN Web Docs: </a:t>
            </a:r>
            <a:r>
              <a:rPr lang="en-US" dirty="0"/>
              <a:t>Details of the object model </a:t>
            </a:r>
            <a:r>
              <a:rPr lang="en-GB" dirty="0"/>
              <a:t>(</a:t>
            </a:r>
            <a:r>
              <a:rPr lang="en-GB" dirty="0">
                <a:hlinkClick r:id="rId2"/>
              </a:rPr>
              <a:t>https://developer.mozilla.org/en-US/docs/Web/JavaScript/Guide/Details_of_the_Object_Model</a:t>
            </a:r>
            <a:r>
              <a:rPr lang="en-GB" dirty="0"/>
              <a:t>)</a:t>
            </a:r>
          </a:p>
          <a:p>
            <a:r>
              <a:rPr lang="en-GB" dirty="0"/>
              <a:t>MDN Web Docs: </a:t>
            </a:r>
            <a:r>
              <a:rPr lang="en-US" dirty="0"/>
              <a:t>Classes</a:t>
            </a:r>
            <a:r>
              <a:rPr lang="en-GB" dirty="0"/>
              <a:t> (</a:t>
            </a:r>
            <a:r>
              <a:rPr lang="en-GB" dirty="0">
                <a:hlinkClick r:id="rId3"/>
              </a:rPr>
              <a:t>https://developer.mozilla.org/en-US/docs/Web/JavaScript/Reference/Classes</a:t>
            </a:r>
            <a:r>
              <a:rPr lang="en-GB" dirty="0"/>
              <a:t>)</a:t>
            </a:r>
          </a:p>
          <a:p>
            <a:r>
              <a:rPr lang="en-GB" dirty="0"/>
              <a:t>W3Schools React ES6 (</a:t>
            </a:r>
            <a:r>
              <a:rPr lang="en-GB" dirty="0">
                <a:hlinkClick r:id="rId4"/>
              </a:rPr>
              <a:t>https://www.w3schools.com/react/react_es6.asp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183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7919</TotalTime>
  <Words>1249</Words>
  <Application>Microsoft Office PowerPoint</Application>
  <PresentationFormat>Widescreen</PresentationFormat>
  <Paragraphs>504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Consolas</vt:lpstr>
      <vt:lpstr>Corbel</vt:lpstr>
      <vt:lpstr>Noto Sans Symbols</vt:lpstr>
      <vt:lpstr>Nunito</vt:lpstr>
      <vt:lpstr>Times New Roman</vt:lpstr>
      <vt:lpstr>Trebuchet MS</vt:lpstr>
      <vt:lpstr>x-locale-heading-primary</vt:lpstr>
      <vt:lpstr>Parallax</vt:lpstr>
      <vt:lpstr>JavaScript Functions</vt:lpstr>
      <vt:lpstr>Functions:</vt:lpstr>
      <vt:lpstr>JS Functions</vt:lpstr>
      <vt:lpstr>PowerPoint Presentation</vt:lpstr>
      <vt:lpstr>Function Overloading</vt:lpstr>
      <vt:lpstr>JS Functions – ES6 Default Parameters</vt:lpstr>
      <vt:lpstr>PowerPoint Presentation</vt:lpstr>
      <vt:lpstr>PowerPoint Presentation</vt:lpstr>
      <vt:lpstr>PowerPoint Presentation</vt:lpstr>
      <vt:lpstr>PowerPoint Presentation</vt:lpstr>
      <vt:lpstr>JS Functions – Arguments Object</vt:lpstr>
      <vt:lpstr>JS Functions – Rest Parameters</vt:lpstr>
      <vt:lpstr>JS Functions – Rest Parameters</vt:lpstr>
      <vt:lpstr>JS Functions – Rest Parameters</vt:lpstr>
      <vt:lpstr>JS Functions – Pass by Value</vt:lpstr>
      <vt:lpstr>JS Functions – Pass by Reference</vt:lpstr>
      <vt:lpstr>JS Functions – Function Expression</vt:lpstr>
      <vt:lpstr>JS Functions – Function Expression</vt:lpstr>
      <vt:lpstr>JS Functions – Function Expression</vt:lpstr>
      <vt:lpstr>JS Arrow Functions</vt:lpstr>
      <vt:lpstr>Code for Function Declaration</vt:lpstr>
      <vt:lpstr>Code for Function Expression (anonymous) </vt:lpstr>
      <vt:lpstr>Code for Function Expression (named) </vt:lpstr>
      <vt:lpstr>Code for Arrow Function </vt:lpstr>
      <vt:lpstr>Self Exercises: What is Expected Output?</vt:lpstr>
      <vt:lpstr>JavaScript Classes</vt:lpstr>
      <vt:lpstr>ES6 Classes</vt:lpstr>
      <vt:lpstr>Class Declarations</vt:lpstr>
      <vt:lpstr>Class Expression</vt:lpstr>
      <vt:lpstr>Constructor</vt:lpstr>
      <vt:lpstr>Getters, Methods</vt:lpstr>
      <vt:lpstr>Getters, Methods – Another Example</vt:lpstr>
      <vt:lpstr>Static Method</vt:lpstr>
      <vt:lpstr>Private Field Declarations</vt:lpstr>
      <vt:lpstr>Inheritance</vt:lpstr>
      <vt:lpstr>Hoisting (1/4)</vt:lpstr>
      <vt:lpstr>Hoisting (2/4)</vt:lpstr>
      <vt:lpstr>Hoisting (3/4)</vt:lpstr>
      <vt:lpstr>Hoisting (4/4)</vt:lpstr>
      <vt:lpstr>PowerPoint Presentation</vt:lpstr>
      <vt:lpstr>PowerPoint Presentation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Zaheer ul Hussain Sani</dc:creator>
  <cp:lastModifiedBy>Aqib Rehman</cp:lastModifiedBy>
  <cp:revision>110</cp:revision>
  <dcterms:created xsi:type="dcterms:W3CDTF">2020-02-11T07:11:32Z</dcterms:created>
  <dcterms:modified xsi:type="dcterms:W3CDTF">2025-10-06T06:42:01Z</dcterms:modified>
</cp:coreProperties>
</file>